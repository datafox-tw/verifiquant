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92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70" r:id="rId12"/>
    <p:sldId id="264" r:id="rId13"/>
    <p:sldId id="265" r:id="rId14"/>
    <p:sldId id="267" r:id="rId15"/>
    <p:sldId id="268" r:id="rId16"/>
    <p:sldId id="269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2" roundtripDataSignature="AMtx7mjSs4JaWHBNrBgp6sOIoQxlYIcG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59"/>
  </p:normalViewPr>
  <p:slideViewPr>
    <p:cSldViewPr snapToGrid="0">
      <p:cViewPr varScale="1">
        <p:scale>
          <a:sx n="147" d="100"/>
          <a:sy n="147" d="100"/>
        </p:scale>
        <p:origin x="744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 altLang="en-US"/>
              <a:t>「各位評審好，我是柯宥圻，我要來介紹的是</a:t>
            </a:r>
            <a:r>
              <a:rPr lang="en-US" dirty="0" err="1"/>
              <a:t>verifiquant</a:t>
            </a:r>
            <a:r>
              <a:rPr lang="en-US" dirty="0"/>
              <a:t>。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 altLang="en-US"/>
              <a:t>大家都在追求讓 </a:t>
            </a:r>
            <a:r>
              <a:rPr lang="en-US" dirty="0"/>
              <a:t>AI </a:t>
            </a:r>
            <a:r>
              <a:rPr lang="ja-JP" altLang="en-US"/>
              <a:t>變得更聰明、準確率更高。但今天，在金融場景或者是各式需要高安全性的</a:t>
            </a:r>
            <a:r>
              <a:rPr lang="en-US" dirty="0"/>
              <a:t>agentic</a:t>
            </a:r>
            <a:r>
              <a:rPr lang="ja-JP" altLang="en-US"/>
              <a:t>系統中，除了準確率以外，可驗證性和可審計性也更加重要。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ja-JP" altLang="en-US"/>
              <a:t>今天我們不談怎麼讓 </a:t>
            </a:r>
            <a:r>
              <a:rPr lang="en-US" dirty="0"/>
              <a:t>AI </a:t>
            </a:r>
            <a:r>
              <a:rPr lang="ja-JP" altLang="en-US"/>
              <a:t>變聰明，我們來談**</a:t>
            </a:r>
            <a:r>
              <a:rPr lang="en-US" altLang="ja-JP" dirty="0"/>
              <a:t>『</a:t>
            </a:r>
            <a:r>
              <a:rPr lang="ja-JP" altLang="en-US"/>
              <a:t>當 </a:t>
            </a:r>
            <a:r>
              <a:rPr lang="en-US" dirty="0"/>
              <a:t>AI </a:t>
            </a:r>
            <a:r>
              <a:rPr lang="ja-JP" altLang="en-US"/>
              <a:t>不確定時，它該如何安全地失敗</a:t>
            </a:r>
            <a:r>
              <a:rPr lang="en-US" altLang="ja-JP" dirty="0"/>
              <a:t>』**</a:t>
            </a:r>
            <a:r>
              <a:rPr lang="ja-JP" altLang="en-US"/>
              <a:t>。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dirty="0" err="1"/>
              <a:t>VerifiQuant</a:t>
            </a:r>
            <a:r>
              <a:rPr lang="en-US" dirty="0"/>
              <a:t> </a:t>
            </a:r>
            <a:r>
              <a:rPr lang="ja-JP" altLang="en-US"/>
              <a:t>是一個為金融計算打造的 </a:t>
            </a:r>
            <a:r>
              <a:rPr lang="en-US" altLang="ja-JP" dirty="0"/>
              <a:t>6 </a:t>
            </a:r>
            <a:r>
              <a:rPr lang="ja-JP" altLang="en-US"/>
              <a:t>層診斷管線，我們不盲目追求 </a:t>
            </a:r>
            <a:r>
              <a:rPr lang="en-US" dirty="0"/>
              <a:t>LLM </a:t>
            </a:r>
            <a:r>
              <a:rPr lang="ja-JP" altLang="en-US"/>
              <a:t>的高準確率，我們提供的是可預測、可驗證的錯誤攔截與修復機制。」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ja-JP" altLang="en-US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/>
              <a:t>「在報告技術前，請看左邊這位，這是我在 </a:t>
            </a:r>
            <a:r>
              <a:rPr lang="en-US" dirty="0"/>
              <a:t>J.P. Morgan </a:t>
            </a:r>
            <a:r>
              <a:rPr lang="ja-JP" altLang="en-US"/>
              <a:t>投行工作的朋友 </a:t>
            </a:r>
            <a:r>
              <a:rPr lang="en-US" dirty="0"/>
              <a:t>Dustin。</a:t>
            </a:r>
            <a:r>
              <a:rPr lang="ja-JP" altLang="en-US"/>
              <a:t>他每週工時 </a:t>
            </a:r>
            <a:r>
              <a:rPr lang="en-US" altLang="ja-JP" dirty="0"/>
              <a:t>80 </a:t>
            </a:r>
            <a:r>
              <a:rPr lang="ja-JP" altLang="en-US"/>
              <a:t>小時，日常就是從幾百頁的 </a:t>
            </a:r>
            <a:r>
              <a:rPr lang="en-US" dirty="0"/>
              <a:t>PDF </a:t>
            </a:r>
            <a:r>
              <a:rPr lang="ja-JP" altLang="en-US"/>
              <a:t>財報中肉眼找數字，再手動貼到 </a:t>
            </a:r>
            <a:r>
              <a:rPr lang="en-US" dirty="0"/>
              <a:t>Excel </a:t>
            </a:r>
            <a:r>
              <a:rPr lang="ja-JP" altLang="en-US"/>
              <a:t>裡驗證。根據統計，這類試算表有 </a:t>
            </a:r>
            <a:r>
              <a:rPr lang="en-US" altLang="ja-JP" dirty="0"/>
              <a:t>88% </a:t>
            </a:r>
            <a:r>
              <a:rPr lang="ja-JP" altLang="en-US"/>
              <a:t>隱藏著人為錯誤。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/>
              <a:t>既然如此，為什麼他不把這些交給 </a:t>
            </a:r>
            <a:r>
              <a:rPr lang="en-US" dirty="0"/>
              <a:t>ChatGPT？</a:t>
            </a:r>
            <a:r>
              <a:rPr lang="ja-JP" altLang="en-US"/>
              <a:t>他的回答很殘酷：**</a:t>
            </a:r>
            <a:r>
              <a:rPr lang="en-US" altLang="ja-JP" dirty="0"/>
              <a:t>『</a:t>
            </a:r>
            <a:r>
              <a:rPr lang="ja-JP" altLang="en-US"/>
              <a:t>我寧可自己算，也絕對不敢用 </a:t>
            </a:r>
            <a:r>
              <a:rPr lang="en-US" dirty="0"/>
              <a:t>AI。』**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KPMG </a:t>
            </a:r>
            <a:r>
              <a:rPr lang="ja-JP" altLang="en-US"/>
              <a:t>的全球調查也呼應了這點：</a:t>
            </a:r>
            <a:r>
              <a:rPr lang="en-US" altLang="ja-JP" dirty="0"/>
              <a:t>74% </a:t>
            </a:r>
            <a:r>
              <a:rPr lang="ja-JP" altLang="en-US"/>
              <a:t>的金融業關注 </a:t>
            </a:r>
            <a:r>
              <a:rPr lang="en-US" dirty="0"/>
              <a:t>AI，</a:t>
            </a:r>
            <a:r>
              <a:rPr lang="ja-JP" altLang="en-US"/>
              <a:t>但只有 </a:t>
            </a:r>
            <a:r>
              <a:rPr lang="en-US" altLang="ja-JP" dirty="0"/>
              <a:t>11% </a:t>
            </a:r>
            <a:r>
              <a:rPr lang="ja-JP" altLang="en-US"/>
              <a:t>敢實際部署。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/>
              <a:t>這反映了現今金融業最大的骨感現實：大家都渴望 </a:t>
            </a:r>
            <a:r>
              <a:rPr lang="en-US" dirty="0"/>
              <a:t>AI </a:t>
            </a:r>
            <a:r>
              <a:rPr lang="ja-JP" altLang="en-US"/>
              <a:t>的效率，但沒有人敢承擔 </a:t>
            </a:r>
            <a:r>
              <a:rPr lang="en-US" dirty="0"/>
              <a:t>AI </a:t>
            </a:r>
            <a:r>
              <a:rPr lang="ja-JP" altLang="en-US"/>
              <a:t>幻覺的代價。」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" name="Google Shape;6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/>
              <a:t>「財務分析師不敢用 </a:t>
            </a:r>
            <a:r>
              <a:rPr lang="en-US" dirty="0"/>
              <a:t>AI </a:t>
            </a:r>
            <a:r>
              <a:rPr lang="ja-JP" altLang="en-US"/>
              <a:t>的根本原因，在於 </a:t>
            </a:r>
            <a:r>
              <a:rPr lang="en-US" dirty="0"/>
              <a:t>LLM </a:t>
            </a:r>
            <a:r>
              <a:rPr lang="ja-JP" altLang="en-US"/>
              <a:t>存在致命的**</a:t>
            </a:r>
            <a:r>
              <a:rPr lang="en-US" altLang="ja-JP" dirty="0"/>
              <a:t>『</a:t>
            </a:r>
            <a:r>
              <a:rPr lang="ja-JP" altLang="en-US"/>
              <a:t>靜默錯誤</a:t>
            </a:r>
            <a:r>
              <a:rPr lang="en-US" altLang="ja-JP" dirty="0"/>
              <a:t>』**</a:t>
            </a:r>
            <a:r>
              <a:rPr lang="ja-JP" altLang="en-US"/>
              <a:t>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/>
              <a:t>即使頂會論文清理了 </a:t>
            </a:r>
            <a:r>
              <a:rPr lang="en-US" altLang="ja-JP" dirty="0"/>
              <a:t>23% </a:t>
            </a:r>
            <a:r>
              <a:rPr lang="ja-JP" altLang="en-US"/>
              <a:t>充滿歧義的資料集，但在真實商業談判中，很多條件（像現金流是期初收款或期末收款）是雙方的</a:t>
            </a:r>
            <a:r>
              <a:rPr lang="en-US" altLang="ja-JP" dirty="0"/>
              <a:t>『</a:t>
            </a:r>
            <a:r>
              <a:rPr lang="ja-JP" altLang="en-US"/>
              <a:t>隱性共識</a:t>
            </a:r>
            <a:r>
              <a:rPr lang="en-US" altLang="ja-JP" dirty="0"/>
              <a:t>』</a:t>
            </a:r>
            <a:r>
              <a:rPr lang="ja-JP" altLang="en-US"/>
              <a:t>，不會白紙黑字寫下來。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/>
              <a:t>當 </a:t>
            </a:r>
            <a:r>
              <a:rPr lang="en-US" dirty="0"/>
              <a:t>AI </a:t>
            </a:r>
            <a:r>
              <a:rPr lang="ja-JP" altLang="en-US"/>
              <a:t>遇到這種沒有明文規定的模糊地帶時，它會展現極度危險的**</a:t>
            </a:r>
            <a:r>
              <a:rPr lang="en-US" altLang="ja-JP" dirty="0"/>
              <a:t>『</a:t>
            </a:r>
            <a:r>
              <a:rPr lang="en-US" dirty="0"/>
              <a:t>AI </a:t>
            </a:r>
            <a:r>
              <a:rPr lang="ja-JP" altLang="en-US"/>
              <a:t>馬屁精行為</a:t>
            </a:r>
            <a:r>
              <a:rPr lang="en-US" altLang="ja-JP" dirty="0"/>
              <a:t>』**</a:t>
            </a:r>
            <a:r>
              <a:rPr lang="ja-JP" altLang="en-US"/>
              <a:t>。為了討好你、趕快給答案，它會</a:t>
            </a:r>
            <a:r>
              <a:rPr lang="en-US" altLang="ja-JP" dirty="0"/>
              <a:t>『</a:t>
            </a:r>
            <a:r>
              <a:rPr lang="ja-JP" altLang="en-US"/>
              <a:t>假裝自己懂</a:t>
            </a:r>
            <a:r>
              <a:rPr lang="en-US" altLang="ja-JP" dirty="0"/>
              <a:t>』</a:t>
            </a:r>
            <a:r>
              <a:rPr lang="ja-JP" altLang="en-US"/>
              <a:t>，偷偷幫你預設條件，然後極度自信地給你一個落差幾百萬美元的錯誤數字。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/>
              <a:t>業界常說</a:t>
            </a:r>
            <a:r>
              <a:rPr lang="en-US" altLang="ja-JP" dirty="0"/>
              <a:t>『</a:t>
            </a:r>
            <a:r>
              <a:rPr lang="ja-JP" altLang="en-US"/>
              <a:t>我們準確率高達 </a:t>
            </a:r>
            <a:r>
              <a:rPr lang="en-US" altLang="ja-JP" dirty="0"/>
              <a:t>90%』</a:t>
            </a:r>
            <a:r>
              <a:rPr lang="ja-JP" altLang="en-US"/>
              <a:t>，但在金融業，如果 </a:t>
            </a:r>
            <a:r>
              <a:rPr lang="en-US" dirty="0"/>
              <a:t>AI </a:t>
            </a:r>
            <a:r>
              <a:rPr lang="ja-JP" altLang="en-US"/>
              <a:t>有 </a:t>
            </a:r>
            <a:r>
              <a:rPr lang="en-US" altLang="ja-JP" dirty="0"/>
              <a:t>10% </a:t>
            </a:r>
            <a:r>
              <a:rPr lang="ja-JP" altLang="en-US"/>
              <a:t>的機率會靜默出錯，分析師為了找出這 </a:t>
            </a:r>
            <a:r>
              <a:rPr lang="en-US" altLang="ja-JP" dirty="0"/>
              <a:t>10% </a:t>
            </a:r>
            <a:r>
              <a:rPr lang="ja-JP" altLang="en-US"/>
              <a:t>的地雷，必須把 </a:t>
            </a:r>
            <a:r>
              <a:rPr lang="en-US" altLang="ja-JP" dirty="0"/>
              <a:t>100% </a:t>
            </a:r>
            <a:r>
              <a:rPr lang="ja-JP" altLang="en-US"/>
              <a:t>的題目全查一次。這根本不是 </a:t>
            </a:r>
            <a:r>
              <a:rPr lang="en-US" dirty="0"/>
              <a:t>AI </a:t>
            </a:r>
            <a:r>
              <a:rPr lang="ja-JP" altLang="en-US"/>
              <a:t>輔助，這是 </a:t>
            </a:r>
            <a:r>
              <a:rPr lang="en-US" dirty="0"/>
              <a:t>AI </a:t>
            </a:r>
            <a:r>
              <a:rPr lang="ja-JP" altLang="en-US"/>
              <a:t>災難。」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3" name="Google Shape;8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ec9f0cfb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/>
              <a:t>「這也是為什麼，光靠調整 </a:t>
            </a:r>
            <a:r>
              <a:rPr lang="en-US" dirty="0"/>
              <a:t>Prompt </a:t>
            </a:r>
            <a:r>
              <a:rPr lang="ja-JP" altLang="en-US"/>
              <a:t>或是換更強的模型根本沒用。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/>
              <a:t>純依賴 </a:t>
            </a:r>
            <a:r>
              <a:rPr lang="en-US" dirty="0"/>
              <a:t>LLM </a:t>
            </a:r>
            <a:r>
              <a:rPr lang="ja-JP" altLang="en-US"/>
              <a:t>會犯下三宗罪：第一，**靜默失敗**，資訊不足仍高自信亂答；第二，**語意漂移**，公式選對了，但匯率或期初期末的隱性歧義導致全盤皆輸；第三，也是最致命的 **審計斷層**，因為每次生成的思維鏈 </a:t>
            </a:r>
            <a:r>
              <a:rPr lang="en-US" altLang="ja-JP" dirty="0"/>
              <a:t>(</a:t>
            </a:r>
            <a:r>
              <a:rPr lang="en-US" dirty="0" err="1"/>
              <a:t>CoT</a:t>
            </a:r>
            <a:r>
              <a:rPr lang="en-US" dirty="0"/>
              <a:t>) </a:t>
            </a:r>
            <a:r>
              <a:rPr lang="ja-JP" altLang="en-US"/>
              <a:t>都有隨機性，出事了根本無從究責。」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6" name="Google Shape;106;g3dec9f0cf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/>
              <a:t>「不只分析師不敢用，法規也不允許你用。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/>
              <a:t>攤開歐盟 </a:t>
            </a:r>
            <a:r>
              <a:rPr lang="en-US" dirty="0"/>
              <a:t>AI Act </a:t>
            </a:r>
            <a:r>
              <a:rPr lang="ja-JP" altLang="en-US"/>
              <a:t>或台灣 </a:t>
            </a:r>
            <a:r>
              <a:rPr lang="en-US" dirty="0"/>
              <a:t>FSC </a:t>
            </a:r>
            <a:r>
              <a:rPr lang="ja-JP" altLang="en-US"/>
              <a:t>指引，監管巨頭只問一件事：**</a:t>
            </a:r>
            <a:r>
              <a:rPr lang="en-US" altLang="ja-JP" dirty="0"/>
              <a:t>『</a:t>
            </a:r>
            <a:r>
              <a:rPr lang="ja-JP" altLang="en-US"/>
              <a:t>出事了，能不能精確追溯？</a:t>
            </a:r>
            <a:r>
              <a:rPr lang="en-US" altLang="ja-JP" dirty="0"/>
              <a:t>』**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/>
              <a:t>現在很紅的 </a:t>
            </a:r>
            <a:r>
              <a:rPr lang="en-US" dirty="0"/>
              <a:t>Multi-Agent，</a:t>
            </a:r>
            <a:r>
              <a:rPr lang="ja-JP" altLang="en-US"/>
              <a:t>只是讓幾個黑箱互相聊天，出錯時只能交出</a:t>
            </a:r>
            <a:r>
              <a:rPr lang="en-US" altLang="ja-JP" dirty="0"/>
              <a:t>『</a:t>
            </a:r>
            <a:r>
              <a:rPr lang="ja-JP" altLang="en-US"/>
              <a:t>事後合理化</a:t>
            </a:r>
            <a:r>
              <a:rPr lang="en-US" altLang="ja-JP" dirty="0"/>
              <a:t>』</a:t>
            </a:r>
            <a:r>
              <a:rPr lang="ja-JP" altLang="en-US"/>
              <a:t>的對話紀錄，這在法庭上毫無審計效力。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/>
              <a:t>法規要求的是：明確的人為檢查點、可證明的追溯性，以及 </a:t>
            </a:r>
            <a:r>
              <a:rPr lang="en-US" dirty="0"/>
              <a:t>AI </a:t>
            </a:r>
            <a:r>
              <a:rPr lang="ja-JP" altLang="en-US"/>
              <a:t>不懂時的</a:t>
            </a:r>
            <a:r>
              <a:rPr lang="en-US" altLang="ja-JP" dirty="0"/>
              <a:t>『</a:t>
            </a:r>
            <a:r>
              <a:rPr lang="ja-JP" altLang="en-US"/>
              <a:t>輸出下限</a:t>
            </a:r>
            <a:r>
              <a:rPr lang="en-US" altLang="ja-JP" dirty="0"/>
              <a:t>』</a:t>
            </a:r>
            <a:r>
              <a:rPr lang="ja-JP" altLang="en-US"/>
              <a:t>。這，正是我們的商業護城河。」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5" name="Google Shape;13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/>
              <a:t>「為此，我們打造了 </a:t>
            </a:r>
            <a:r>
              <a:rPr lang="en-US" dirty="0" err="1"/>
              <a:t>VerifiQuant</a:t>
            </a:r>
            <a:r>
              <a:rPr lang="en-US" dirty="0"/>
              <a:t>：</a:t>
            </a:r>
            <a:r>
              <a:rPr lang="ja-JP" altLang="en-US"/>
              <a:t>全世界第一個</a:t>
            </a:r>
            <a:r>
              <a:rPr lang="en-US" altLang="ja-JP" dirty="0"/>
              <a:t>『</a:t>
            </a:r>
            <a:r>
              <a:rPr lang="ja-JP" altLang="en-US"/>
              <a:t>合約驗證式</a:t>
            </a:r>
            <a:r>
              <a:rPr lang="en-US" altLang="ja-JP" dirty="0"/>
              <a:t>』</a:t>
            </a:r>
            <a:r>
              <a:rPr lang="ja-JP" altLang="en-US"/>
              <a:t>金融推理框架。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AI </a:t>
            </a:r>
            <a:r>
              <a:rPr lang="ja-JP" altLang="en-US"/>
              <a:t>的工作不再是算數學，而是**</a:t>
            </a:r>
            <a:r>
              <a:rPr lang="en-US" altLang="ja-JP" dirty="0"/>
              <a:t>『</a:t>
            </a:r>
            <a:r>
              <a:rPr lang="ja-JP" altLang="en-US"/>
              <a:t>填寫合約</a:t>
            </a:r>
            <a:r>
              <a:rPr lang="en-US" altLang="ja-JP" dirty="0"/>
              <a:t>』**</a:t>
            </a:r>
            <a:r>
              <a:rPr lang="ja-JP" altLang="en-US"/>
              <a:t>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/>
              <a:t>在算出任何數字前，資料必須逐層通過我們設計的 **</a:t>
            </a:r>
            <a:r>
              <a:rPr lang="en-US" altLang="ja-JP" dirty="0"/>
              <a:t>6 </a:t>
            </a:r>
            <a:r>
              <a:rPr lang="ja-JP" altLang="en-US"/>
              <a:t>層診斷漏斗**。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/>
              <a:t>如果意圖模糊 </a:t>
            </a:r>
            <a:r>
              <a:rPr lang="en-US" altLang="ja-JP" dirty="0"/>
              <a:t>(</a:t>
            </a:r>
            <a:r>
              <a:rPr lang="en-US" dirty="0"/>
              <a:t>M)、</a:t>
            </a:r>
            <a:r>
              <a:rPr lang="ja-JP" altLang="en-US"/>
              <a:t>缺少參數 </a:t>
            </a:r>
            <a:r>
              <a:rPr lang="en-US" altLang="ja-JP" dirty="0"/>
              <a:t>(</a:t>
            </a:r>
            <a:r>
              <a:rPr lang="en-US" dirty="0"/>
              <a:t>F)、</a:t>
            </a:r>
            <a:r>
              <a:rPr lang="ja-JP" altLang="en-US"/>
              <a:t>數值不合邏輯 </a:t>
            </a:r>
            <a:r>
              <a:rPr lang="en-US" altLang="ja-JP" dirty="0"/>
              <a:t>(</a:t>
            </a:r>
            <a:r>
              <a:rPr lang="en-US" dirty="0"/>
              <a:t>E)，</a:t>
            </a:r>
            <a:r>
              <a:rPr lang="ja-JP" altLang="en-US"/>
              <a:t>甚至是遇到隱性語義歧義 </a:t>
            </a:r>
            <a:r>
              <a:rPr lang="en-US" altLang="ja-JP" dirty="0"/>
              <a:t>(</a:t>
            </a:r>
            <a:r>
              <a:rPr lang="en-US" dirty="0"/>
              <a:t>I </a:t>
            </a:r>
            <a:r>
              <a:rPr lang="ja-JP" altLang="en-US"/>
              <a:t>閘門</a:t>
            </a:r>
            <a:r>
              <a:rPr lang="en-US" altLang="ja-JP" dirty="0"/>
              <a:t>)</a:t>
            </a:r>
            <a:r>
              <a:rPr lang="ja-JP" altLang="en-US"/>
              <a:t>，</a:t>
            </a:r>
            <a:r>
              <a:rPr lang="en-US" dirty="0" err="1"/>
              <a:t>VerifiQuant</a:t>
            </a:r>
            <a:r>
              <a:rPr lang="en-US" dirty="0"/>
              <a:t> **</a:t>
            </a:r>
            <a:r>
              <a:rPr lang="ja-JP" altLang="en-US"/>
              <a:t>不會瞎猜**。它會強制暫停，發出結構化警告，將決策權交還給人類。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/>
              <a:t>我們用底層架構，強制作出了符合 </a:t>
            </a:r>
            <a:r>
              <a:rPr lang="en-US" dirty="0"/>
              <a:t>FINRA </a:t>
            </a:r>
            <a:r>
              <a:rPr lang="ja-JP" altLang="en-US"/>
              <a:t>規範的防呆機制。」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ec9f0cfbb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/>
              <a:t>「我們的實驗證明了這個架構的絕對價值。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/>
              <a:t>即便是目前最強的 </a:t>
            </a:r>
            <a:r>
              <a:rPr lang="en-US" dirty="0"/>
              <a:t>Pro </a:t>
            </a:r>
            <a:r>
              <a:rPr lang="ja-JP" altLang="en-US"/>
              <a:t>模型配上盲審機制，依然有 </a:t>
            </a:r>
            <a:r>
              <a:rPr lang="en-US" altLang="ja-JP" dirty="0"/>
              <a:t>2% </a:t>
            </a:r>
            <a:r>
              <a:rPr lang="ja-JP" altLang="en-US"/>
              <a:t>消除不掉的靜默錯誤。而 </a:t>
            </a:r>
            <a:r>
              <a:rPr lang="en-US" dirty="0" err="1"/>
              <a:t>VerifiQuant</a:t>
            </a:r>
            <a:r>
              <a:rPr lang="en-US" dirty="0"/>
              <a:t> </a:t>
            </a:r>
            <a:r>
              <a:rPr lang="ja-JP" altLang="en-US"/>
              <a:t>透過 </a:t>
            </a:r>
            <a:r>
              <a:rPr lang="en-US" altLang="ja-JP" dirty="0"/>
              <a:t>10% </a:t>
            </a:r>
            <a:r>
              <a:rPr lang="ja-JP" altLang="en-US"/>
              <a:t>的</a:t>
            </a:r>
            <a:r>
              <a:rPr lang="en-US" altLang="ja-JP" dirty="0"/>
              <a:t>『</a:t>
            </a:r>
            <a:r>
              <a:rPr lang="ja-JP" altLang="en-US"/>
              <a:t>安全拒答</a:t>
            </a:r>
            <a:r>
              <a:rPr lang="en-US" altLang="ja-JP" dirty="0"/>
              <a:t>』</a:t>
            </a:r>
            <a:r>
              <a:rPr lang="ja-JP" altLang="en-US"/>
              <a:t>，達成了完美的 **</a:t>
            </a:r>
            <a:r>
              <a:rPr lang="en-US" altLang="ja-JP" dirty="0"/>
              <a:t>0% </a:t>
            </a:r>
            <a:r>
              <a:rPr lang="ja-JP" altLang="en-US"/>
              <a:t>靜默錯誤率**。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/>
              <a:t>我們寧可打斷分析師問問題，也絕對不給出不可審計的數字。我們把不可靠的高準確率，換成了金融界最需要的：</a:t>
            </a:r>
            <a:r>
              <a:rPr lang="en-US" altLang="ja-JP" dirty="0"/>
              <a:t>100% </a:t>
            </a:r>
            <a:r>
              <a:rPr lang="ja-JP" altLang="en-US"/>
              <a:t>的絕對信任。」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3" name="Google Shape;203;g3dec9f0cfbb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ec9f0cfbb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/>
              <a:t>「真正的透明度，不是丟給法遵人員一堆程式碼，而是讓他們清楚看見每一次決策的依據。接下來，我們透過一段實機展示，看看 </a:t>
            </a:r>
            <a:r>
              <a:rPr lang="en-US" dirty="0" err="1"/>
              <a:t>VerifiQuant</a:t>
            </a:r>
            <a:r>
              <a:rPr lang="en-US" dirty="0"/>
              <a:t> </a:t>
            </a:r>
            <a:r>
              <a:rPr lang="ja-JP" altLang="en-US"/>
              <a:t>是如何攔截致命的隱性假設，並產出符合歐盟 </a:t>
            </a:r>
            <a:r>
              <a:rPr lang="en-US" dirty="0"/>
              <a:t>AI Act </a:t>
            </a:r>
            <a:r>
              <a:rPr lang="ja-JP" altLang="en-US"/>
              <a:t>級別的審計報告。」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9" name="Google Shape;239;g3dec9f0cfbb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ec78014f7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ec78014f7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TW"/>
              <a:t>到這裡6:30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" name="Google Shape;32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4" name="Google Shape;34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dec9f0cfbb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5" name="Google Shape;365;g3dec9f0cfbb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ec78014f78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ec78014f78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ec78014f7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ec78014f7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ec78014f78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ec78014f78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ec78014f78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ec78014f78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ec78014f78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ec78014f78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ec78014f78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ec78014f78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ec78014f78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ec78014f78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ec78014f7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ec78014f78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30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30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30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3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p3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7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" name="Google Shape;39;p37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37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" name="Google Shape;41;p37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37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8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6" name="Google Shape;46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9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9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0" name="Google Shape;50;p39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verifiquant.co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ctrTitle"/>
          </p:nvPr>
        </p:nvSpPr>
        <p:spPr>
          <a:xfrm>
            <a:off x="510449" y="1360448"/>
            <a:ext cx="5701073" cy="136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zh-TW" sz="3600" b="1">
                <a:solidFill>
                  <a:schemeClr val="lt2"/>
                </a:solidFill>
              </a:rPr>
              <a:t>VerifiQuant</a:t>
            </a:r>
            <a:endParaRPr sz="3800"/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4800"/>
              <a:buNone/>
            </a:pPr>
            <a:r>
              <a:rPr lang="zh-TW" sz="2400">
                <a:solidFill>
                  <a:schemeClr val="lt2"/>
                </a:solidFill>
              </a:rPr>
              <a:t>合約驗證式金融推理Agent</a:t>
            </a:r>
            <a:endParaRPr sz="2400"/>
          </a:p>
        </p:txBody>
      </p:sp>
      <p:sp>
        <p:nvSpPr>
          <p:cNvPr id="57" name="Google Shape;57;p1"/>
          <p:cNvSpPr txBox="1">
            <a:spLocks noGrp="1"/>
          </p:cNvSpPr>
          <p:nvPr>
            <p:ph type="subTitle" idx="1"/>
          </p:nvPr>
        </p:nvSpPr>
        <p:spPr>
          <a:xfrm>
            <a:off x="510450" y="3182341"/>
            <a:ext cx="8123100" cy="14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zh-TW">
                <a:solidFill>
                  <a:schemeClr val="lt2"/>
                </a:solidFill>
              </a:rPr>
              <a:t>r14946005　資科碩一　柯宥圻　｜　研究進度報告</a:t>
            </a:r>
            <a:endParaRPr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zh-TW">
                <a:solidFill>
                  <a:schemeClr val="lt2"/>
                </a:solidFill>
              </a:rPr>
              <a:t>AI trading team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2492"/>
            <a:ext cx="9665446" cy="5185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306892"/>
            <a:ext cx="9665447" cy="539466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"/>
          <p:cNvSpPr txBox="1"/>
          <p:nvPr/>
        </p:nvSpPr>
        <p:spPr>
          <a:xfrm>
            <a:off x="3659375" y="4634650"/>
            <a:ext cx="3251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b="1" dirty="0">
                <a:solidFill>
                  <a:srgbClr val="202729"/>
                </a:solidFill>
              </a:rPr>
              <a:t>R14946005 柯宥圻</a:t>
            </a:r>
            <a:endParaRPr sz="2000" b="1" i="0" u="none" strike="noStrike" cap="none" dirty="0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7C534F-ABE2-2EAF-F339-13C82F6E05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150" y="991587"/>
            <a:ext cx="7264400" cy="1460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5"/>
          <p:cNvSpPr txBox="1"/>
          <p:nvPr/>
        </p:nvSpPr>
        <p:spPr>
          <a:xfrm>
            <a:off x="406400" y="228600"/>
            <a:ext cx="83312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600" b="1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AI 的生產力幻覺</a:t>
            </a:r>
            <a:endParaRPr sz="2600" b="1" i="0" u="none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5"/>
          <p:cNvSpPr/>
          <p:nvPr/>
        </p:nvSpPr>
        <p:spPr>
          <a:xfrm>
            <a:off x="406400" y="736600"/>
            <a:ext cx="711200" cy="508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5"/>
          <p:cNvSpPr/>
          <p:nvPr/>
        </p:nvSpPr>
        <p:spPr>
          <a:xfrm>
            <a:off x="406400" y="914400"/>
            <a:ext cx="4724400" cy="3784600"/>
          </a:xfrm>
          <a:prstGeom prst="roundRect">
            <a:avLst>
              <a:gd name="adj" fmla="val 16667"/>
            </a:avLst>
          </a:prstGeom>
          <a:solidFill>
            <a:srgbClr val="2027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5"/>
          <p:cNvSpPr txBox="1"/>
          <p:nvPr/>
        </p:nvSpPr>
        <p:spPr>
          <a:xfrm>
            <a:off x="660400" y="1041400"/>
            <a:ext cx="421640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1" i="0" u="none" strike="noStrike" cap="none">
                <a:solidFill>
                  <a:srgbClr val="63D297"/>
                </a:solidFill>
                <a:latin typeface="Arial"/>
                <a:ea typeface="Arial"/>
                <a:cs typeface="Arial"/>
                <a:sym typeface="Arial"/>
              </a:rPr>
              <a:t>真實案例</a:t>
            </a:r>
            <a:endParaRPr sz="1300" b="1" i="0" u="none" strike="noStrike" cap="none">
              <a:solidFill>
                <a:srgbClr val="63D29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5"/>
          <p:cNvSpPr txBox="1"/>
          <p:nvPr/>
        </p:nvSpPr>
        <p:spPr>
          <a:xfrm>
            <a:off x="660400" y="1295400"/>
            <a:ext cx="4216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Dustin （台大財金同學）</a:t>
            </a: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5"/>
          <p:cNvSpPr txBox="1"/>
          <p:nvPr/>
        </p:nvSpPr>
        <p:spPr>
          <a:xfrm>
            <a:off x="660400" y="1727200"/>
            <a:ext cx="4216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 u="none" strike="noStrike" cap="none">
                <a:solidFill>
                  <a:srgbClr val="63D297"/>
                </a:solidFill>
                <a:latin typeface="Arial"/>
                <a:ea typeface="Arial"/>
                <a:cs typeface="Arial"/>
                <a:sym typeface="Arial"/>
              </a:rPr>
              <a:t>J.P. Morgan 投行分析師</a:t>
            </a:r>
            <a:endParaRPr sz="1400" b="0" i="0" u="none" strike="noStrike" cap="none">
              <a:solidFill>
                <a:srgbClr val="63D29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5"/>
          <p:cNvSpPr txBox="1"/>
          <p:nvPr/>
        </p:nvSpPr>
        <p:spPr>
          <a:xfrm>
            <a:off x="660400" y="2140131"/>
            <a:ext cx="4267200" cy="1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 每週工時 80 小時</a:t>
            </a:r>
            <a:br>
              <a:rPr lang="zh-TW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zh-TW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 肉眼從數百頁 PDF 財報中找數字</a:t>
            </a:r>
            <a:br>
              <a:rPr lang="zh-TW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zh-TW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 手動貼進 Excel 反覆驗證</a:t>
            </a:r>
            <a:br>
              <a:rPr lang="zh-TW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zh-TW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 88% 的試算表腳本隱藏人為錯誤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5"/>
          <p:cNvSpPr txBox="1"/>
          <p:nvPr/>
        </p:nvSpPr>
        <p:spPr>
          <a:xfrm>
            <a:off x="660400" y="3810000"/>
            <a:ext cx="4267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1" i="1" u="none" strike="noStrike" cap="none" dirty="0">
                <a:solidFill>
                  <a:srgbClr val="63D297"/>
                </a:solidFill>
                <a:latin typeface="Arial"/>
                <a:ea typeface="Arial"/>
                <a:cs typeface="Arial"/>
                <a:sym typeface="Arial"/>
              </a:rPr>
              <a:t>「我寧可自己算，也絕對不敢用 AI。」</a:t>
            </a:r>
            <a:endParaRPr sz="1600" b="1" i="1" u="none" strike="noStrike" cap="none" dirty="0">
              <a:solidFill>
                <a:srgbClr val="63D29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5"/>
          <p:cNvSpPr txBox="1"/>
          <p:nvPr/>
        </p:nvSpPr>
        <p:spPr>
          <a:xfrm>
            <a:off x="5486400" y="1041400"/>
            <a:ext cx="3251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 i="0" u="none" strike="noStrike" cap="none" dirty="0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KPMG 全球調查</a:t>
            </a:r>
            <a:endParaRPr sz="1500" b="1" i="0" u="none" strike="noStrike" cap="none" dirty="0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5"/>
          <p:cNvSpPr txBox="1"/>
          <p:nvPr/>
        </p:nvSpPr>
        <p:spPr>
          <a:xfrm>
            <a:off x="5486400" y="1346200"/>
            <a:ext cx="3251200" cy="7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 b="1" i="0" u="none" strike="noStrike" cap="none">
                <a:solidFill>
                  <a:srgbClr val="4BA173"/>
                </a:solidFill>
                <a:latin typeface="Arial"/>
                <a:ea typeface="Arial"/>
                <a:cs typeface="Arial"/>
                <a:sym typeface="Arial"/>
              </a:rPr>
              <a:t>74%</a:t>
            </a:r>
            <a:endParaRPr/>
          </a:p>
        </p:txBody>
      </p:sp>
      <p:sp>
        <p:nvSpPr>
          <p:cNvPr id="75" name="Google Shape;75;p25"/>
          <p:cNvSpPr txBox="1"/>
          <p:nvPr/>
        </p:nvSpPr>
        <p:spPr>
          <a:xfrm>
            <a:off x="5486400" y="2108200"/>
            <a:ext cx="3251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對導入 AI 的高度關注</a:t>
            </a:r>
            <a:endParaRPr sz="1400" b="0" i="0" u="none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5"/>
          <p:cNvSpPr txBox="1"/>
          <p:nvPr/>
        </p:nvSpPr>
        <p:spPr>
          <a:xfrm>
            <a:off x="5486400" y="2514600"/>
            <a:ext cx="3251200" cy="7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 b="1" i="0" u="none" strike="noStrike" cap="none">
                <a:solidFill>
                  <a:srgbClr val="FF5252"/>
                </a:solidFill>
                <a:latin typeface="Arial"/>
                <a:ea typeface="Arial"/>
                <a:cs typeface="Arial"/>
                <a:sym typeface="Arial"/>
              </a:rPr>
              <a:t>11%</a:t>
            </a:r>
            <a:endParaRPr/>
          </a:p>
        </p:txBody>
      </p:sp>
      <p:sp>
        <p:nvSpPr>
          <p:cNvPr id="77" name="Google Shape;77;p25"/>
          <p:cNvSpPr txBox="1"/>
          <p:nvPr/>
        </p:nvSpPr>
        <p:spPr>
          <a:xfrm>
            <a:off x="5486400" y="3276600"/>
            <a:ext cx="3251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真正投入生產部署</a:t>
            </a:r>
            <a:endParaRPr sz="1400" b="0" i="0" u="none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5"/>
          <p:cNvSpPr/>
          <p:nvPr/>
        </p:nvSpPr>
        <p:spPr>
          <a:xfrm>
            <a:off x="5486400" y="3733800"/>
            <a:ext cx="3251200" cy="25400"/>
          </a:xfrm>
          <a:prstGeom prst="rect">
            <a:avLst/>
          </a:prstGeom>
          <a:solidFill>
            <a:srgbClr val="4BA17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5"/>
          <p:cNvSpPr txBox="1"/>
          <p:nvPr/>
        </p:nvSpPr>
        <p:spPr>
          <a:xfrm>
            <a:off x="5486400" y="3835400"/>
            <a:ext cx="32512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0" i="1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「人人都渴望 AI 的效率，卻沒人敢承擔 AI 幻覺的代價。」</a:t>
            </a:r>
            <a:endParaRPr sz="1300" b="0" i="1" u="none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5"/>
          <p:cNvSpPr/>
          <p:nvPr/>
        </p:nvSpPr>
        <p:spPr>
          <a:xfrm>
            <a:off x="0" y="4978400"/>
            <a:ext cx="9144000" cy="762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896C07-CF9C-EA6C-BF4D-00779F886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186" y="0"/>
            <a:ext cx="4584186" cy="5143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B943F8-D9EE-00D9-357C-6B32278F4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170" y="3291840"/>
            <a:ext cx="5096830" cy="1109070"/>
          </a:xfrm>
          <a:prstGeom prst="rect">
            <a:avLst/>
          </a:prstGeom>
        </p:spPr>
      </p:pic>
      <p:sp>
        <p:nvSpPr>
          <p:cNvPr id="6" name="Google Shape;73;p25">
            <a:extLst>
              <a:ext uri="{FF2B5EF4-FFF2-40B4-BE49-F238E27FC236}">
                <a16:creationId xmlns:a16="http://schemas.microsoft.com/office/drawing/2014/main" id="{896F8E44-45ED-AEE9-BD31-F33662E21248}"/>
              </a:ext>
            </a:extLst>
          </p:cNvPr>
          <p:cNvSpPr txBox="1"/>
          <p:nvPr/>
        </p:nvSpPr>
        <p:spPr>
          <a:xfrm>
            <a:off x="4571999" y="360045"/>
            <a:ext cx="445878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202729"/>
                </a:solidFill>
              </a:rPr>
              <a:t>JP Morgan </a:t>
            </a:r>
            <a:r>
              <a:rPr lang="en-US" sz="1500" b="1" dirty="0" err="1">
                <a:solidFill>
                  <a:srgbClr val="202729"/>
                </a:solidFill>
              </a:rPr>
              <a:t>在</a:t>
            </a:r>
            <a:r>
              <a:rPr lang="en-US" sz="1500" b="1" dirty="0">
                <a:solidFill>
                  <a:srgbClr val="202729"/>
                </a:solidFill>
              </a:rPr>
              <a:t> 2025/08寫的multi-agent paper</a:t>
            </a:r>
            <a:endParaRPr sz="1500" b="1" i="0" u="none" strike="noStrike" cap="none" dirty="0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4;p25">
            <a:extLst>
              <a:ext uri="{FF2B5EF4-FFF2-40B4-BE49-F238E27FC236}">
                <a16:creationId xmlns:a16="http://schemas.microsoft.com/office/drawing/2014/main" id="{C4BC3951-6A7E-2C49-ACCD-598580EA2E66}"/>
              </a:ext>
            </a:extLst>
          </p:cNvPr>
          <p:cNvSpPr txBox="1"/>
          <p:nvPr/>
        </p:nvSpPr>
        <p:spPr>
          <a:xfrm>
            <a:off x="4572000" y="664845"/>
            <a:ext cx="3251200" cy="7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4800" b="1" dirty="0">
                <a:solidFill>
                  <a:srgbClr val="4BA173"/>
                </a:solidFill>
              </a:rPr>
              <a:t>46</a:t>
            </a:r>
            <a:r>
              <a:rPr lang="zh-TW" sz="4800" b="1" i="0" u="none" strike="noStrike" cap="none" dirty="0">
                <a:solidFill>
                  <a:srgbClr val="4BA173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dirty="0"/>
          </a:p>
        </p:txBody>
      </p:sp>
      <p:sp>
        <p:nvSpPr>
          <p:cNvPr id="8" name="Google Shape;75;p25">
            <a:extLst>
              <a:ext uri="{FF2B5EF4-FFF2-40B4-BE49-F238E27FC236}">
                <a16:creationId xmlns:a16="http://schemas.microsoft.com/office/drawing/2014/main" id="{63B356B9-177D-067F-B376-A81B6FEE66D7}"/>
              </a:ext>
            </a:extLst>
          </p:cNvPr>
          <p:cNvSpPr txBox="1"/>
          <p:nvPr/>
        </p:nvSpPr>
        <p:spPr>
          <a:xfrm>
            <a:off x="4572000" y="1426845"/>
            <a:ext cx="3251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>
                <a:solidFill>
                  <a:srgbClr val="202729"/>
                </a:solidFill>
              </a:rPr>
              <a:t>回答一次就正確的機率</a:t>
            </a:r>
            <a:endParaRPr sz="1400" b="0" i="0" u="none" strike="noStrike" cap="none" dirty="0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97;p26">
            <a:extLst>
              <a:ext uri="{FF2B5EF4-FFF2-40B4-BE49-F238E27FC236}">
                <a16:creationId xmlns:a16="http://schemas.microsoft.com/office/drawing/2014/main" id="{2D1B3C9B-80EF-79CE-90EE-ECE396F3AE11}"/>
              </a:ext>
            </a:extLst>
          </p:cNvPr>
          <p:cNvSpPr txBox="1"/>
          <p:nvPr/>
        </p:nvSpPr>
        <p:spPr>
          <a:xfrm>
            <a:off x="4571999" y="1841182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800" b="1" i="0" u="none" strike="noStrike" cap="none" dirty="0">
                <a:solidFill>
                  <a:srgbClr val="FF5252"/>
                </a:solidFill>
                <a:latin typeface="Arial"/>
                <a:ea typeface="Arial"/>
                <a:cs typeface="Arial"/>
                <a:sym typeface="Arial"/>
              </a:rPr>
              <a:t>就算這是</a:t>
            </a:r>
            <a:r>
              <a:rPr lang="en-US" altLang="zh-TW" sz="3800" b="1" i="0" u="none" strike="noStrike" cap="none" dirty="0">
                <a:solidFill>
                  <a:srgbClr val="FF5252"/>
                </a:solidFill>
                <a:latin typeface="Arial"/>
                <a:ea typeface="Arial"/>
                <a:cs typeface="Arial"/>
                <a:sym typeface="Arial"/>
              </a:rPr>
              <a:t>SOTA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dirty="0" err="1">
                <a:solidFill>
                  <a:srgbClr val="FF5252"/>
                </a:solidFill>
              </a:rPr>
              <a:t>你會用他嗎</a:t>
            </a:r>
            <a:r>
              <a:rPr lang="en-US" sz="3800" b="1" dirty="0">
                <a:solidFill>
                  <a:srgbClr val="FF5252"/>
                </a:solidFill>
              </a:rPr>
              <a:t>？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BFC01D-957A-310F-B252-CFCF9F1441BE}"/>
              </a:ext>
            </a:extLst>
          </p:cNvPr>
          <p:cNvSpPr txBox="1"/>
          <p:nvPr/>
        </p:nvSpPr>
        <p:spPr>
          <a:xfrm>
            <a:off x="7376159" y="686224"/>
            <a:ext cx="45807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202729"/>
                </a:solidFill>
              </a:rPr>
              <a:t>(EMNLP 2025)</a:t>
            </a:r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4256096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6"/>
          <p:cNvSpPr txBox="1"/>
          <p:nvPr/>
        </p:nvSpPr>
        <p:spPr>
          <a:xfrm>
            <a:off x="406400" y="228600"/>
            <a:ext cx="83312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600" b="1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「AI 馬屁精」與致命的靜默錯誤</a:t>
            </a:r>
            <a:endParaRPr sz="2600" b="1" i="0" u="none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6"/>
          <p:cNvSpPr/>
          <p:nvPr/>
        </p:nvSpPr>
        <p:spPr>
          <a:xfrm>
            <a:off x="406400" y="736600"/>
            <a:ext cx="711200" cy="508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6"/>
          <p:cNvSpPr/>
          <p:nvPr/>
        </p:nvSpPr>
        <p:spPr>
          <a:xfrm>
            <a:off x="406400" y="889000"/>
            <a:ext cx="8331200" cy="838200"/>
          </a:xfrm>
          <a:prstGeom prst="roundRect">
            <a:avLst>
              <a:gd name="adj" fmla="val 16667"/>
            </a:avLst>
          </a:prstGeom>
          <a:solidFill>
            <a:srgbClr val="2027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6"/>
          <p:cNvSpPr txBox="1"/>
          <p:nvPr/>
        </p:nvSpPr>
        <p:spPr>
          <a:xfrm>
            <a:off x="780506" y="949960"/>
            <a:ext cx="19050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 b="1" i="0" u="none" strike="noStrike" cap="none">
                <a:solidFill>
                  <a:srgbClr val="FF5252"/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  <a:endParaRPr/>
          </a:p>
        </p:txBody>
      </p:sp>
      <p:sp>
        <p:nvSpPr>
          <p:cNvPr id="89" name="Google Shape;89;p26"/>
          <p:cNvSpPr txBox="1"/>
          <p:nvPr/>
        </p:nvSpPr>
        <p:spPr>
          <a:xfrm>
            <a:off x="1860006" y="128016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隨機靜默出錯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6"/>
          <p:cNvSpPr txBox="1"/>
          <p:nvPr/>
        </p:nvSpPr>
        <p:spPr>
          <a:xfrm>
            <a:off x="3780065" y="1003300"/>
            <a:ext cx="7620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</p:txBody>
      </p:sp>
      <p:sp>
        <p:nvSpPr>
          <p:cNvPr id="91" name="Google Shape;91;p26"/>
          <p:cNvSpPr txBox="1"/>
          <p:nvPr/>
        </p:nvSpPr>
        <p:spPr>
          <a:xfrm>
            <a:off x="4899480" y="941977"/>
            <a:ext cx="25400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 b="1" i="0" u="none" strike="noStrike" cap="none">
                <a:solidFill>
                  <a:srgbClr val="63D297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/>
          </a:p>
        </p:txBody>
      </p:sp>
      <p:sp>
        <p:nvSpPr>
          <p:cNvPr id="92" name="Google Shape;92;p26"/>
          <p:cNvSpPr txBox="1"/>
          <p:nvPr/>
        </p:nvSpPr>
        <p:spPr>
          <a:xfrm>
            <a:off x="6268722" y="1284877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題目須全部人工重查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6"/>
          <p:cNvSpPr/>
          <p:nvPr/>
        </p:nvSpPr>
        <p:spPr>
          <a:xfrm>
            <a:off x="406400" y="1905000"/>
            <a:ext cx="4064000" cy="2971800"/>
          </a:xfrm>
          <a:prstGeom prst="roundRect">
            <a:avLst>
              <a:gd name="adj" fmla="val 16667"/>
            </a:avLst>
          </a:prstGeom>
          <a:solidFill>
            <a:srgbClr val="2027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6"/>
          <p:cNvSpPr/>
          <p:nvPr/>
        </p:nvSpPr>
        <p:spPr>
          <a:xfrm>
            <a:off x="660400" y="2082800"/>
            <a:ext cx="2921000" cy="33020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SILENT FAILURE 靜默錯誤</a:t>
            </a:r>
            <a:endParaRPr sz="13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6"/>
          <p:cNvSpPr txBox="1"/>
          <p:nvPr/>
        </p:nvSpPr>
        <p:spPr>
          <a:xfrm>
            <a:off x="660400" y="2540000"/>
            <a:ext cx="3606800" cy="22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遇到沒有明文規定的模糊地帶時:</a:t>
            </a:r>
            <a:endParaRPr lang="en-US" altLang="zh-TW" sz="16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為了討好你、急著給答案，會「假裝自己懂」，替你預設條件，再極度自信地給出落差數百萬美元的錯誤數字。</a:t>
            </a:r>
            <a:endParaRPr sz="16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1" i="0" u="none" strike="noStrike" cap="none" dirty="0">
                <a:solidFill>
                  <a:srgbClr val="FFFFFF"/>
                </a:solidFill>
              </a:rPr>
              <a:t>從CoT到Multi-Agent, 模型往往會「掩蓋真正的錯誤原因」。</a:t>
            </a:r>
            <a:endParaRPr sz="1600" b="1" i="0" u="none" strike="noStrike" cap="none" dirty="0">
              <a:solidFill>
                <a:srgbClr val="FFFFFF"/>
              </a:solidFill>
            </a:endParaRPr>
          </a:p>
        </p:txBody>
      </p:sp>
      <p:sp>
        <p:nvSpPr>
          <p:cNvPr id="96" name="Google Shape;96;p26"/>
          <p:cNvSpPr/>
          <p:nvPr/>
        </p:nvSpPr>
        <p:spPr>
          <a:xfrm>
            <a:off x="4673600" y="1905000"/>
            <a:ext cx="4064000" cy="2971800"/>
          </a:xfrm>
          <a:prstGeom prst="roundRect">
            <a:avLst>
              <a:gd name="adj" fmla="val 16667"/>
            </a:avLst>
          </a:prstGeom>
          <a:solidFill>
            <a:srgbClr val="EEF2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6"/>
          <p:cNvSpPr txBox="1"/>
          <p:nvPr/>
        </p:nvSpPr>
        <p:spPr>
          <a:xfrm>
            <a:off x="4927600" y="2032000"/>
            <a:ext cx="35560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3800" b="1" dirty="0">
                <a:solidFill>
                  <a:srgbClr val="FF5252"/>
                </a:solidFill>
              </a:rPr>
              <a:t>16</a:t>
            </a:r>
            <a:r>
              <a:rPr lang="zh-TW" sz="3800" b="1" i="0" u="none" strike="noStrike" cap="none" dirty="0">
                <a:solidFill>
                  <a:srgbClr val="FF5252"/>
                </a:solidFill>
                <a:latin typeface="Arial"/>
                <a:ea typeface="Arial"/>
                <a:cs typeface="Arial"/>
                <a:sym typeface="Arial"/>
              </a:rPr>
              <a:t>% </a:t>
            </a:r>
            <a:r>
              <a:rPr lang="zh-TW" sz="3800" b="1" dirty="0">
                <a:solidFill>
                  <a:srgbClr val="FF5252"/>
                </a:solidFill>
              </a:rPr>
              <a:t>歧意率</a:t>
            </a:r>
            <a:endParaRPr dirty="0"/>
          </a:p>
        </p:txBody>
      </p:sp>
      <p:sp>
        <p:nvSpPr>
          <p:cNvPr id="98" name="Google Shape;98;p26"/>
          <p:cNvSpPr txBox="1"/>
          <p:nvPr/>
        </p:nvSpPr>
        <p:spPr>
          <a:xfrm>
            <a:off x="4927600" y="2641600"/>
            <a:ext cx="3606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300" b="0" i="0" u="none" strike="noStrike" cap="none" dirty="0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ACL2025 </a:t>
            </a:r>
            <a:r>
              <a:rPr lang="zh-TW" sz="1300" b="0" i="0" u="none" strike="noStrike" cap="none" dirty="0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論文指出：財金資料集本身充滿歧義</a:t>
            </a:r>
            <a:endParaRPr sz="1300" b="0" i="0" u="none" strike="noStrike" cap="none" dirty="0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6"/>
          <p:cNvSpPr/>
          <p:nvPr/>
        </p:nvSpPr>
        <p:spPr>
          <a:xfrm>
            <a:off x="4927600" y="3048000"/>
            <a:ext cx="3556000" cy="25400"/>
          </a:xfrm>
          <a:prstGeom prst="rect">
            <a:avLst/>
          </a:prstGeom>
          <a:solidFill>
            <a:srgbClr val="4BA17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6"/>
          <p:cNvSpPr txBox="1"/>
          <p:nvPr/>
        </p:nvSpPr>
        <p:spPr>
          <a:xfrm>
            <a:off x="4927600" y="3149600"/>
            <a:ext cx="36068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舉例：期初 vs 期末付款：隱性共識</a:t>
            </a:r>
            <a:endParaRPr sz="1500" b="1" i="0" u="none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6"/>
          <p:cNvSpPr txBox="1"/>
          <p:nvPr/>
        </p:nvSpPr>
        <p:spPr>
          <a:xfrm>
            <a:off x="4927600" y="3454400"/>
            <a:ext cx="3606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 b="0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雙方的默契往往不寫進白紙黑字，AI 一旦自行預設和使用者假設不同的情況，即引發蝴蝶效應。</a:t>
            </a:r>
            <a:endParaRPr sz="1250" b="0" i="0" u="none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6"/>
          <p:cNvSpPr txBox="1"/>
          <p:nvPr/>
        </p:nvSpPr>
        <p:spPr>
          <a:xfrm>
            <a:off x="4698950" y="4216400"/>
            <a:ext cx="4064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 i="0" u="none" strike="noStrike" cap="none">
                <a:solidFill>
                  <a:srgbClr val="4BA173"/>
                </a:solidFill>
                <a:latin typeface="Arial"/>
                <a:ea typeface="Arial"/>
                <a:cs typeface="Arial"/>
                <a:sym typeface="Arial"/>
              </a:rPr>
              <a:t>「90% 準確率」在金融業是假命題。</a:t>
            </a:r>
            <a:endParaRPr sz="1800" b="1" i="0" u="none" strike="noStrike" cap="none">
              <a:solidFill>
                <a:srgbClr val="4BA17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4BA1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6"/>
          <p:cNvSpPr/>
          <p:nvPr/>
        </p:nvSpPr>
        <p:spPr>
          <a:xfrm>
            <a:off x="0" y="4978400"/>
            <a:ext cx="9144000" cy="762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ec9f0cfbb_0_0"/>
          <p:cNvSpPr txBox="1"/>
          <p:nvPr/>
        </p:nvSpPr>
        <p:spPr>
          <a:xfrm>
            <a:off x="406400" y="228600"/>
            <a:ext cx="83312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600" b="1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純粹 Prompt Engineering 的三宗罪</a:t>
            </a:r>
            <a:endParaRPr sz="2600" b="1" i="0" u="none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dec9f0cfbb_0_0"/>
          <p:cNvSpPr/>
          <p:nvPr/>
        </p:nvSpPr>
        <p:spPr>
          <a:xfrm>
            <a:off x="406400" y="736600"/>
            <a:ext cx="711200" cy="508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dec9f0cfbb_0_0"/>
          <p:cNvSpPr/>
          <p:nvPr/>
        </p:nvSpPr>
        <p:spPr>
          <a:xfrm>
            <a:off x="406400" y="2319750"/>
            <a:ext cx="2641600" cy="2531650"/>
          </a:xfrm>
          <a:prstGeom prst="roundRect">
            <a:avLst>
              <a:gd name="adj" fmla="val 16667"/>
            </a:avLst>
          </a:prstGeom>
          <a:solidFill>
            <a:srgbClr val="2027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dec9f0cfbb_0_0"/>
          <p:cNvSpPr/>
          <p:nvPr/>
        </p:nvSpPr>
        <p:spPr>
          <a:xfrm>
            <a:off x="406400" y="2319750"/>
            <a:ext cx="2641600" cy="8890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dec9f0cfbb_0_0"/>
          <p:cNvSpPr/>
          <p:nvPr/>
        </p:nvSpPr>
        <p:spPr>
          <a:xfrm>
            <a:off x="609600" y="2599150"/>
            <a:ext cx="355600" cy="355600"/>
          </a:xfrm>
          <a:prstGeom prst="ellipse">
            <a:avLst/>
          </a:prstGeom>
          <a:solidFill>
            <a:srgbClr val="FF525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3" name="Google Shape;113;g3dec9f0cfbb_0_0"/>
          <p:cNvSpPr txBox="1"/>
          <p:nvPr/>
        </p:nvSpPr>
        <p:spPr>
          <a:xfrm>
            <a:off x="609600" y="3056350"/>
            <a:ext cx="2235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 i="0" u="none" strike="noStrike" cap="none">
                <a:solidFill>
                  <a:srgbClr val="FF5252"/>
                </a:solidFill>
                <a:latin typeface="Arial"/>
                <a:ea typeface="Arial"/>
                <a:cs typeface="Arial"/>
                <a:sym typeface="Arial"/>
              </a:rPr>
              <a:t>Silent Failure</a:t>
            </a:r>
            <a:endParaRPr sz="1800" b="1" i="0" u="none" strike="noStrike" cap="none">
              <a:solidFill>
                <a:srgbClr val="FF525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dec9f0cfbb_0_0"/>
          <p:cNvSpPr txBox="1"/>
          <p:nvPr/>
        </p:nvSpPr>
        <p:spPr>
          <a:xfrm>
            <a:off x="609600" y="3361150"/>
            <a:ext cx="2235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靜默失敗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dec9f0cfbb_0_0"/>
          <p:cNvSpPr/>
          <p:nvPr/>
        </p:nvSpPr>
        <p:spPr>
          <a:xfrm>
            <a:off x="609600" y="3691350"/>
            <a:ext cx="1397000" cy="2540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dec9f0cfbb_0_0"/>
          <p:cNvSpPr txBox="1"/>
          <p:nvPr/>
        </p:nvSpPr>
        <p:spPr>
          <a:xfrm>
            <a:off x="609600" y="3818350"/>
            <a:ext cx="2235200" cy="1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模型在資訊不足時，仍以高自信輸出答案。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dec9f0cfbb_0_0"/>
          <p:cNvSpPr/>
          <p:nvPr/>
        </p:nvSpPr>
        <p:spPr>
          <a:xfrm>
            <a:off x="3251200" y="2319750"/>
            <a:ext cx="2641600" cy="2531650"/>
          </a:xfrm>
          <a:prstGeom prst="roundRect">
            <a:avLst>
              <a:gd name="adj" fmla="val 16667"/>
            </a:avLst>
          </a:prstGeom>
          <a:solidFill>
            <a:srgbClr val="2027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dec9f0cfbb_0_0"/>
          <p:cNvSpPr/>
          <p:nvPr/>
        </p:nvSpPr>
        <p:spPr>
          <a:xfrm>
            <a:off x="3251200" y="2319750"/>
            <a:ext cx="2641600" cy="889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dec9f0cfbb_0_0"/>
          <p:cNvSpPr/>
          <p:nvPr/>
        </p:nvSpPr>
        <p:spPr>
          <a:xfrm>
            <a:off x="3454400" y="2599150"/>
            <a:ext cx="355600" cy="35560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20" name="Google Shape;120;g3dec9f0cfbb_0_0"/>
          <p:cNvSpPr txBox="1"/>
          <p:nvPr/>
        </p:nvSpPr>
        <p:spPr>
          <a:xfrm>
            <a:off x="3454400" y="3056350"/>
            <a:ext cx="2235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 i="0" u="none" strike="noStrike" cap="none">
                <a:solidFill>
                  <a:srgbClr val="F2A93B"/>
                </a:solidFill>
                <a:latin typeface="Arial"/>
                <a:ea typeface="Arial"/>
                <a:cs typeface="Arial"/>
                <a:sym typeface="Arial"/>
              </a:rPr>
              <a:t>Semantic Drift</a:t>
            </a:r>
            <a:endParaRPr sz="1800" b="1" i="0" u="none" strike="noStrike" cap="none">
              <a:solidFill>
                <a:srgbClr val="F2A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dec9f0cfbb_0_0"/>
          <p:cNvSpPr txBox="1"/>
          <p:nvPr/>
        </p:nvSpPr>
        <p:spPr>
          <a:xfrm>
            <a:off x="3454400" y="3361150"/>
            <a:ext cx="2235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語意漂移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dec9f0cfbb_0_0"/>
          <p:cNvSpPr/>
          <p:nvPr/>
        </p:nvSpPr>
        <p:spPr>
          <a:xfrm>
            <a:off x="3454400" y="3691350"/>
            <a:ext cx="1397000" cy="25400"/>
          </a:xfrm>
          <a:prstGeom prst="rect">
            <a:avLst/>
          </a:prstGeom>
          <a:solidFill>
            <a:srgbClr val="F2A93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dec9f0cfbb_0_0"/>
          <p:cNvSpPr txBox="1"/>
          <p:nvPr/>
        </p:nvSpPr>
        <p:spPr>
          <a:xfrm>
            <a:off x="3454400" y="3818350"/>
            <a:ext cx="2235200" cy="1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公式選對，但隱性歧義（匯率方向、現金流期初／期末、報酬率年化基準）導致系統性錯誤。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dec9f0cfbb_0_0"/>
          <p:cNvSpPr/>
          <p:nvPr/>
        </p:nvSpPr>
        <p:spPr>
          <a:xfrm>
            <a:off x="6096000" y="2319750"/>
            <a:ext cx="2641600" cy="2531650"/>
          </a:xfrm>
          <a:prstGeom prst="roundRect">
            <a:avLst>
              <a:gd name="adj" fmla="val 16667"/>
            </a:avLst>
          </a:prstGeom>
          <a:solidFill>
            <a:srgbClr val="2027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dec9f0cfbb_0_0"/>
          <p:cNvSpPr/>
          <p:nvPr/>
        </p:nvSpPr>
        <p:spPr>
          <a:xfrm>
            <a:off x="6096000" y="2319750"/>
            <a:ext cx="2641600" cy="88900"/>
          </a:xfrm>
          <a:prstGeom prst="rect">
            <a:avLst/>
          </a:prstGeom>
          <a:solidFill>
            <a:srgbClr val="4BA17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dec9f0cfbb_0_0"/>
          <p:cNvSpPr/>
          <p:nvPr/>
        </p:nvSpPr>
        <p:spPr>
          <a:xfrm>
            <a:off x="6299200" y="2599150"/>
            <a:ext cx="355600" cy="355600"/>
          </a:xfrm>
          <a:prstGeom prst="ellipse">
            <a:avLst/>
          </a:prstGeom>
          <a:solidFill>
            <a:srgbClr val="4BA1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27" name="Google Shape;127;g3dec9f0cfbb_0_0"/>
          <p:cNvSpPr txBox="1"/>
          <p:nvPr/>
        </p:nvSpPr>
        <p:spPr>
          <a:xfrm>
            <a:off x="6299200" y="3056350"/>
            <a:ext cx="2235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 i="0" u="none" strike="noStrike" cap="none">
                <a:solidFill>
                  <a:srgbClr val="4BA173"/>
                </a:solidFill>
                <a:latin typeface="Arial"/>
                <a:ea typeface="Arial"/>
                <a:cs typeface="Arial"/>
                <a:sym typeface="Arial"/>
              </a:rPr>
              <a:t>Audit Gap</a:t>
            </a:r>
            <a:endParaRPr sz="1800" b="1" i="0" u="none" strike="noStrike" cap="none">
              <a:solidFill>
                <a:srgbClr val="4BA1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dec9f0cfbb_0_0"/>
          <p:cNvSpPr txBox="1"/>
          <p:nvPr/>
        </p:nvSpPr>
        <p:spPr>
          <a:xfrm>
            <a:off x="6299200" y="3361150"/>
            <a:ext cx="2235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審計斷層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dec9f0cfbb_0_0"/>
          <p:cNvSpPr/>
          <p:nvPr/>
        </p:nvSpPr>
        <p:spPr>
          <a:xfrm>
            <a:off x="6299200" y="3691350"/>
            <a:ext cx="1397000" cy="25400"/>
          </a:xfrm>
          <a:prstGeom prst="rect">
            <a:avLst/>
          </a:prstGeom>
          <a:solidFill>
            <a:srgbClr val="4BA17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dec9f0cfbb_0_0"/>
          <p:cNvSpPr txBox="1"/>
          <p:nvPr/>
        </p:nvSpPr>
        <p:spPr>
          <a:xfrm>
            <a:off x="6299200" y="3818350"/>
            <a:ext cx="2235200" cy="1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CoT 軌跡因取樣隨機性無法重現，損失發生時無從究責。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dec9f0cfbb_0_0"/>
          <p:cNvSpPr/>
          <p:nvPr/>
        </p:nvSpPr>
        <p:spPr>
          <a:xfrm>
            <a:off x="0" y="4978400"/>
            <a:ext cx="9144000" cy="762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dec9f0cfbb_0_0"/>
          <p:cNvSpPr txBox="1"/>
          <p:nvPr/>
        </p:nvSpPr>
        <p:spPr>
          <a:xfrm>
            <a:off x="406400" y="812292"/>
            <a:ext cx="857504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b="0" i="0" u="none" strike="noStrike" cap="none" dirty="0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LLM 在金融 benchmark 的準確率已逼近頂峰，但 accuracy 本身在實務</a:t>
            </a:r>
            <a:endParaRPr lang="en-US" altLang="zh-TW" sz="2000" dirty="0">
              <a:solidFill>
                <a:srgbClr val="202729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b="0" i="0" u="none" strike="noStrike" cap="none" dirty="0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部署中是誤導性指標。</a:t>
            </a:r>
            <a:endParaRPr sz="2000" b="1" i="0" u="none" strike="noStrike" cap="none" dirty="0">
              <a:solidFill>
                <a:srgbClr val="4BA17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 i="0" u="none" strike="noStrike" cap="none" dirty="0">
              <a:solidFill>
                <a:srgbClr val="4BA17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b="1" i="0" u="none" strike="noStrike" cap="none" dirty="0">
                <a:solidFill>
                  <a:srgbClr val="4BA173"/>
                </a:solidFill>
                <a:latin typeface="Arial"/>
                <a:ea typeface="Arial"/>
                <a:cs typeface="Arial"/>
                <a:sym typeface="Arial"/>
              </a:rPr>
              <a:t>1. 如果模型遇到不確定性，如何反應？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b="1" i="0" u="none" strike="noStrike" cap="none" dirty="0">
                <a:solidFill>
                  <a:srgbClr val="4BA173"/>
                </a:solidFill>
                <a:latin typeface="Arial"/>
                <a:ea typeface="Arial"/>
                <a:cs typeface="Arial"/>
                <a:sym typeface="Arial"/>
              </a:rPr>
              <a:t>2. 如果數字會隱性算錯，系統還有用嗎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/>
        </p:nvSpPr>
        <p:spPr>
          <a:xfrm>
            <a:off x="406400" y="228600"/>
            <a:ext cx="83312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600" b="1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法規現實與我們的護城河</a:t>
            </a:r>
            <a:endParaRPr sz="2600" b="1" i="0" u="none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7"/>
          <p:cNvSpPr/>
          <p:nvPr/>
        </p:nvSpPr>
        <p:spPr>
          <a:xfrm>
            <a:off x="406400" y="736600"/>
            <a:ext cx="711200" cy="508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7"/>
          <p:cNvSpPr/>
          <p:nvPr/>
        </p:nvSpPr>
        <p:spPr>
          <a:xfrm>
            <a:off x="406400" y="889000"/>
            <a:ext cx="2641600" cy="1524000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7"/>
          <p:cNvSpPr/>
          <p:nvPr/>
        </p:nvSpPr>
        <p:spPr>
          <a:xfrm>
            <a:off x="406400" y="889000"/>
            <a:ext cx="2641600" cy="330200"/>
          </a:xfrm>
          <a:prstGeom prst="rect">
            <a:avLst/>
          </a:prstGeom>
          <a:solidFill>
            <a:srgbClr val="4BA1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台灣 FSC 金管會 第四款</a:t>
            </a:r>
            <a:endParaRPr sz="1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7"/>
          <p:cNvSpPr txBox="1"/>
          <p:nvPr/>
        </p:nvSpPr>
        <p:spPr>
          <a:xfrm>
            <a:off x="584200" y="1295400"/>
            <a:ext cx="22860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1" i="0" u="sng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人類可控</a:t>
            </a:r>
            <a:endParaRPr sz="1600" b="1" i="0" u="sng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7"/>
          <p:cNvSpPr txBox="1"/>
          <p:nvPr/>
        </p:nvSpPr>
        <p:spPr>
          <a:xfrm>
            <a:off x="584200" y="1696720"/>
            <a:ext cx="2286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金融員工必須承擔最終責任，</a:t>
            </a:r>
            <a:r>
              <a:rPr lang="zh-TW" sz="1300" b="1" i="0" u="none" strike="noStrike" cap="none">
                <a:solidFill>
                  <a:srgbClr val="000000"/>
                </a:solidFill>
              </a:rPr>
              <a:t>且 AI 決策過程必須可解釋。</a:t>
            </a:r>
            <a:endParaRPr sz="1300" b="1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zh-TW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 b="0" i="0" u="none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7"/>
          <p:cNvSpPr/>
          <p:nvPr/>
        </p:nvSpPr>
        <p:spPr>
          <a:xfrm>
            <a:off x="3251200" y="889000"/>
            <a:ext cx="2641600" cy="1524000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7"/>
          <p:cNvSpPr/>
          <p:nvPr/>
        </p:nvSpPr>
        <p:spPr>
          <a:xfrm>
            <a:off x="3251200" y="889000"/>
            <a:ext cx="2641600" cy="330200"/>
          </a:xfrm>
          <a:prstGeom prst="rect">
            <a:avLst/>
          </a:prstGeom>
          <a:solidFill>
            <a:srgbClr val="4BA1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歐盟 EU AI Act –rule 13</a:t>
            </a:r>
            <a:endParaRPr sz="1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7"/>
          <p:cNvSpPr txBox="1"/>
          <p:nvPr/>
        </p:nvSpPr>
        <p:spPr>
          <a:xfrm>
            <a:off x="3429000" y="1295400"/>
            <a:ext cx="22860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1" i="0" u="sng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精確追溯</a:t>
            </a:r>
            <a:endParaRPr sz="1600" b="1" i="0" u="sng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3403600" y="1676400"/>
            <a:ext cx="2489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部署者必須能夠解釋模型如何得出結論，</a:t>
            </a:r>
            <a:r>
              <a:rPr lang="zh-TW" sz="1300" b="1" i="0" u="none" strike="noStrike" cap="none">
                <a:solidFill>
                  <a:srgbClr val="000000"/>
                </a:solidFill>
              </a:rPr>
              <a:t>並必須能將該結論精確追溯至原始的輸入紀錄。</a:t>
            </a:r>
            <a:endParaRPr sz="13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47" name="Google Shape;147;p27"/>
          <p:cNvSpPr/>
          <p:nvPr/>
        </p:nvSpPr>
        <p:spPr>
          <a:xfrm>
            <a:off x="6096000" y="889000"/>
            <a:ext cx="2641600" cy="1524000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7"/>
          <p:cNvSpPr/>
          <p:nvPr/>
        </p:nvSpPr>
        <p:spPr>
          <a:xfrm>
            <a:off x="6096000" y="889000"/>
            <a:ext cx="2641600" cy="330200"/>
          </a:xfrm>
          <a:prstGeom prst="rect">
            <a:avLst/>
          </a:prstGeom>
          <a:solidFill>
            <a:srgbClr val="4BA1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Basel III &amp; FINRA - 2025</a:t>
            </a:r>
            <a:endParaRPr sz="1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7"/>
          <p:cNvSpPr txBox="1"/>
          <p:nvPr/>
        </p:nvSpPr>
        <p:spPr>
          <a:xfrm>
            <a:off x="6273800" y="1295400"/>
            <a:ext cx="22860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1" i="0" u="sng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輸出下限 + 人為檢查點</a:t>
            </a:r>
            <a:endParaRPr sz="1600" b="1" i="0" u="sng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7"/>
          <p:cNvSpPr txBox="1"/>
          <p:nvPr/>
        </p:nvSpPr>
        <p:spPr>
          <a:xfrm>
            <a:off x="6181344" y="1651000"/>
            <a:ext cx="2556256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建立透明AI框架時，</a:t>
            </a:r>
            <a:r>
              <a:rPr lang="zh-TW" sz="1300" b="1" i="0" u="none" strike="noStrike" cap="none">
                <a:solidFill>
                  <a:srgbClr val="000000"/>
                </a:solidFill>
              </a:rPr>
              <a:t>需實施HITL</a:t>
            </a:r>
            <a:r>
              <a:rPr lang="zh-TW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，並在必要時對高風險應用</a:t>
            </a:r>
            <a:r>
              <a:rPr lang="zh-TW" sz="1300" b="1" i="0" u="none" strike="noStrike" cap="none">
                <a:solidFill>
                  <a:srgbClr val="000000"/>
                </a:solidFill>
              </a:rPr>
              <a:t>設定「輸出下限」作為安全防護 。</a:t>
            </a:r>
            <a:endParaRPr sz="13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51" name="Google Shape;151;p27"/>
          <p:cNvSpPr txBox="1"/>
          <p:nvPr/>
        </p:nvSpPr>
        <p:spPr>
          <a:xfrm>
            <a:off x="406400" y="2489200"/>
            <a:ext cx="833120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1" i="0" u="none" strike="noStrike" cap="none">
                <a:solidFill>
                  <a:srgbClr val="4BA173"/>
                </a:solidFill>
                <a:latin typeface="Arial"/>
                <a:ea typeface="Arial"/>
                <a:cs typeface="Arial"/>
                <a:sym typeface="Arial"/>
              </a:rPr>
              <a:t>監管巨頭只問一件事：出事了，能不能精確追溯？</a:t>
            </a:r>
            <a:endParaRPr sz="1400" b="1" i="0" u="none" strike="noStrike" cap="none">
              <a:solidFill>
                <a:srgbClr val="4BA1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7"/>
          <p:cNvSpPr/>
          <p:nvPr/>
        </p:nvSpPr>
        <p:spPr>
          <a:xfrm>
            <a:off x="406400" y="2794000"/>
            <a:ext cx="4114800" cy="2082800"/>
          </a:xfrm>
          <a:prstGeom prst="roundRect">
            <a:avLst>
              <a:gd name="adj" fmla="val 16667"/>
            </a:avLst>
          </a:prstGeom>
          <a:solidFill>
            <a:srgbClr val="FBE9E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7"/>
          <p:cNvSpPr txBox="1"/>
          <p:nvPr/>
        </p:nvSpPr>
        <p:spPr>
          <a:xfrm>
            <a:off x="635000" y="2921000"/>
            <a:ext cx="368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 i="0" u="none" strike="noStrike" cap="none">
                <a:solidFill>
                  <a:srgbClr val="FF5252"/>
                </a:solidFill>
                <a:latin typeface="Arial"/>
                <a:ea typeface="Arial"/>
                <a:cs typeface="Arial"/>
                <a:sym typeface="Arial"/>
              </a:rPr>
              <a:t>✕  Multi-Agent（黑箱共識）</a:t>
            </a:r>
            <a:endParaRPr sz="1500" b="1" i="0" u="none" strike="noStrike" cap="none">
              <a:solidFill>
                <a:srgbClr val="FF525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7"/>
          <p:cNvSpPr txBox="1"/>
          <p:nvPr/>
        </p:nvSpPr>
        <p:spPr>
          <a:xfrm>
            <a:off x="635000" y="3327400"/>
            <a:ext cx="3708400" cy="1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0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讓多個黑箱互相聊天達成共識。出錯時只能交出神經網路「事後合理化」的對話紀錄，在法庭上毫無審計效力。</a:t>
            </a:r>
            <a:endParaRPr sz="1800" b="0" i="0" u="none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7"/>
          <p:cNvSpPr/>
          <p:nvPr/>
        </p:nvSpPr>
        <p:spPr>
          <a:xfrm>
            <a:off x="4622800" y="2794000"/>
            <a:ext cx="4114800" cy="2082800"/>
          </a:xfrm>
          <a:prstGeom prst="roundRect">
            <a:avLst>
              <a:gd name="adj" fmla="val 16667"/>
            </a:avLst>
          </a:prstGeom>
          <a:solidFill>
            <a:srgbClr val="2027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7"/>
          <p:cNvSpPr txBox="1"/>
          <p:nvPr/>
        </p:nvSpPr>
        <p:spPr>
          <a:xfrm>
            <a:off x="4851400" y="2921000"/>
            <a:ext cx="368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 i="0" u="none" strike="noStrike" cap="none">
                <a:solidFill>
                  <a:srgbClr val="63D297"/>
                </a:solidFill>
                <a:latin typeface="Arial"/>
                <a:ea typeface="Arial"/>
                <a:cs typeface="Arial"/>
                <a:sym typeface="Arial"/>
              </a:rPr>
              <a:t>✓  VerifiQuant（合約驗證）</a:t>
            </a:r>
            <a:endParaRPr sz="1500" b="1" i="0" u="none" strike="noStrike" cap="none">
              <a:solidFill>
                <a:srgbClr val="63D29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4851400" y="3327400"/>
            <a:ext cx="3708400" cy="1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明確的人為檢查點 HITL 、可證明的追溯性，溯源到輸入內容，以及 AI 不懂時的「輸出下限」，完全對齊監管要求，且不受到 CoT 隨機性干擾，這就是我們的護城河。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7"/>
          <p:cNvSpPr/>
          <p:nvPr/>
        </p:nvSpPr>
        <p:spPr>
          <a:xfrm>
            <a:off x="0" y="4978400"/>
            <a:ext cx="9144000" cy="762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/>
        </p:nvSpPr>
        <p:spPr>
          <a:xfrm>
            <a:off x="406400" y="228600"/>
            <a:ext cx="83312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600" b="1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VerifiQuant：合約驗證式金融推理框架</a:t>
            </a:r>
            <a:endParaRPr sz="2600" b="1" i="0" u="none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8"/>
          <p:cNvSpPr/>
          <p:nvPr/>
        </p:nvSpPr>
        <p:spPr>
          <a:xfrm>
            <a:off x="406400" y="736600"/>
            <a:ext cx="711200" cy="508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8"/>
          <p:cNvSpPr/>
          <p:nvPr/>
        </p:nvSpPr>
        <p:spPr>
          <a:xfrm>
            <a:off x="406400" y="838200"/>
            <a:ext cx="1498600" cy="787400"/>
          </a:xfrm>
          <a:prstGeom prst="roundRect">
            <a:avLst>
              <a:gd name="adj" fmla="val 16667"/>
            </a:avLst>
          </a:prstGeom>
          <a:solidFill>
            <a:srgbClr val="EEF2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406400" y="838200"/>
            <a:ext cx="14986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1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PDF/ 財報文獻 / 用戶的任意輸入</a:t>
            </a:r>
            <a:endParaRPr sz="1300" b="1" i="0" u="none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8"/>
          <p:cNvSpPr/>
          <p:nvPr/>
        </p:nvSpPr>
        <p:spPr>
          <a:xfrm>
            <a:off x="2108200" y="838200"/>
            <a:ext cx="1498600" cy="787400"/>
          </a:xfrm>
          <a:prstGeom prst="roundRect">
            <a:avLst>
              <a:gd name="adj" fmla="val 16667"/>
            </a:avLst>
          </a:prstGeom>
          <a:solidFill>
            <a:srgbClr val="EEF2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8"/>
          <p:cNvSpPr txBox="1"/>
          <p:nvPr/>
        </p:nvSpPr>
        <p:spPr>
          <a:xfrm>
            <a:off x="2108200" y="838200"/>
            <a:ext cx="14986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1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LLM 資訊抓取，</a:t>
            </a:r>
            <a:endParaRPr sz="1300" b="1" i="0" u="none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1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尋找對應的公式組合</a:t>
            </a:r>
            <a:endParaRPr sz="1300" b="1" i="0" u="none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8"/>
          <p:cNvSpPr/>
          <p:nvPr/>
        </p:nvSpPr>
        <p:spPr>
          <a:xfrm>
            <a:off x="3810000" y="838200"/>
            <a:ext cx="1498600" cy="787400"/>
          </a:xfrm>
          <a:prstGeom prst="roundRect">
            <a:avLst>
              <a:gd name="adj" fmla="val 16667"/>
            </a:avLst>
          </a:prstGeom>
          <a:solidFill>
            <a:srgbClr val="EEF2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8"/>
          <p:cNvSpPr txBox="1"/>
          <p:nvPr/>
        </p:nvSpPr>
        <p:spPr>
          <a:xfrm>
            <a:off x="3810000" y="838200"/>
            <a:ext cx="14986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1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FIC</a:t>
            </a:r>
            <a:br>
              <a:rPr lang="zh-TW" sz="1600" b="1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zh-TW" sz="1600" b="1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合約填寫</a:t>
            </a:r>
            <a:endParaRPr sz="1600" b="1" i="0" u="none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8"/>
          <p:cNvSpPr/>
          <p:nvPr/>
        </p:nvSpPr>
        <p:spPr>
          <a:xfrm>
            <a:off x="5511800" y="838200"/>
            <a:ext cx="1498600" cy="787400"/>
          </a:xfrm>
          <a:prstGeom prst="roundRect">
            <a:avLst>
              <a:gd name="adj" fmla="val 16667"/>
            </a:avLst>
          </a:prstGeom>
          <a:solidFill>
            <a:srgbClr val="2027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8"/>
          <p:cNvSpPr txBox="1"/>
          <p:nvPr/>
        </p:nvSpPr>
        <p:spPr>
          <a:xfrm>
            <a:off x="5511800" y="838200"/>
            <a:ext cx="14986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1" i="0" u="none" strike="noStrike" cap="none">
                <a:solidFill>
                  <a:srgbClr val="63D297"/>
                </a:solidFill>
                <a:latin typeface="Arial"/>
                <a:ea typeface="Arial"/>
                <a:cs typeface="Arial"/>
                <a:sym typeface="Arial"/>
              </a:rPr>
              <a:t>6 層</a:t>
            </a:r>
            <a:br>
              <a:rPr lang="zh-TW" sz="1600" b="1" i="0" u="none" strike="noStrike" cap="none">
                <a:solidFill>
                  <a:srgbClr val="63D29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zh-TW" sz="1600" b="1" i="0" u="none" strike="noStrike" cap="none">
                <a:solidFill>
                  <a:srgbClr val="63D297"/>
                </a:solidFill>
                <a:latin typeface="Arial"/>
                <a:ea typeface="Arial"/>
                <a:cs typeface="Arial"/>
                <a:sym typeface="Arial"/>
              </a:rPr>
              <a:t>診斷漏斗</a:t>
            </a:r>
            <a:endParaRPr sz="1600" b="1" i="0" u="none" strike="noStrike" cap="none">
              <a:solidFill>
                <a:srgbClr val="63D29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8"/>
          <p:cNvSpPr/>
          <p:nvPr/>
        </p:nvSpPr>
        <p:spPr>
          <a:xfrm>
            <a:off x="7213600" y="838200"/>
            <a:ext cx="1498600" cy="787400"/>
          </a:xfrm>
          <a:prstGeom prst="roundRect">
            <a:avLst>
              <a:gd name="adj" fmla="val 16667"/>
            </a:avLst>
          </a:prstGeom>
          <a:solidFill>
            <a:srgbClr val="63D29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8"/>
          <p:cNvSpPr txBox="1"/>
          <p:nvPr/>
        </p:nvSpPr>
        <p:spPr>
          <a:xfrm>
            <a:off x="7213600" y="838200"/>
            <a:ext cx="14986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1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Verified Output</a:t>
            </a:r>
            <a:br>
              <a:rPr lang="zh-TW" sz="1400" b="1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zh-TW" sz="1400" b="1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Python 執行</a:t>
            </a:r>
            <a:endParaRPr sz="1400" b="1" i="0" u="none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8"/>
          <p:cNvSpPr/>
          <p:nvPr/>
        </p:nvSpPr>
        <p:spPr>
          <a:xfrm>
            <a:off x="1917700" y="1117600"/>
            <a:ext cx="1778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BA17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8"/>
          <p:cNvSpPr/>
          <p:nvPr/>
        </p:nvSpPr>
        <p:spPr>
          <a:xfrm>
            <a:off x="3619500" y="1117600"/>
            <a:ext cx="1778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BA17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8"/>
          <p:cNvSpPr/>
          <p:nvPr/>
        </p:nvSpPr>
        <p:spPr>
          <a:xfrm>
            <a:off x="5321300" y="1117600"/>
            <a:ext cx="1778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BA17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8"/>
          <p:cNvSpPr/>
          <p:nvPr/>
        </p:nvSpPr>
        <p:spPr>
          <a:xfrm>
            <a:off x="7023100" y="1117600"/>
            <a:ext cx="1778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BA17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8"/>
          <p:cNvSpPr txBox="1"/>
          <p:nvPr/>
        </p:nvSpPr>
        <p:spPr>
          <a:xfrm>
            <a:off x="406400" y="1752600"/>
            <a:ext cx="8331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 i="0" u="none" strike="noStrike" cap="none">
                <a:solidFill>
                  <a:srgbClr val="4BA173"/>
                </a:solidFill>
                <a:latin typeface="Arial"/>
                <a:ea typeface="Arial"/>
                <a:cs typeface="Arial"/>
                <a:sym typeface="Arial"/>
              </a:rPr>
              <a:t>AI 的工作不是算數學，而是「填寫合約」。</a:t>
            </a:r>
            <a:endParaRPr sz="1800" b="1" i="0" u="none" strike="noStrike" cap="none">
              <a:solidFill>
                <a:srgbClr val="4BA1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8"/>
          <p:cNvSpPr txBox="1"/>
          <p:nvPr/>
        </p:nvSpPr>
        <p:spPr>
          <a:xfrm>
            <a:off x="406400" y="2108200"/>
            <a:ext cx="833120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1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6 層診斷漏斗（M · N · F · E · I · C）— 算出任何數字前，資料必須逐層通過：</a:t>
            </a:r>
            <a:endParaRPr sz="1600" b="1" i="0" u="none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8"/>
          <p:cNvSpPr/>
          <p:nvPr/>
        </p:nvSpPr>
        <p:spPr>
          <a:xfrm>
            <a:off x="609600" y="2438400"/>
            <a:ext cx="1168400" cy="1498600"/>
          </a:xfrm>
          <a:prstGeom prst="roundRect">
            <a:avLst>
              <a:gd name="adj" fmla="val 16667"/>
            </a:avLst>
          </a:prstGeom>
          <a:solidFill>
            <a:srgbClr val="EEF2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8"/>
          <p:cNvSpPr txBox="1"/>
          <p:nvPr/>
        </p:nvSpPr>
        <p:spPr>
          <a:xfrm>
            <a:off x="609600" y="2540000"/>
            <a:ext cx="11684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 i="0" u="none" strike="noStrike" cap="none">
                <a:solidFill>
                  <a:srgbClr val="4BA173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sz="3000" b="1" i="0" u="none" strike="noStrike" cap="none">
              <a:solidFill>
                <a:srgbClr val="4BA1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8"/>
          <p:cNvSpPr txBox="1"/>
          <p:nvPr/>
        </p:nvSpPr>
        <p:spPr>
          <a:xfrm>
            <a:off x="660400" y="3098800"/>
            <a:ext cx="10668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2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語義模糊，意圖籠統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8"/>
          <p:cNvSpPr/>
          <p:nvPr/>
        </p:nvSpPr>
        <p:spPr>
          <a:xfrm>
            <a:off x="1930400" y="2438400"/>
            <a:ext cx="1168400" cy="1498600"/>
          </a:xfrm>
          <a:prstGeom prst="roundRect">
            <a:avLst>
              <a:gd name="adj" fmla="val 16667"/>
            </a:avLst>
          </a:prstGeom>
          <a:solidFill>
            <a:srgbClr val="EEF2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8"/>
          <p:cNvSpPr txBox="1"/>
          <p:nvPr/>
        </p:nvSpPr>
        <p:spPr>
          <a:xfrm>
            <a:off x="1930400" y="2540000"/>
            <a:ext cx="11684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 i="0" u="none" strike="noStrike" cap="none">
                <a:solidFill>
                  <a:srgbClr val="4BA173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3000" b="1" i="0" u="none" strike="noStrike" cap="none">
              <a:solidFill>
                <a:srgbClr val="4BA1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8"/>
          <p:cNvSpPr txBox="1"/>
          <p:nvPr/>
        </p:nvSpPr>
        <p:spPr>
          <a:xfrm>
            <a:off x="1981200" y="3098800"/>
            <a:ext cx="10668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無對應公式 / 與財務內容無關</a:t>
            </a:r>
            <a:endParaRPr sz="1400" b="0" i="0" u="none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8"/>
          <p:cNvSpPr/>
          <p:nvPr/>
        </p:nvSpPr>
        <p:spPr>
          <a:xfrm>
            <a:off x="3251200" y="2438400"/>
            <a:ext cx="1168400" cy="1498600"/>
          </a:xfrm>
          <a:prstGeom prst="roundRect">
            <a:avLst>
              <a:gd name="adj" fmla="val 16667"/>
            </a:avLst>
          </a:prstGeom>
          <a:solidFill>
            <a:srgbClr val="2027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8"/>
          <p:cNvSpPr txBox="1"/>
          <p:nvPr/>
        </p:nvSpPr>
        <p:spPr>
          <a:xfrm>
            <a:off x="3251200" y="2540000"/>
            <a:ext cx="11684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 i="0" u="none" strike="noStrike" cap="none">
                <a:solidFill>
                  <a:srgbClr val="63D297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3000" b="1" i="0" u="none" strike="noStrike" cap="none">
              <a:solidFill>
                <a:srgbClr val="63D29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8"/>
          <p:cNvSpPr txBox="1"/>
          <p:nvPr/>
        </p:nvSpPr>
        <p:spPr>
          <a:xfrm>
            <a:off x="3302000" y="3098800"/>
            <a:ext cx="10668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但缺少必要參數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8"/>
          <p:cNvSpPr/>
          <p:nvPr/>
        </p:nvSpPr>
        <p:spPr>
          <a:xfrm>
            <a:off x="4572000" y="2438400"/>
            <a:ext cx="1168400" cy="1498600"/>
          </a:xfrm>
          <a:prstGeom prst="roundRect">
            <a:avLst>
              <a:gd name="adj" fmla="val 16667"/>
            </a:avLst>
          </a:prstGeom>
          <a:solidFill>
            <a:srgbClr val="2027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8"/>
          <p:cNvSpPr txBox="1"/>
          <p:nvPr/>
        </p:nvSpPr>
        <p:spPr>
          <a:xfrm>
            <a:off x="4572000" y="2540000"/>
            <a:ext cx="11684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 i="0" u="none" strike="noStrike" cap="none">
                <a:solidFill>
                  <a:srgbClr val="63D297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sz="3000" b="1" i="0" u="none" strike="noStrike" cap="none">
              <a:solidFill>
                <a:srgbClr val="63D29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8"/>
          <p:cNvSpPr txBox="1"/>
          <p:nvPr/>
        </p:nvSpPr>
        <p:spPr>
          <a:xfrm>
            <a:off x="4622800" y="3098800"/>
            <a:ext cx="10668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數值存在但違反邏輯邊界</a:t>
            </a:r>
            <a:endParaRPr/>
          </a:p>
        </p:txBody>
      </p:sp>
      <p:sp>
        <p:nvSpPr>
          <p:cNvPr id="193" name="Google Shape;193;p28"/>
          <p:cNvSpPr/>
          <p:nvPr/>
        </p:nvSpPr>
        <p:spPr>
          <a:xfrm>
            <a:off x="5892800" y="2438400"/>
            <a:ext cx="1168400" cy="1498600"/>
          </a:xfrm>
          <a:prstGeom prst="roundRect">
            <a:avLst>
              <a:gd name="adj" fmla="val 16667"/>
            </a:avLst>
          </a:prstGeom>
          <a:solidFill>
            <a:srgbClr val="2027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5892800" y="2540000"/>
            <a:ext cx="11684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 i="0" u="none" strike="noStrike" cap="none">
                <a:solidFill>
                  <a:srgbClr val="63D297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3000" b="1" i="0" u="none" strike="noStrike" cap="none">
              <a:solidFill>
                <a:srgbClr val="63D29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5943600" y="3009900"/>
            <a:ext cx="10668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隱性語義歧義（交易時間、匯率方向）</a:t>
            </a:r>
            <a:endParaRPr/>
          </a:p>
        </p:txBody>
      </p:sp>
      <p:sp>
        <p:nvSpPr>
          <p:cNvPr id="196" name="Google Shape;196;p28"/>
          <p:cNvSpPr/>
          <p:nvPr/>
        </p:nvSpPr>
        <p:spPr>
          <a:xfrm>
            <a:off x="7213600" y="2438400"/>
            <a:ext cx="1168400" cy="1498600"/>
          </a:xfrm>
          <a:prstGeom prst="roundRect">
            <a:avLst>
              <a:gd name="adj" fmla="val 16667"/>
            </a:avLst>
          </a:prstGeom>
          <a:solidFill>
            <a:srgbClr val="EEF2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7213600" y="2540000"/>
            <a:ext cx="11684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 i="0" u="none" strike="noStrike" cap="none">
                <a:solidFill>
                  <a:srgbClr val="4BA173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sz="3000" b="1" i="0" u="none" strike="noStrike" cap="none">
              <a:solidFill>
                <a:srgbClr val="4BA1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8"/>
          <p:cNvSpPr txBox="1"/>
          <p:nvPr/>
        </p:nvSpPr>
        <p:spPr>
          <a:xfrm>
            <a:off x="7264400" y="3098800"/>
            <a:ext cx="1066800" cy="7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0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嘗試執行Python Code 輸出</a:t>
            </a:r>
            <a:endParaRPr sz="1400" b="0" i="0" u="none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8"/>
          <p:cNvSpPr txBox="1"/>
          <p:nvPr/>
        </p:nvSpPr>
        <p:spPr>
          <a:xfrm>
            <a:off x="406400" y="4089400"/>
            <a:ext cx="83312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b="1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任一閘門未通過 → VerifiQuant 不瞎猜，強制暫停、發出結構化警告，將決策權交還人類。</a:t>
            </a:r>
            <a:endParaRPr sz="2400" b="1" i="0" u="none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8"/>
          <p:cNvSpPr/>
          <p:nvPr/>
        </p:nvSpPr>
        <p:spPr>
          <a:xfrm>
            <a:off x="0" y="4978400"/>
            <a:ext cx="9144000" cy="762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ec9f0cfbb_0_56"/>
          <p:cNvSpPr txBox="1"/>
          <p:nvPr/>
        </p:nvSpPr>
        <p:spPr>
          <a:xfrm>
            <a:off x="406400" y="228600"/>
            <a:ext cx="83312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600" b="1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價值主張：用「安全拒答」換取絕對信任</a:t>
            </a:r>
            <a:endParaRPr sz="2600" b="1" i="0" u="none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dec9f0cfbb_0_56"/>
          <p:cNvSpPr/>
          <p:nvPr/>
        </p:nvSpPr>
        <p:spPr>
          <a:xfrm>
            <a:off x="406400" y="736600"/>
            <a:ext cx="711200" cy="508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dec9f0cfbb_0_56"/>
          <p:cNvSpPr/>
          <p:nvPr/>
        </p:nvSpPr>
        <p:spPr>
          <a:xfrm>
            <a:off x="1574800" y="889000"/>
            <a:ext cx="2235200" cy="609600"/>
          </a:xfrm>
          <a:prstGeom prst="rect">
            <a:avLst/>
          </a:prstGeom>
          <a:solidFill>
            <a:srgbClr val="61616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dec9f0cfbb_0_56"/>
          <p:cNvSpPr txBox="1"/>
          <p:nvPr/>
        </p:nvSpPr>
        <p:spPr>
          <a:xfrm>
            <a:off x="1625600" y="914400"/>
            <a:ext cx="213360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Gemini 2.5 單次輸出</a:t>
            </a:r>
            <a:endParaRPr sz="125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dec9f0cfbb_0_56"/>
          <p:cNvSpPr/>
          <p:nvPr/>
        </p:nvSpPr>
        <p:spPr>
          <a:xfrm>
            <a:off x="4038600" y="889000"/>
            <a:ext cx="2235200" cy="609600"/>
          </a:xfrm>
          <a:prstGeom prst="rect">
            <a:avLst/>
          </a:prstGeom>
          <a:solidFill>
            <a:srgbClr val="61616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dec9f0cfbb_0_56"/>
          <p:cNvSpPr txBox="1"/>
          <p:nvPr/>
        </p:nvSpPr>
        <p:spPr>
          <a:xfrm>
            <a:off x="4089400" y="914400"/>
            <a:ext cx="213360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最強 CoT + 盲審（Pro 3）＋多角度自我檢查 ×3</a:t>
            </a:r>
            <a:endParaRPr sz="1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dec9f0cfbb_0_56"/>
          <p:cNvSpPr/>
          <p:nvPr/>
        </p:nvSpPr>
        <p:spPr>
          <a:xfrm>
            <a:off x="6502400" y="889000"/>
            <a:ext cx="2235200" cy="6096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dec9f0cfbb_0_56"/>
          <p:cNvSpPr txBox="1"/>
          <p:nvPr/>
        </p:nvSpPr>
        <p:spPr>
          <a:xfrm>
            <a:off x="6553200" y="914400"/>
            <a:ext cx="213360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VerifiQuant</a:t>
            </a:r>
            <a:endParaRPr sz="1500" b="1" i="0" u="none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dec9f0cfbb_0_56"/>
          <p:cNvSpPr txBox="1"/>
          <p:nvPr/>
        </p:nvSpPr>
        <p:spPr>
          <a:xfrm>
            <a:off x="457200" y="1574800"/>
            <a:ext cx="1066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1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準確率</a:t>
            </a:r>
            <a:endParaRPr sz="1400" b="1" i="0" u="none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dec9f0cfbb_0_56"/>
          <p:cNvSpPr txBox="1"/>
          <p:nvPr/>
        </p:nvSpPr>
        <p:spPr>
          <a:xfrm>
            <a:off x="1574800" y="1574800"/>
            <a:ext cx="223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600" b="1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82%</a:t>
            </a:r>
            <a:endParaRPr/>
          </a:p>
        </p:txBody>
      </p:sp>
      <p:sp>
        <p:nvSpPr>
          <p:cNvPr id="215" name="Google Shape;215;g3dec9f0cfbb_0_56"/>
          <p:cNvSpPr txBox="1"/>
          <p:nvPr/>
        </p:nvSpPr>
        <p:spPr>
          <a:xfrm>
            <a:off x="4038600" y="1574800"/>
            <a:ext cx="223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600" b="1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  <a:endParaRPr/>
          </a:p>
        </p:txBody>
      </p:sp>
      <p:sp>
        <p:nvSpPr>
          <p:cNvPr id="216" name="Google Shape;216;g3dec9f0cfbb_0_56"/>
          <p:cNvSpPr txBox="1"/>
          <p:nvPr/>
        </p:nvSpPr>
        <p:spPr>
          <a:xfrm>
            <a:off x="6502400" y="1574800"/>
            <a:ext cx="223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600" b="1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  <a:endParaRPr/>
          </a:p>
        </p:txBody>
      </p:sp>
      <p:sp>
        <p:nvSpPr>
          <p:cNvPr id="217" name="Google Shape;217;g3dec9f0cfbb_0_56"/>
          <p:cNvSpPr/>
          <p:nvPr/>
        </p:nvSpPr>
        <p:spPr>
          <a:xfrm>
            <a:off x="406400" y="2108200"/>
            <a:ext cx="8331200" cy="939800"/>
          </a:xfrm>
          <a:prstGeom prst="rect">
            <a:avLst/>
          </a:prstGeom>
          <a:solidFill>
            <a:srgbClr val="2027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dec9f0cfbb_0_56"/>
          <p:cNvSpPr txBox="1"/>
          <p:nvPr/>
        </p:nvSpPr>
        <p:spPr>
          <a:xfrm>
            <a:off x="508000" y="2184400"/>
            <a:ext cx="1066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1" i="0" u="none" strike="noStrike" cap="none">
                <a:solidFill>
                  <a:srgbClr val="FF5252"/>
                </a:solidFill>
                <a:latin typeface="Arial"/>
                <a:ea typeface="Arial"/>
                <a:cs typeface="Arial"/>
                <a:sym typeface="Arial"/>
              </a:rPr>
              <a:t>靜默錯誤</a:t>
            </a:r>
            <a:endParaRPr sz="1400" b="1" i="0" u="none" strike="noStrike" cap="none">
              <a:solidFill>
                <a:srgbClr val="FF525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dec9f0cfbb_0_56"/>
          <p:cNvSpPr txBox="1"/>
          <p:nvPr/>
        </p:nvSpPr>
        <p:spPr>
          <a:xfrm>
            <a:off x="1574800" y="2159000"/>
            <a:ext cx="22352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 i="0" u="none" strike="noStrike" cap="none">
                <a:solidFill>
                  <a:srgbClr val="FF5252"/>
                </a:solidFill>
                <a:latin typeface="Arial"/>
                <a:ea typeface="Arial"/>
                <a:cs typeface="Arial"/>
                <a:sym typeface="Arial"/>
              </a:rPr>
              <a:t>18%</a:t>
            </a:r>
            <a:endParaRPr/>
          </a:p>
        </p:txBody>
      </p:sp>
      <p:sp>
        <p:nvSpPr>
          <p:cNvPr id="220" name="Google Shape;220;g3dec9f0cfbb_0_56"/>
          <p:cNvSpPr txBox="1"/>
          <p:nvPr/>
        </p:nvSpPr>
        <p:spPr>
          <a:xfrm>
            <a:off x="4038600" y="2159000"/>
            <a:ext cx="22352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 i="0" u="none" strike="noStrike" cap="none">
                <a:solidFill>
                  <a:srgbClr val="FF5252"/>
                </a:solidFill>
                <a:latin typeface="Arial"/>
                <a:ea typeface="Arial"/>
                <a:cs typeface="Arial"/>
                <a:sym typeface="Arial"/>
              </a:rPr>
              <a:t>2%</a:t>
            </a:r>
            <a:endParaRPr/>
          </a:p>
        </p:txBody>
      </p:sp>
      <p:sp>
        <p:nvSpPr>
          <p:cNvPr id="221" name="Google Shape;221;g3dec9f0cfbb_0_56"/>
          <p:cNvSpPr txBox="1"/>
          <p:nvPr/>
        </p:nvSpPr>
        <p:spPr>
          <a:xfrm>
            <a:off x="6502400" y="2159000"/>
            <a:ext cx="22352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 b="1" i="0" u="none" strike="noStrike" cap="none">
                <a:solidFill>
                  <a:srgbClr val="63D297"/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  <a:endParaRPr/>
          </a:p>
        </p:txBody>
      </p:sp>
      <p:sp>
        <p:nvSpPr>
          <p:cNvPr id="222" name="Google Shape;222;g3dec9f0cfbb_0_56"/>
          <p:cNvSpPr txBox="1"/>
          <p:nvPr/>
        </p:nvSpPr>
        <p:spPr>
          <a:xfrm>
            <a:off x="1574800" y="2692400"/>
            <a:ext cx="223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 b="1" i="0" u="none" strike="noStrike" cap="none">
                <a:solidFill>
                  <a:srgbClr val="FF5252"/>
                </a:solidFill>
              </a:rPr>
              <a:t>風險最高</a:t>
            </a:r>
            <a:endParaRPr sz="1100" b="1" i="0" u="none" strike="noStrike" cap="none">
              <a:solidFill>
                <a:srgbClr val="FF5252"/>
              </a:solidFill>
            </a:endParaRPr>
          </a:p>
        </p:txBody>
      </p:sp>
      <p:sp>
        <p:nvSpPr>
          <p:cNvPr id="223" name="Google Shape;223;g3dec9f0cfbb_0_56"/>
          <p:cNvSpPr txBox="1"/>
          <p:nvPr/>
        </p:nvSpPr>
        <p:spPr>
          <a:xfrm>
            <a:off x="4038600" y="2692400"/>
            <a:ext cx="223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 b="1" i="0" u="none" strike="noStrike" cap="none">
                <a:solidFill>
                  <a:srgbClr val="FF5252"/>
                </a:solidFill>
              </a:rPr>
              <a:t>消除不掉的致命風險</a:t>
            </a:r>
            <a:endParaRPr sz="1100" b="1" i="0" u="none" strike="noStrike" cap="none">
              <a:solidFill>
                <a:srgbClr val="FF5252"/>
              </a:solidFill>
            </a:endParaRPr>
          </a:p>
        </p:txBody>
      </p:sp>
      <p:sp>
        <p:nvSpPr>
          <p:cNvPr id="224" name="Google Shape;224;g3dec9f0cfbb_0_56"/>
          <p:cNvSpPr txBox="1"/>
          <p:nvPr/>
        </p:nvSpPr>
        <p:spPr>
          <a:xfrm>
            <a:off x="6502400" y="2692400"/>
            <a:ext cx="223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 b="1" i="0" u="none" strike="noStrike" cap="none">
                <a:solidFill>
                  <a:srgbClr val="63D297"/>
                </a:solidFill>
                <a:latin typeface="Arial"/>
                <a:ea typeface="Arial"/>
                <a:cs typeface="Arial"/>
                <a:sym typeface="Arial"/>
              </a:rPr>
              <a:t>完美攔截</a:t>
            </a:r>
            <a:endParaRPr sz="1100" b="1" i="0" u="none" strike="noStrike" cap="none">
              <a:solidFill>
                <a:srgbClr val="63D29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dec9f0cfbb_0_56"/>
          <p:cNvSpPr txBox="1"/>
          <p:nvPr/>
        </p:nvSpPr>
        <p:spPr>
          <a:xfrm>
            <a:off x="457200" y="3137408"/>
            <a:ext cx="10668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1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安全拒答</a:t>
            </a:r>
            <a:endParaRPr sz="1400" b="1" i="0" u="none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dec9f0cfbb_0_56"/>
          <p:cNvSpPr txBox="1"/>
          <p:nvPr/>
        </p:nvSpPr>
        <p:spPr>
          <a:xfrm>
            <a:off x="1574800" y="3088640"/>
            <a:ext cx="22352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 b="1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  <a:endParaRPr/>
          </a:p>
        </p:txBody>
      </p:sp>
      <p:sp>
        <p:nvSpPr>
          <p:cNvPr id="227" name="Google Shape;227;g3dec9f0cfbb_0_56"/>
          <p:cNvSpPr txBox="1"/>
          <p:nvPr/>
        </p:nvSpPr>
        <p:spPr>
          <a:xfrm>
            <a:off x="4038600" y="3088640"/>
            <a:ext cx="22352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 b="1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0%</a:t>
            </a:r>
            <a:endParaRPr/>
          </a:p>
        </p:txBody>
      </p:sp>
      <p:sp>
        <p:nvSpPr>
          <p:cNvPr id="228" name="Google Shape;228;g3dec9f0cfbb_0_56"/>
          <p:cNvSpPr txBox="1"/>
          <p:nvPr/>
        </p:nvSpPr>
        <p:spPr>
          <a:xfrm>
            <a:off x="6502400" y="3088640"/>
            <a:ext cx="22352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 b="1" i="0" u="none" strike="noStrike" cap="none">
                <a:solidFill>
                  <a:srgbClr val="4BA173"/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  <a:endParaRPr/>
          </a:p>
        </p:txBody>
      </p:sp>
      <p:sp>
        <p:nvSpPr>
          <p:cNvPr id="229" name="Google Shape;229;g3dec9f0cfbb_0_56"/>
          <p:cNvSpPr txBox="1"/>
          <p:nvPr/>
        </p:nvSpPr>
        <p:spPr>
          <a:xfrm>
            <a:off x="457200" y="3543808"/>
            <a:ext cx="1117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 b="1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平均時間</a:t>
            </a:r>
            <a:endParaRPr sz="1400" b="1" i="0" u="none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dec9f0cfbb_0_56"/>
          <p:cNvSpPr txBox="1"/>
          <p:nvPr/>
        </p:nvSpPr>
        <p:spPr>
          <a:xfrm>
            <a:off x="1574800" y="3571240"/>
            <a:ext cx="2235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1" dirty="0">
                <a:solidFill>
                  <a:srgbClr val="202729"/>
                </a:solidFill>
              </a:rPr>
              <a:t>7</a:t>
            </a:r>
            <a:r>
              <a:rPr lang="zh-TW" sz="1800" b="1" i="0" u="none" strike="noStrike" cap="none" dirty="0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 secs</a:t>
            </a:r>
            <a:endParaRPr sz="1800" b="1" i="0" u="none" strike="noStrike" cap="none" dirty="0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dec9f0cfbb_0_56"/>
          <p:cNvSpPr txBox="1"/>
          <p:nvPr/>
        </p:nvSpPr>
        <p:spPr>
          <a:xfrm>
            <a:off x="4038600" y="3571240"/>
            <a:ext cx="2235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 i="0" u="none" strike="noStrike" cap="none" dirty="0">
                <a:solidFill>
                  <a:srgbClr val="FF5252"/>
                </a:solidFill>
                <a:latin typeface="Arial"/>
                <a:ea typeface="Arial"/>
                <a:cs typeface="Arial"/>
                <a:sym typeface="Arial"/>
              </a:rPr>
              <a:t>3 mins</a:t>
            </a:r>
            <a:endParaRPr sz="1800" b="1" i="0" u="none" strike="noStrike" cap="none" dirty="0">
              <a:solidFill>
                <a:srgbClr val="FF525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dec9f0cfbb_0_56"/>
          <p:cNvSpPr txBox="1"/>
          <p:nvPr/>
        </p:nvSpPr>
        <p:spPr>
          <a:xfrm>
            <a:off x="6502400" y="3571240"/>
            <a:ext cx="2235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1" i="0" u="none" strike="noStrike" cap="none" dirty="0">
                <a:solidFill>
                  <a:srgbClr val="4BA173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r>
              <a:rPr lang="zh-TW" sz="1800" b="1" i="0" u="none" strike="noStrike" cap="none" dirty="0">
                <a:solidFill>
                  <a:srgbClr val="4BA173"/>
                </a:solidFill>
                <a:latin typeface="Arial"/>
                <a:ea typeface="Arial"/>
                <a:cs typeface="Arial"/>
                <a:sym typeface="Arial"/>
              </a:rPr>
              <a:t> secs</a:t>
            </a:r>
            <a:endParaRPr sz="1800" b="1" i="0" u="none" strike="noStrike" cap="none" dirty="0">
              <a:solidFill>
                <a:srgbClr val="4BA1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dec9f0cfbb_0_56"/>
          <p:cNvSpPr/>
          <p:nvPr/>
        </p:nvSpPr>
        <p:spPr>
          <a:xfrm>
            <a:off x="406400" y="3962400"/>
            <a:ext cx="8331200" cy="812800"/>
          </a:xfrm>
          <a:prstGeom prst="roundRect">
            <a:avLst>
              <a:gd name="adj" fmla="val 16667"/>
            </a:avLst>
          </a:prstGeom>
          <a:solidFill>
            <a:srgbClr val="2027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dec9f0cfbb_0_56"/>
          <p:cNvSpPr txBox="1"/>
          <p:nvPr/>
        </p:nvSpPr>
        <p:spPr>
          <a:xfrm>
            <a:off x="660400" y="4089400"/>
            <a:ext cx="78232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我們寧可打斷分析師、請他再確認，也絕不給出不可審計的數字。</a:t>
            </a:r>
            <a:endParaRPr sz="135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dec9f0cfbb_0_56"/>
          <p:cNvSpPr txBox="1"/>
          <p:nvPr/>
        </p:nvSpPr>
        <p:spPr>
          <a:xfrm>
            <a:off x="660400" y="4419600"/>
            <a:ext cx="7823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50" b="1" i="0" u="none" strike="noStrike" cap="none">
                <a:solidFill>
                  <a:srgbClr val="63D297"/>
                </a:solidFill>
                <a:latin typeface="Arial"/>
                <a:ea typeface="Arial"/>
                <a:cs typeface="Arial"/>
                <a:sym typeface="Arial"/>
              </a:rPr>
              <a:t>把不可靠的高準確率，換成金融界最需要的 100% 絕對信任。</a:t>
            </a:r>
            <a:endParaRPr sz="1450" b="1" i="0" u="none" strike="noStrike" cap="none">
              <a:solidFill>
                <a:srgbClr val="63D29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dec9f0cfbb_0_56"/>
          <p:cNvSpPr/>
          <p:nvPr/>
        </p:nvSpPr>
        <p:spPr>
          <a:xfrm>
            <a:off x="0" y="4978400"/>
            <a:ext cx="9144000" cy="762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ec9f0cfbb_0_62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zh-TW" b="1"/>
              <a:t>Demo：讓合規變得一目了然</a:t>
            </a:r>
            <a:endParaRPr b="1"/>
          </a:p>
        </p:txBody>
      </p:sp>
      <p:sp>
        <p:nvSpPr>
          <p:cNvPr id="242" name="Google Shape;242;g3dec9f0cfbb_0_62"/>
          <p:cNvSpPr/>
          <p:nvPr/>
        </p:nvSpPr>
        <p:spPr>
          <a:xfrm>
            <a:off x="508000" y="2895600"/>
            <a:ext cx="1270000" cy="381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dec9f0cfbb_0_62"/>
          <p:cNvSpPr txBox="1"/>
          <p:nvPr/>
        </p:nvSpPr>
        <p:spPr>
          <a:xfrm>
            <a:off x="508000" y="3073400"/>
            <a:ext cx="8128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真正的透明度，不</a:t>
            </a:r>
            <a:r>
              <a:rPr lang="zh-TW" sz="1600">
                <a:solidFill>
                  <a:srgbClr val="FFFFFF"/>
                </a:solidFill>
              </a:rPr>
              <a:t>只</a:t>
            </a:r>
            <a:r>
              <a:rPr lang="zh-TW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是丟給法遵人員</a:t>
            </a:r>
            <a:r>
              <a:rPr lang="zh-TW" sz="1600">
                <a:solidFill>
                  <a:srgbClr val="FFFFFF"/>
                </a:solidFill>
              </a:rPr>
              <a:t>模型能力圖和答案</a:t>
            </a:r>
            <a:r>
              <a:rPr lang="zh-TW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，而是看見每一次決策的依據。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dec9f0cfbb_0_62"/>
          <p:cNvSpPr txBox="1"/>
          <p:nvPr/>
        </p:nvSpPr>
        <p:spPr>
          <a:xfrm>
            <a:off x="508000" y="38100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 b="1" i="0" u="none" strike="noStrike" cap="none">
                <a:solidFill>
                  <a:srgbClr val="63D297"/>
                </a:solidFill>
                <a:latin typeface="Arial"/>
                <a:ea typeface="Arial"/>
                <a:cs typeface="Arial"/>
                <a:sym typeface="Arial"/>
              </a:rPr>
              <a:t>接下來 4.5分鐘實機展示：VerifiQuant 如何攔截致命的隱性假設，並產出符合 EU AI Act 級別的審計報告。</a:t>
            </a:r>
            <a:endParaRPr sz="1500" b="1" i="0" u="none" strike="noStrike" cap="none">
              <a:solidFill>
                <a:srgbClr val="63D29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dec9f0cfbb_0_62"/>
          <p:cNvSpPr txBox="1">
            <a:spLocks noGrp="1"/>
          </p:cNvSpPr>
          <p:nvPr>
            <p:ph type="title"/>
          </p:nvPr>
        </p:nvSpPr>
        <p:spPr>
          <a:xfrm>
            <a:off x="4826700" y="149450"/>
            <a:ext cx="43173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zh-TW" sz="2400" b="1" u="sng" dirty="0">
                <a:solidFill>
                  <a:schemeClr val="hlink"/>
                </a:solidFill>
                <a:hlinkClick r:id="rId3"/>
              </a:rPr>
              <a:t>www.verifiquant.com</a:t>
            </a:r>
            <a:endParaRPr sz="24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zh-TW" sz="2400" b="1" dirty="0"/>
              <a:t>demo網址</a:t>
            </a:r>
            <a:endParaRPr sz="24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zh-TW"/>
              <a:t>附錄</a:t>
            </a:r>
            <a:endParaRPr/>
          </a:p>
        </p:txBody>
      </p:sp>
      <p:sp>
        <p:nvSpPr>
          <p:cNvPr id="325" name="Google Shape;325;p14"/>
          <p:cNvSpPr/>
          <p:nvPr/>
        </p:nvSpPr>
        <p:spPr>
          <a:xfrm>
            <a:off x="508000" y="2895600"/>
            <a:ext cx="1270000" cy="381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4"/>
          <p:cNvSpPr txBox="1"/>
          <p:nvPr/>
        </p:nvSpPr>
        <p:spPr>
          <a:xfrm>
            <a:off x="508000" y="3098800"/>
            <a:ext cx="8128000" cy="5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原始研究進度報告 — 完整技術細節、實驗設計與佐證資料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ec78014f78_0_6"/>
          <p:cNvSpPr txBox="1">
            <a:spLocks noGrp="1"/>
          </p:cNvSpPr>
          <p:nvPr>
            <p:ph type="title"/>
          </p:nvPr>
        </p:nvSpPr>
        <p:spPr>
          <a:xfrm>
            <a:off x="166778" y="441608"/>
            <a:ext cx="91995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CoT 的 Faithfulness 危機，導致AI的trace無法復現+虛假信心</a:t>
            </a:r>
            <a:endParaRPr dirty="0"/>
          </a:p>
        </p:txBody>
      </p:sp>
      <p:sp>
        <p:nvSpPr>
          <p:cNvPr id="396" name="Google Shape;396;g3ec78014f78_0_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Jacovi &amp; Goldberg (ACL 2020) 區分了兩個常被混淆的性質：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 b="1" dirty="0"/>
              <a:t>可信度 (plausibility)</a:t>
            </a:r>
            <a:r>
              <a:rPr lang="zh-TW" dirty="0"/>
              <a:t>——解釋對人類觀察者是否具有說服力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 b="1" dirty="0"/>
              <a:t>忠實度 (faithfulness)</a:t>
            </a:r>
            <a:r>
              <a:rPr lang="zh-TW" dirty="0"/>
              <a:t>——解釋是否精確反映模型內部的真實推理過程。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最危險的情境是高可信度、低忠實度的組合</a:t>
            </a:r>
            <a:r>
              <a:rPr lang="zh-TW" b="1" dirty="0"/>
              <a:t>：一個看起來很有說服力的解釋，實際上完全不對應模型的內部決策。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TW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 dirty="0"/>
              <a:t>Turpin et al. (NeurIPS 2023)</a:t>
            </a:r>
            <a:r>
              <a:rPr lang="zh-TW" dirty="0"/>
              <a:t> 透過輸入操弄實驗證明，CoT 中間步驟並不必然反映模型實際得到答案的計算路徑——</a:t>
            </a:r>
            <a:r>
              <a:rPr lang="zh-TW" b="1" dirty="0"/>
              <a:t>模型可能受隱性偏見影響，但 CoT 軌跡卻不揭示此影響。</a:t>
            </a:r>
            <a:endParaRPr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"/>
          <p:cNvSpPr txBox="1">
            <a:spLocks noGrp="1"/>
          </p:cNvSpPr>
          <p:nvPr>
            <p:ph type="body" idx="1"/>
          </p:nvPr>
        </p:nvSpPr>
        <p:spPr>
          <a:xfrm>
            <a:off x="6004925" y="4223225"/>
            <a:ext cx="2626800" cy="3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SzPts val="1800"/>
              <a:buNone/>
            </a:pPr>
            <a:r>
              <a:rPr lang="zh-TW">
                <a:latin typeface="Arial"/>
                <a:ea typeface="Arial"/>
                <a:cs typeface="Arial"/>
                <a:sym typeface="Arial"/>
              </a:rPr>
              <a:t>5. 嘗試執行code, 檢查是否運行成功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536158" y="204327"/>
            <a:ext cx="1702409" cy="66614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TW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用戶問題+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TW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提供資料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2363447" y="181177"/>
            <a:ext cx="1539433" cy="549018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33B3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TW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FIC公式卡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4007053" y="184116"/>
            <a:ext cx="1699037" cy="549018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33B36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TW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外部參考資料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351384" y="1515681"/>
            <a:ext cx="3632521" cy="66614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zh-TW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是否有合適的公式卡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zh-TW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問題是否太模糊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4117917" y="1515681"/>
            <a:ext cx="1477307" cy="66614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N-承認不支持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M-請補足細節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379019" y="2499673"/>
            <a:ext cx="3632521" cy="66614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zh-TW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用AI抓問題中公式需要的input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zh-TW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看是否有缺漏或不合理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4131304" y="2499673"/>
            <a:ext cx="1477307" cy="66614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F-缺參數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E-數值離群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373311" y="3646664"/>
            <a:ext cx="3632521" cy="46852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TW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抓取人類和LLM可能理解不同之處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4131304" y="3449048"/>
            <a:ext cx="1477307" cy="66614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I-Hard:必須問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I-Soft: 可算數值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373309" y="4429085"/>
            <a:ext cx="3632521" cy="46852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TW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執行Python並檢查執行成果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4117917" y="4417510"/>
            <a:ext cx="1477307" cy="468528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TW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 - 執行結果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2" name="Google Shape;262;p9"/>
          <p:cNvCxnSpPr>
            <a:stCxn id="251" idx="2"/>
          </p:cNvCxnSpPr>
          <p:nvPr/>
        </p:nvCxnSpPr>
        <p:spPr>
          <a:xfrm flipH="1">
            <a:off x="1381063" y="870471"/>
            <a:ext cx="6300" cy="644100"/>
          </a:xfrm>
          <a:prstGeom prst="straightConnector1">
            <a:avLst/>
          </a:prstGeom>
          <a:noFill/>
          <a:ln w="38100" cap="flat" cmpd="sng">
            <a:solidFill>
              <a:srgbClr val="32344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3" name="Google Shape;263;p9"/>
          <p:cNvCxnSpPr/>
          <p:nvPr/>
        </p:nvCxnSpPr>
        <p:spPr>
          <a:xfrm rot="10800000">
            <a:off x="1468851" y="1030449"/>
            <a:ext cx="3632521" cy="0"/>
          </a:xfrm>
          <a:prstGeom prst="straightConnector1">
            <a:avLst/>
          </a:prstGeom>
          <a:noFill/>
          <a:ln w="38100" cap="flat" cmpd="sng">
            <a:solidFill>
              <a:srgbClr val="32344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4" name="Google Shape;264;p9"/>
          <p:cNvCxnSpPr/>
          <p:nvPr/>
        </p:nvCxnSpPr>
        <p:spPr>
          <a:xfrm>
            <a:off x="5101372" y="730195"/>
            <a:ext cx="0" cy="300254"/>
          </a:xfrm>
          <a:prstGeom prst="straightConnector1">
            <a:avLst/>
          </a:prstGeom>
          <a:noFill/>
          <a:ln w="38100" cap="flat" cmpd="sng">
            <a:solidFill>
              <a:srgbClr val="32344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5" name="Google Shape;265;p9"/>
          <p:cNvCxnSpPr/>
          <p:nvPr/>
        </p:nvCxnSpPr>
        <p:spPr>
          <a:xfrm>
            <a:off x="3170329" y="730539"/>
            <a:ext cx="0" cy="300254"/>
          </a:xfrm>
          <a:prstGeom prst="straightConnector1">
            <a:avLst/>
          </a:prstGeom>
          <a:noFill/>
          <a:ln w="38100" cap="flat" cmpd="sng">
            <a:solidFill>
              <a:srgbClr val="32344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6" name="Google Shape;266;p9"/>
          <p:cNvSpPr txBox="1"/>
          <p:nvPr/>
        </p:nvSpPr>
        <p:spPr>
          <a:xfrm>
            <a:off x="2148641" y="1077781"/>
            <a:ext cx="1289493" cy="447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accent3"/>
              </a:buClr>
              <a:buSzPts val="1800"/>
              <a:buFont typeface="Proxima Nova"/>
              <a:buNone/>
            </a:pPr>
            <a:r>
              <a:rPr lang="zh-TW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步驟</a:t>
            </a:r>
            <a:endParaRPr sz="1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9"/>
          <p:cNvSpPr txBox="1"/>
          <p:nvPr/>
        </p:nvSpPr>
        <p:spPr>
          <a:xfrm>
            <a:off x="4018700" y="1049413"/>
            <a:ext cx="1702500" cy="4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accent3"/>
              </a:buClr>
              <a:buSzPts val="1800"/>
              <a:buFont typeface="Proxima Nova"/>
              <a:buNone/>
            </a:pPr>
            <a:r>
              <a:rPr lang="zh-TW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若偵測到錯誤</a:t>
            </a:r>
            <a:endParaRPr sz="18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p9"/>
          <p:cNvCxnSpPr/>
          <p:nvPr/>
        </p:nvCxnSpPr>
        <p:spPr>
          <a:xfrm>
            <a:off x="1390793" y="2188570"/>
            <a:ext cx="0" cy="311103"/>
          </a:xfrm>
          <a:prstGeom prst="straightConnector1">
            <a:avLst/>
          </a:prstGeom>
          <a:noFill/>
          <a:ln w="38100" cap="flat" cmpd="sng">
            <a:solidFill>
              <a:srgbClr val="32344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9" name="Google Shape;269;p9"/>
          <p:cNvSpPr txBox="1"/>
          <p:nvPr/>
        </p:nvSpPr>
        <p:spPr>
          <a:xfrm>
            <a:off x="1527529" y="2135367"/>
            <a:ext cx="4149473" cy="447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accent3"/>
              </a:buClr>
              <a:buSzPts val="1800"/>
              <a:buFont typeface="Proxima Nova"/>
              <a:buNone/>
            </a:pPr>
            <a:r>
              <a:rPr lang="zh-TW" sz="1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確定使用的公式卡</a:t>
            </a:r>
            <a:endParaRPr sz="16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" name="Google Shape;270;p9"/>
          <p:cNvCxnSpPr/>
          <p:nvPr/>
        </p:nvCxnSpPr>
        <p:spPr>
          <a:xfrm>
            <a:off x="1394071" y="3163829"/>
            <a:ext cx="0" cy="482835"/>
          </a:xfrm>
          <a:prstGeom prst="straightConnector1">
            <a:avLst/>
          </a:prstGeom>
          <a:noFill/>
          <a:ln w="38100" cap="flat" cmpd="sng">
            <a:solidFill>
              <a:srgbClr val="32344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1" name="Google Shape;271;p9"/>
          <p:cNvSpPr txBox="1"/>
          <p:nvPr/>
        </p:nvSpPr>
        <p:spPr>
          <a:xfrm>
            <a:off x="1478560" y="3159361"/>
            <a:ext cx="4149473" cy="447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accent3"/>
              </a:buClr>
              <a:buSzPts val="1800"/>
              <a:buFont typeface="Proxima Nova"/>
              <a:buNone/>
            </a:pPr>
            <a:r>
              <a:rPr lang="zh-TW" sz="1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確定數值後，檢查歧異</a:t>
            </a:r>
            <a:endParaRPr sz="16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p9"/>
          <p:cNvCxnSpPr/>
          <p:nvPr/>
        </p:nvCxnSpPr>
        <p:spPr>
          <a:xfrm>
            <a:off x="1390793" y="4115192"/>
            <a:ext cx="0" cy="311103"/>
          </a:xfrm>
          <a:prstGeom prst="straightConnector1">
            <a:avLst/>
          </a:prstGeom>
          <a:noFill/>
          <a:ln w="38100" cap="flat" cmpd="sng">
            <a:solidFill>
              <a:srgbClr val="32344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3" name="Google Shape;273;p9"/>
          <p:cNvSpPr txBox="1"/>
          <p:nvPr/>
        </p:nvSpPr>
        <p:spPr>
          <a:xfrm>
            <a:off x="1465136" y="4042761"/>
            <a:ext cx="4149473" cy="447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accent3"/>
              </a:buClr>
              <a:buSzPts val="1800"/>
              <a:buFont typeface="Proxima Nova"/>
              <a:buNone/>
            </a:pPr>
            <a:r>
              <a:rPr lang="zh-TW" sz="1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確定一切假設，進行運算</a:t>
            </a:r>
            <a:endParaRPr sz="16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9"/>
          <p:cNvSpPr txBox="1"/>
          <p:nvPr/>
        </p:nvSpPr>
        <p:spPr>
          <a:xfrm>
            <a:off x="5861848" y="271033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zh-TW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系統</a:t>
            </a:r>
            <a:r>
              <a:rPr lang="zh-TW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抓取FIC與外部資料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9"/>
          <p:cNvSpPr txBox="1"/>
          <p:nvPr/>
        </p:nvSpPr>
        <p:spPr>
          <a:xfrm>
            <a:off x="5671366" y="1463122"/>
            <a:ext cx="5085566" cy="684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TW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檢查抓取的外部資料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TW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是否和問題直接相關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9"/>
          <p:cNvSpPr txBox="1"/>
          <p:nvPr/>
        </p:nvSpPr>
        <p:spPr>
          <a:xfrm>
            <a:off x="5671366" y="2447574"/>
            <a:ext cx="296031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TW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驗證</a:t>
            </a:r>
            <a:r>
              <a:rPr lang="zh-TW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input是否有空缺或不合理</a:t>
            </a:r>
            <a:r>
              <a:rPr lang="zh-TW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之處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9"/>
          <p:cNvSpPr txBox="1"/>
          <p:nvPr/>
        </p:nvSpPr>
        <p:spPr>
          <a:xfrm>
            <a:off x="5671374" y="3396425"/>
            <a:ext cx="3203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TW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4.評估是否有可能對最終數值產生影響的</a:t>
            </a:r>
            <a:r>
              <a:rPr lang="zh-TW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模糊之處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"/>
          <p:cNvSpPr/>
          <p:nvPr/>
        </p:nvSpPr>
        <p:spPr>
          <a:xfrm flipH="1">
            <a:off x="5849248" y="181176"/>
            <a:ext cx="45719" cy="4755819"/>
          </a:xfrm>
          <a:prstGeom prst="rect">
            <a:avLst/>
          </a:prstGeom>
          <a:solidFill>
            <a:srgbClr val="7C3AED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8"/>
          <p:cNvSpPr txBox="1">
            <a:spLocks noGrp="1"/>
          </p:cNvSpPr>
          <p:nvPr>
            <p:ph type="title"/>
          </p:nvPr>
        </p:nvSpPr>
        <p:spPr>
          <a:xfrm>
            <a:off x="266900" y="12247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核心設計：</a:t>
            </a:r>
            <a:r>
              <a:rPr lang="zh-TW" b="1"/>
              <a:t>分類漏斗（Diagnostic Funnel）錯誤類型說明</a:t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203200" y="863600"/>
            <a:ext cx="8737600" cy="558800"/>
          </a:xfrm>
          <a:prstGeom prst="rect">
            <a:avLst/>
          </a:prstGeom>
          <a:solidFill>
            <a:srgbClr val="FEF2F2"/>
          </a:solidFill>
          <a:ln w="9525" cap="flat" cmpd="sng">
            <a:solidFill>
              <a:srgbClr val="DC2626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203200" y="863600"/>
            <a:ext cx="50800" cy="558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330200" y="952500"/>
            <a:ext cx="381000" cy="3810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787400" y="901700"/>
            <a:ext cx="1460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400" b="1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Intent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Misunderstanding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2197100" y="901700"/>
            <a:ext cx="46990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語義模糊，意圖太籠統無法對應 FIC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6972300" y="927100"/>
            <a:ext cx="1892300" cy="431800"/>
          </a:xfrm>
          <a:prstGeom prst="rect">
            <a:avLst/>
          </a:prstGeom>
          <a:solidFill>
            <a:srgbClr val="DC2626">
              <a:alpha val="12156"/>
            </a:srgbClr>
          </a:solidFill>
          <a:ln>
            <a:noFill/>
          </a:ln>
        </p:spPr>
        <p:txBody>
          <a:bodyPr spcFirstLastPara="1" wrap="square" lIns="54850" tIns="45700" rIns="54850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zh-TW" sz="1050" b="1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Refusal + 引導式反問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203200" y="1473200"/>
            <a:ext cx="8737600" cy="558800"/>
          </a:xfrm>
          <a:prstGeom prst="rect">
            <a:avLst/>
          </a:prstGeom>
          <a:solidFill>
            <a:srgbClr val="FFF7ED"/>
          </a:solidFill>
          <a:ln w="9525" cap="flat" cmpd="sng">
            <a:solidFill>
              <a:srgbClr val="EA580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203200" y="1473200"/>
            <a:ext cx="50800" cy="558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330200" y="1562100"/>
            <a:ext cx="381000" cy="3810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787400" y="1511300"/>
            <a:ext cx="1460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400" b="1" i="0" u="none" strike="noStrike" cap="non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Scope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Not Supported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2197100" y="1511300"/>
            <a:ext cx="46990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意圖明確，但 FIC 庫中無對應公式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6972300" y="1536700"/>
            <a:ext cx="1892300" cy="431800"/>
          </a:xfrm>
          <a:prstGeom prst="rect">
            <a:avLst/>
          </a:prstGeom>
          <a:solidFill>
            <a:srgbClr val="EA580C">
              <a:alpha val="12156"/>
            </a:srgbClr>
          </a:solidFill>
          <a:ln>
            <a:noFill/>
          </a:ln>
        </p:spPr>
        <p:txBody>
          <a:bodyPr spcFirstLastPara="1" wrap="square" lIns="54850" tIns="45700" rIns="54850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zh-TW" sz="1050" b="1" i="0" u="none" strike="noStrike" cap="non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Graceful Exit：宣告知識邊界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203200" y="2082800"/>
            <a:ext cx="8737600" cy="558800"/>
          </a:xfrm>
          <a:prstGeom prst="rect">
            <a:avLst/>
          </a:prstGeom>
          <a:solidFill>
            <a:srgbClr val="FFFBEB"/>
          </a:solidFill>
          <a:ln w="9525" cap="flat" cmpd="sng">
            <a:solidFill>
              <a:srgbClr val="D97706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203200" y="2082800"/>
            <a:ext cx="50800" cy="558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330200" y="2171700"/>
            <a:ext cx="381000" cy="381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787400" y="2120900"/>
            <a:ext cx="1460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400" b="1" i="0" u="none" strike="noStrike" cap="non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Schema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Formula Spec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2197100" y="2120900"/>
            <a:ext cx="46990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FIC 已選定，但缺少必要參數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6972300" y="2146300"/>
            <a:ext cx="1892300" cy="431800"/>
          </a:xfrm>
          <a:prstGeom prst="rect">
            <a:avLst/>
          </a:prstGeom>
          <a:solidFill>
            <a:srgbClr val="D97706">
              <a:alpha val="12156"/>
            </a:srgbClr>
          </a:solidFill>
          <a:ln>
            <a:noFill/>
          </a:ln>
        </p:spPr>
        <p:txBody>
          <a:bodyPr spcFirstLastPara="1" wrap="square" lIns="54850" tIns="45700" rIns="54850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zh-TW" sz="1050" b="1" i="0" u="none" strike="noStrike" cap="non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Slot-filling：動態補值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203200" y="2692400"/>
            <a:ext cx="8737600" cy="558800"/>
          </a:xfrm>
          <a:prstGeom prst="rect">
            <a:avLst/>
          </a:prstGeom>
          <a:solidFill>
            <a:srgbClr val="ECFDF5"/>
          </a:solidFill>
          <a:ln w="9525" cap="flat" cmpd="sng">
            <a:solidFill>
              <a:srgbClr val="059669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203200" y="2692400"/>
            <a:ext cx="50800" cy="558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330200" y="2781300"/>
            <a:ext cx="381000" cy="3810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787400" y="2730500"/>
            <a:ext cx="1460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400" b="1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Boundary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Extraction Alert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2197100" y="2730500"/>
            <a:ext cx="46990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數值存在但違反邏輯邊界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6972300" y="2755900"/>
            <a:ext cx="1892300" cy="431800"/>
          </a:xfrm>
          <a:prstGeom prst="rect">
            <a:avLst/>
          </a:prstGeom>
          <a:solidFill>
            <a:srgbClr val="059669">
              <a:alpha val="12156"/>
            </a:srgbClr>
          </a:solidFill>
          <a:ln>
            <a:noFill/>
          </a:ln>
        </p:spPr>
        <p:txBody>
          <a:bodyPr spcFirstLastPara="1" wrap="square" lIns="54850" tIns="45700" rIns="54850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zh-TW" sz="1050" b="1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Deterministic Alert：</a:t>
            </a:r>
            <a:endParaRPr sz="1050" b="1" i="0" u="none" strike="noStrike" cap="none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zh-TW" sz="1050" b="1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要求確認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203200" y="3302000"/>
            <a:ext cx="8737600" cy="558800"/>
          </a:xfrm>
          <a:prstGeom prst="rect">
            <a:avLst/>
          </a:prstGeom>
          <a:solidFill>
            <a:srgbClr val="EFF6FF"/>
          </a:solidFill>
          <a:ln w="9525" cap="flat" cmpd="sng">
            <a:solidFill>
              <a:srgbClr val="2563EB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203200" y="3302000"/>
            <a:ext cx="50800" cy="55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330200" y="3390900"/>
            <a:ext cx="381000" cy="381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787400" y="3340100"/>
            <a:ext cx="1460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400" b="1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Critic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Interception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2197100" y="3340100"/>
            <a:ext cx="46990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隱性語義歧義（年末/年初、匯率方向）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6972300" y="3365500"/>
            <a:ext cx="1892300" cy="431800"/>
          </a:xfrm>
          <a:prstGeom prst="rect">
            <a:avLst/>
          </a:prstGeom>
          <a:solidFill>
            <a:srgbClr val="2563EB">
              <a:alpha val="12156"/>
            </a:srgbClr>
          </a:solidFill>
          <a:ln>
            <a:noFill/>
          </a:ln>
        </p:spPr>
        <p:txBody>
          <a:bodyPr spcFirstLastPara="1" wrap="square" lIns="54850" tIns="45700" rIns="54850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zh-TW" sz="1050" b="1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I-hard 阻止 ｜ I-soft 附警告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203200" y="3911600"/>
            <a:ext cx="8737600" cy="558800"/>
          </a:xfrm>
          <a:prstGeom prst="rect">
            <a:avLst/>
          </a:prstGeom>
          <a:solidFill>
            <a:srgbClr val="F5F3FF"/>
          </a:solidFill>
          <a:ln w="9525" cap="flat" cmpd="sng">
            <a:solidFill>
              <a:srgbClr val="7C3AED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203200" y="3911600"/>
            <a:ext cx="50800" cy="55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330200" y="4000500"/>
            <a:ext cx="381000" cy="381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787400" y="3949700"/>
            <a:ext cx="14605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400" b="1" i="0" u="none" strike="noStrike" cap="non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Logic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Calculation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2197100" y="3949700"/>
            <a:ext cx="46990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確定性執行：C-exec / C-match / C-mismatch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6972300" y="3975100"/>
            <a:ext cx="1892300" cy="431800"/>
          </a:xfrm>
          <a:prstGeom prst="rect">
            <a:avLst/>
          </a:prstGeom>
          <a:solidFill>
            <a:srgbClr val="7C3AED">
              <a:alpha val="12156"/>
            </a:srgbClr>
          </a:solidFill>
          <a:ln>
            <a:noFill/>
          </a:ln>
        </p:spPr>
        <p:txBody>
          <a:bodyPr spcFirstLastPara="1" wrap="square" lIns="54850" tIns="45700" rIns="54850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zh-TW" sz="1050" b="1" i="0" u="none" strike="noStrike" cap="non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程式碼執行 → 歸因分析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I類檢測成功且重要範例 1  :TRIN公式</a:t>
            </a:r>
            <a:endParaRPr/>
          </a:p>
        </p:txBody>
      </p:sp>
      <p:pic>
        <p:nvPicPr>
          <p:cNvPr id="332" name="Google Shape;33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4000" y="1041400"/>
            <a:ext cx="6556233" cy="977786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1"/>
          <p:cNvSpPr/>
          <p:nvPr/>
        </p:nvSpPr>
        <p:spPr>
          <a:xfrm>
            <a:off x="254000" y="2243920"/>
            <a:ext cx="4191000" cy="1858179"/>
          </a:xfrm>
          <a:prstGeom prst="rect">
            <a:avLst/>
          </a:prstGeom>
          <a:solidFill>
            <a:srgbClr val="FEF2F2"/>
          </a:solidFill>
          <a:ln w="9525" cap="flat" cmpd="sng">
            <a:solidFill>
              <a:srgbClr val="DC2626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254000" y="2243921"/>
            <a:ext cx="4191000" cy="63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381000" y="2370921"/>
            <a:ext cx="39370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TW" sz="1600" b="1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問題：主觀閾值判斷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381000" y="2675721"/>
            <a:ext cx="3937000" cy="1348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TRIN 公式固定，但「市場情緒」是主觀標籤。TRIN &lt; 1.0 通常看多，但有交易員把 0.5 以下才視為極度超買。</a:t>
            </a:r>
            <a:r>
              <a:rPr lang="zh-TW" sz="1400" b="1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期望輸出為布林值（true/false），而非數值計算</a:t>
            </a:r>
            <a:r>
              <a:rPr lang="zh-TW" sz="14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4572000" y="2243921"/>
            <a:ext cx="4318000" cy="1794678"/>
          </a:xfrm>
          <a:prstGeom prst="rect">
            <a:avLst/>
          </a:prstGeom>
          <a:solidFill>
            <a:srgbClr val="ECFDF5"/>
          </a:solidFill>
          <a:ln w="9525" cap="flat" cmpd="sng">
            <a:solidFill>
              <a:srgbClr val="059669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4572000" y="2243921"/>
            <a:ext cx="4318000" cy="63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4699000" y="2370921"/>
            <a:ext cx="40640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5"/>
              <a:buFont typeface="Arial"/>
              <a:buNone/>
            </a:pPr>
            <a:r>
              <a:rPr lang="zh-TW" sz="1295" b="1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✓ 審計邏輯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4699000" y="2675721"/>
            <a:ext cx="4064000" cy="1348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如果框架不攔截，LLM 會隨機根據訓練資料選一個閾值，</a:t>
            </a:r>
            <a:r>
              <a:rPr lang="zh-TW" sz="1400" b="1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產生「隱性假設」</a:t>
            </a:r>
            <a:r>
              <a:rPr lang="zh-TW" sz="14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。框架強迫用戶（或系統預設）定義這個閾值，確保審計一致性。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254000" y="4312738"/>
            <a:ext cx="863600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TW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關鍵價值：將「隱性主觀假設」轉為「顯性可審計參數」，消除 LLM 隨機閾值選擇問題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2"/>
          <p:cNvSpPr txBox="1">
            <a:spLocks noGrp="1"/>
          </p:cNvSpPr>
          <p:nvPr>
            <p:ph type="title"/>
          </p:nvPr>
        </p:nvSpPr>
        <p:spPr>
          <a:xfrm>
            <a:off x="311700" y="290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I類檢測成功且重要範例 2 :</a:t>
            </a:r>
            <a:r>
              <a:rPr lang="zh-TW" b="1"/>
              <a:t>公式歧義</a:t>
            </a:r>
            <a:endParaRPr/>
          </a:p>
        </p:txBody>
      </p:sp>
      <p:sp>
        <p:nvSpPr>
          <p:cNvPr id="347" name="Google Shape;347;p12"/>
          <p:cNvSpPr/>
          <p:nvPr/>
        </p:nvSpPr>
        <p:spPr>
          <a:xfrm>
            <a:off x="254000" y="990600"/>
            <a:ext cx="8636000" cy="355600"/>
          </a:xfrm>
          <a:prstGeom prst="rect">
            <a:avLst/>
          </a:prstGeom>
          <a:solidFill>
            <a:srgbClr val="FEF3C7"/>
          </a:solidFill>
          <a:ln w="9525" cap="flat" cmpd="sng">
            <a:solidFill>
              <a:srgbClr val="D97706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254000" y="990600"/>
            <a:ext cx="86360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45700" rIns="54850" bIns="4570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TW" sz="1600" b="1" i="0" u="none" strike="noStrike" cap="non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⚠ 現實狀況：題目同時給了 current_liabilities 和 total_debt，LLM 會隨機挑公式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254000" y="1473200"/>
            <a:ext cx="3937000" cy="1435100"/>
          </a:xfrm>
          <a:prstGeom prst="rect">
            <a:avLst/>
          </a:prstGeom>
          <a:solidFill>
            <a:srgbClr val="EFF6FF"/>
          </a:solidFill>
          <a:ln w="9525" cap="flat" cmpd="sng">
            <a:solidFill>
              <a:srgbClr val="2563EB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254000" y="1473200"/>
            <a:ext cx="3937000" cy="6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381000" y="1600200"/>
            <a:ext cx="3683000" cy="10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45700" rIns="54850" bIns="4570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TW" sz="1600" b="1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公式 A (Ground Truth 採用)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4323080" y="1903730"/>
            <a:ext cx="508000" cy="5080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0" tIns="0" rIns="0" bIns="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4953000" y="1473200"/>
            <a:ext cx="3937000" cy="1435100"/>
          </a:xfrm>
          <a:prstGeom prst="rect">
            <a:avLst/>
          </a:prstGeom>
          <a:solidFill>
            <a:srgbClr val="FEF2F2"/>
          </a:solidFill>
          <a:ln w="9525" cap="flat" cmpd="sng">
            <a:solidFill>
              <a:srgbClr val="DC2626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4953000" y="1473200"/>
            <a:ext cx="3937000" cy="63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5080000" y="1600200"/>
            <a:ext cx="3683000" cy="10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45700" rIns="54850" bIns="4570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TW" sz="1600" b="1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公式 B (模型可能選擇)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4419600" y="2828290"/>
            <a:ext cx="304800" cy="228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366F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254000" y="3098800"/>
            <a:ext cx="8636000" cy="660400"/>
          </a:xfrm>
          <a:prstGeom prst="rect">
            <a:avLst/>
          </a:prstGeom>
          <a:solidFill>
            <a:srgbClr val="F5F3FF"/>
          </a:solidFill>
          <a:ln w="9525" cap="flat" cmpd="sng">
            <a:solidFill>
              <a:srgbClr val="6366F1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355600" y="3149600"/>
            <a:ext cx="84328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45700" rIns="54850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VerifiQuant 的價值：</a:t>
            </a:r>
            <a:r>
              <a:rPr lang="zh-TW" sz="14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框架偵測到「數據可算兩種答案」→ 語義歧義（Semantic Ambiguity）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1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✓ 解法：</a:t>
            </a:r>
            <a:r>
              <a:rPr lang="zh-TW" sz="14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主動詢問用戶選擇公式及對應 code，消除歧義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254000" y="3886200"/>
            <a:ext cx="8636000" cy="381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254000" y="3886200"/>
            <a:ext cx="8636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45700" rIns="54850" bIns="4570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zh-TW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「數值不同但推理正確」→ 非模型錯誤，是需要人類決策介入的問題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1" name="Google Shape;36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9626" y="1991996"/>
            <a:ext cx="2725748" cy="763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18100" y="2111104"/>
            <a:ext cx="3670300" cy="5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dec9f0cfbb_0_202"/>
          <p:cNvSpPr txBox="1"/>
          <p:nvPr/>
        </p:nvSpPr>
        <p:spPr>
          <a:xfrm>
            <a:off x="203200" y="59200"/>
            <a:ext cx="3245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zh-TW" sz="2800" b="1" i="0" u="none" strike="noStrike" cap="none">
                <a:solidFill>
                  <a:srgbClr val="202729"/>
                </a:solidFill>
                <a:latin typeface="Arial"/>
                <a:ea typeface="Arial"/>
                <a:cs typeface="Arial"/>
                <a:sym typeface="Arial"/>
              </a:rPr>
              <a:t>Demo 演示</a:t>
            </a:r>
            <a:endParaRPr sz="2800" b="0" i="0" u="none" strike="noStrike" cap="none">
              <a:solidFill>
                <a:srgbClr val="2027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dec9f0cfbb_0_202"/>
          <p:cNvSpPr/>
          <p:nvPr/>
        </p:nvSpPr>
        <p:spPr>
          <a:xfrm>
            <a:off x="203200" y="631900"/>
            <a:ext cx="3245400" cy="434100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dec9f0cfbb_0_202"/>
          <p:cNvSpPr/>
          <p:nvPr/>
        </p:nvSpPr>
        <p:spPr>
          <a:xfrm>
            <a:off x="203200" y="631900"/>
            <a:ext cx="3245400" cy="364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54850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zh-TW" sz="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📋 示範題目（NPV 計算）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3dec9f0cfbb_0_202"/>
          <p:cNvSpPr/>
          <p:nvPr/>
        </p:nvSpPr>
        <p:spPr>
          <a:xfrm>
            <a:off x="268106" y="1062705"/>
            <a:ext cx="3115500" cy="21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zh-TW" sz="135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Context：一家新創科技公司正在考慮投資一個新的軟體開發專案。初始投資 10 萬美元（第一年年初）。未來五年現金流：2萬,3萬,3.5萬,4萬,4.5萬。折現率 8%，年底到款。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zh-TW" sz="1300" b="1" i="0" u="none" strike="noStrike" cap="non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Question：該軟體開發專案的淨現值（NPV）是多少？答案取最接近的整數。</a:t>
            </a: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3dec9f0cfbb_0_202"/>
          <p:cNvSpPr/>
          <p:nvPr/>
        </p:nvSpPr>
        <p:spPr>
          <a:xfrm>
            <a:off x="268106" y="3382521"/>
            <a:ext cx="3115500" cy="364200"/>
          </a:xfrm>
          <a:prstGeom prst="rect">
            <a:avLst/>
          </a:prstGeom>
          <a:solidFill>
            <a:srgbClr val="059669">
              <a:alpha val="12156"/>
            </a:srgbClr>
          </a:solidFill>
          <a:ln>
            <a:noFill/>
          </a:ln>
        </p:spPr>
        <p:txBody>
          <a:bodyPr spcFirstLastPara="1" wrap="square" lIns="54850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zh-TW" sz="1650" b="1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✓ 正確答案：$32,050（NPV）</a:t>
            </a:r>
            <a:endParaRPr sz="2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dec9f0cfbb_0_202"/>
          <p:cNvSpPr/>
          <p:nvPr/>
        </p:nvSpPr>
        <p:spPr>
          <a:xfrm>
            <a:off x="268106" y="3846464"/>
            <a:ext cx="3115500" cy="11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zh-TW" sz="15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同一題目，透過 6 種不同的提問方式，展示 VerifiQuant 對各種錯誤類型的處理能力。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3dec9f0cfbb_0_202"/>
          <p:cNvSpPr/>
          <p:nvPr/>
        </p:nvSpPr>
        <p:spPr>
          <a:xfrm>
            <a:off x="3567150" y="59200"/>
            <a:ext cx="2666100" cy="1537800"/>
          </a:xfrm>
          <a:prstGeom prst="rect">
            <a:avLst/>
          </a:prstGeom>
          <a:solidFill>
            <a:srgbClr val="ECFDF5"/>
          </a:solidFill>
          <a:ln w="11125" cap="flat" cmpd="sng">
            <a:solidFill>
              <a:srgbClr val="059669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5"/>
              <a:buFont typeface="Arial"/>
              <a:buNone/>
            </a:pPr>
            <a:endParaRPr sz="16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3dec9f0cfbb_0_202"/>
          <p:cNvSpPr/>
          <p:nvPr/>
        </p:nvSpPr>
        <p:spPr>
          <a:xfrm>
            <a:off x="3567150" y="59200"/>
            <a:ext cx="57900" cy="1537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5"/>
              <a:buFont typeface="Arial"/>
              <a:buNone/>
            </a:pPr>
            <a:endParaRPr sz="16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3dec9f0cfbb_0_202"/>
          <p:cNvSpPr/>
          <p:nvPr/>
        </p:nvSpPr>
        <p:spPr>
          <a:xfrm>
            <a:off x="3712054" y="171727"/>
            <a:ext cx="2434500" cy="13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9"/>
              <a:buFont typeface="Arial"/>
              <a:buNone/>
            </a:pPr>
            <a:r>
              <a:rPr lang="zh-TW" sz="1709" b="1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Case 1</a:t>
            </a:r>
            <a:r>
              <a:rPr lang="zh-TW" sz="1593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zh-TW" sz="1593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正常詢問</a:t>
            </a:r>
            <a:endParaRPr sz="2235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17"/>
              </a:spcBef>
              <a:spcAft>
                <a:spcPts val="0"/>
              </a:spcAft>
              <a:buClr>
                <a:srgbClr val="000000"/>
              </a:buClr>
              <a:buSzPts val="934"/>
              <a:buFont typeface="Arial"/>
              <a:buNone/>
            </a:pPr>
            <a:r>
              <a:rPr lang="zh-TW" sz="1534" b="1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✓ 成功</a:t>
            </a:r>
            <a:endParaRPr sz="22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17"/>
              </a:spcBef>
              <a:spcAft>
                <a:spcPts val="0"/>
              </a:spcAft>
              <a:buClr>
                <a:srgbClr val="000000"/>
              </a:buClr>
              <a:buSzPts val="876"/>
              <a:buFont typeface="Arial"/>
              <a:buNone/>
            </a:pPr>
            <a:r>
              <a:rPr lang="zh-TW" sz="1476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精確提問 → 找到卡片 → 正確計算 $2,940</a:t>
            </a:r>
            <a:endParaRPr sz="22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dec9f0cfbb_0_202"/>
          <p:cNvSpPr/>
          <p:nvPr/>
        </p:nvSpPr>
        <p:spPr>
          <a:xfrm>
            <a:off x="6349312" y="59200"/>
            <a:ext cx="2666100" cy="1537800"/>
          </a:xfrm>
          <a:prstGeom prst="rect">
            <a:avLst/>
          </a:prstGeom>
          <a:solidFill>
            <a:srgbClr val="FEF2F2"/>
          </a:solidFill>
          <a:ln w="11125" cap="flat" cmpd="sng">
            <a:solidFill>
              <a:srgbClr val="DC2626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5"/>
              <a:buFont typeface="Arial"/>
              <a:buNone/>
            </a:pPr>
            <a:endParaRPr sz="16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dec9f0cfbb_0_202"/>
          <p:cNvSpPr/>
          <p:nvPr/>
        </p:nvSpPr>
        <p:spPr>
          <a:xfrm>
            <a:off x="6349312" y="59200"/>
            <a:ext cx="57900" cy="1537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5"/>
              <a:buFont typeface="Arial"/>
              <a:buNone/>
            </a:pPr>
            <a:endParaRPr sz="16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dec9f0cfbb_0_202"/>
          <p:cNvSpPr/>
          <p:nvPr/>
        </p:nvSpPr>
        <p:spPr>
          <a:xfrm>
            <a:off x="6494216" y="171727"/>
            <a:ext cx="2434500" cy="13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9"/>
              <a:buFont typeface="Arial"/>
              <a:buNone/>
            </a:pPr>
            <a:r>
              <a:rPr lang="zh-TW" sz="1709" b="1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Case 2</a:t>
            </a:r>
            <a:r>
              <a:rPr lang="zh-TW" sz="1593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zh-TW" sz="1593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模糊詢問</a:t>
            </a:r>
            <a:endParaRPr sz="2235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17"/>
              </a:spcBef>
              <a:spcAft>
                <a:spcPts val="0"/>
              </a:spcAft>
              <a:buClr>
                <a:srgbClr val="000000"/>
              </a:buClr>
              <a:buSzPts val="934"/>
              <a:buFont typeface="Arial"/>
              <a:buNone/>
            </a:pPr>
            <a:r>
              <a:rPr lang="zh-TW" sz="1534" b="1" i="0" u="none" strike="noStrike" cap="non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N 類錯誤</a:t>
            </a:r>
            <a:endParaRPr sz="22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17"/>
              </a:spcBef>
              <a:spcAft>
                <a:spcPts val="0"/>
              </a:spcAft>
              <a:buClr>
                <a:srgbClr val="000000"/>
              </a:buClr>
              <a:buSzPts val="876"/>
              <a:buFont typeface="Arial"/>
              <a:buNone/>
            </a:pPr>
            <a:r>
              <a:rPr lang="zh-TW" sz="1476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只告訴他「</a:t>
            </a:r>
            <a:r>
              <a:rPr lang="zh-TW" sz="1476" b="1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我想賺波大的</a:t>
            </a:r>
            <a:r>
              <a:rPr lang="zh-TW" sz="1476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」 → 未匹配NPV的 FIC 卡片 → 跟用戶說RAG失敗</a:t>
            </a:r>
            <a:endParaRPr sz="22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3dec9f0cfbb_0_202"/>
          <p:cNvSpPr/>
          <p:nvPr/>
        </p:nvSpPr>
        <p:spPr>
          <a:xfrm>
            <a:off x="3567150" y="1747099"/>
            <a:ext cx="2666100" cy="1537800"/>
          </a:xfrm>
          <a:prstGeom prst="rect">
            <a:avLst/>
          </a:prstGeom>
          <a:solidFill>
            <a:srgbClr val="FFFBEB"/>
          </a:solidFill>
          <a:ln w="11125" cap="flat" cmpd="sng">
            <a:solidFill>
              <a:srgbClr val="D97706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5"/>
              <a:buFont typeface="Arial"/>
              <a:buNone/>
            </a:pPr>
            <a:endParaRPr sz="16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3dec9f0cfbb_0_202"/>
          <p:cNvSpPr/>
          <p:nvPr/>
        </p:nvSpPr>
        <p:spPr>
          <a:xfrm>
            <a:off x="3567150" y="1747099"/>
            <a:ext cx="57900" cy="1537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5"/>
              <a:buFont typeface="Arial"/>
              <a:buNone/>
            </a:pPr>
            <a:endParaRPr sz="16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dec9f0cfbb_0_202"/>
          <p:cNvSpPr/>
          <p:nvPr/>
        </p:nvSpPr>
        <p:spPr>
          <a:xfrm>
            <a:off x="3712054" y="1859626"/>
            <a:ext cx="2434500" cy="13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9"/>
              <a:buFont typeface="Arial"/>
              <a:buNone/>
            </a:pPr>
            <a:r>
              <a:rPr lang="zh-TW" sz="1709" b="1" i="0" u="none" strike="noStrike" cap="non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Case 3</a:t>
            </a:r>
            <a:r>
              <a:rPr lang="zh-TW" sz="1593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zh-TW" sz="1593" b="1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模糊詢問2</a:t>
            </a:r>
            <a:endParaRPr sz="2235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17"/>
              </a:spcBef>
              <a:spcAft>
                <a:spcPts val="0"/>
              </a:spcAft>
              <a:buClr>
                <a:srgbClr val="000000"/>
              </a:buClr>
              <a:buSzPts val="934"/>
              <a:buFont typeface="Arial"/>
              <a:buNone/>
            </a:pPr>
            <a:r>
              <a:rPr lang="zh-TW" sz="1534" b="1" i="0" u="none" strike="noStrike" cap="non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M 類錯誤</a:t>
            </a:r>
            <a:endParaRPr sz="22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17"/>
              </a:spcBef>
              <a:spcAft>
                <a:spcPts val="0"/>
              </a:spcAft>
              <a:buClr>
                <a:srgbClr val="000000"/>
              </a:buClr>
              <a:buSzPts val="876"/>
              <a:buFont typeface="Arial"/>
              <a:buNone/>
            </a:pPr>
            <a:r>
              <a:rPr lang="zh-TW" sz="1476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告訴他「</a:t>
            </a:r>
            <a:r>
              <a:rPr lang="zh-TW" sz="1476" b="1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我想賺錢</a:t>
            </a:r>
            <a:r>
              <a:rPr lang="zh-TW" sz="1476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」 → 找到NPV和IRR的 FIC 卡片 → </a:t>
            </a:r>
            <a:r>
              <a:rPr lang="zh-TW" sz="1476" b="1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反問用戶啥是「賺錢」</a:t>
            </a:r>
            <a:endParaRPr sz="2235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dec9f0cfbb_0_202"/>
          <p:cNvSpPr/>
          <p:nvPr/>
        </p:nvSpPr>
        <p:spPr>
          <a:xfrm>
            <a:off x="6349312" y="1747099"/>
            <a:ext cx="2666100" cy="1537800"/>
          </a:xfrm>
          <a:prstGeom prst="rect">
            <a:avLst/>
          </a:prstGeom>
          <a:solidFill>
            <a:srgbClr val="F5F3FF"/>
          </a:solidFill>
          <a:ln w="11125" cap="flat" cmpd="sng">
            <a:solidFill>
              <a:srgbClr val="7C3AED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5"/>
              <a:buFont typeface="Arial"/>
              <a:buNone/>
            </a:pPr>
            <a:endParaRPr sz="16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dec9f0cfbb_0_202"/>
          <p:cNvSpPr/>
          <p:nvPr/>
        </p:nvSpPr>
        <p:spPr>
          <a:xfrm>
            <a:off x="6349312" y="1747099"/>
            <a:ext cx="57900" cy="1537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5"/>
              <a:buFont typeface="Arial"/>
              <a:buNone/>
            </a:pPr>
            <a:endParaRPr sz="16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dec9f0cfbb_0_202"/>
          <p:cNvSpPr/>
          <p:nvPr/>
        </p:nvSpPr>
        <p:spPr>
          <a:xfrm>
            <a:off x="6494216" y="1859626"/>
            <a:ext cx="2434500" cy="13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9"/>
              <a:buFont typeface="Arial"/>
              <a:buNone/>
            </a:pPr>
            <a:r>
              <a:rPr lang="zh-TW" sz="1709" b="1" i="0" u="none" strike="noStrike" cap="non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Case 4</a:t>
            </a:r>
            <a:r>
              <a:rPr lang="zh-TW" sz="1593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缺少關鍵參數</a:t>
            </a:r>
            <a:endParaRPr sz="22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17"/>
              </a:spcBef>
              <a:spcAft>
                <a:spcPts val="0"/>
              </a:spcAft>
              <a:buClr>
                <a:srgbClr val="000000"/>
              </a:buClr>
              <a:buSzPts val="934"/>
              <a:buFont typeface="Arial"/>
              <a:buNone/>
            </a:pPr>
            <a:r>
              <a:rPr lang="zh-TW" sz="1534" b="1" i="0" u="none" strike="noStrike" cap="non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F 類錯誤</a:t>
            </a:r>
            <a:endParaRPr sz="22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17"/>
              </a:spcBef>
              <a:spcAft>
                <a:spcPts val="0"/>
              </a:spcAft>
              <a:buClr>
                <a:srgbClr val="000000"/>
              </a:buClr>
              <a:buSzPts val="876"/>
              <a:buFont typeface="Arial"/>
              <a:buNone/>
            </a:pPr>
            <a:r>
              <a:rPr lang="zh-TW" sz="1476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忘記提供缺少折現率 → Slot-filling 補值</a:t>
            </a:r>
            <a:endParaRPr sz="22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dec9f0cfbb_0_202"/>
          <p:cNvSpPr/>
          <p:nvPr/>
        </p:nvSpPr>
        <p:spPr>
          <a:xfrm>
            <a:off x="3567150" y="3434999"/>
            <a:ext cx="2666100" cy="1537800"/>
          </a:xfrm>
          <a:prstGeom prst="rect">
            <a:avLst/>
          </a:prstGeom>
          <a:solidFill>
            <a:srgbClr val="EFF6FF"/>
          </a:solidFill>
          <a:ln w="11125" cap="flat" cmpd="sng">
            <a:solidFill>
              <a:srgbClr val="2563EB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5"/>
              <a:buFont typeface="Arial"/>
              <a:buNone/>
            </a:pPr>
            <a:endParaRPr sz="16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dec9f0cfbb_0_202"/>
          <p:cNvSpPr/>
          <p:nvPr/>
        </p:nvSpPr>
        <p:spPr>
          <a:xfrm>
            <a:off x="3567150" y="3434999"/>
            <a:ext cx="57900" cy="1537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5"/>
              <a:buFont typeface="Arial"/>
              <a:buNone/>
            </a:pPr>
            <a:endParaRPr sz="16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dec9f0cfbb_0_202"/>
          <p:cNvSpPr/>
          <p:nvPr/>
        </p:nvSpPr>
        <p:spPr>
          <a:xfrm>
            <a:off x="3712054" y="3547526"/>
            <a:ext cx="2434500" cy="13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9"/>
              <a:buFont typeface="Arial"/>
              <a:buNone/>
            </a:pPr>
            <a:r>
              <a:rPr lang="zh-TW" sz="1709" b="1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Case 5</a:t>
            </a:r>
            <a:r>
              <a:rPr lang="zh-TW" sz="1593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數值不合邏輯</a:t>
            </a:r>
            <a:endParaRPr sz="22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17"/>
              </a:spcBef>
              <a:spcAft>
                <a:spcPts val="0"/>
              </a:spcAft>
              <a:buClr>
                <a:srgbClr val="000000"/>
              </a:buClr>
              <a:buSzPts val="934"/>
              <a:buFont typeface="Arial"/>
              <a:buNone/>
            </a:pPr>
            <a:r>
              <a:rPr lang="zh-TW" sz="1534" b="1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E 類錯誤</a:t>
            </a:r>
            <a:endParaRPr sz="22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17"/>
              </a:spcBef>
              <a:spcAft>
                <a:spcPts val="0"/>
              </a:spcAft>
              <a:buClr>
                <a:srgbClr val="000000"/>
              </a:buClr>
              <a:buSzPts val="876"/>
              <a:buFont typeface="Arial"/>
              <a:buNone/>
            </a:pPr>
            <a:r>
              <a:rPr lang="zh-TW" sz="1476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初始投資抓成負值 → 自動提醒確認</a:t>
            </a:r>
            <a:endParaRPr sz="22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g3dec9f0cfbb_0_202"/>
          <p:cNvSpPr/>
          <p:nvPr/>
        </p:nvSpPr>
        <p:spPr>
          <a:xfrm>
            <a:off x="6349312" y="3434999"/>
            <a:ext cx="2666100" cy="1537800"/>
          </a:xfrm>
          <a:prstGeom prst="rect">
            <a:avLst/>
          </a:prstGeom>
          <a:solidFill>
            <a:srgbClr val="FFF7ED"/>
          </a:solidFill>
          <a:ln w="11125" cap="flat" cmpd="sng">
            <a:solidFill>
              <a:srgbClr val="EA580C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5"/>
              <a:buFont typeface="Arial"/>
              <a:buNone/>
            </a:pPr>
            <a:endParaRPr sz="16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g3dec9f0cfbb_0_202"/>
          <p:cNvSpPr/>
          <p:nvPr/>
        </p:nvSpPr>
        <p:spPr>
          <a:xfrm>
            <a:off x="6349312" y="3434999"/>
            <a:ext cx="57900" cy="1537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5"/>
              <a:buFont typeface="Arial"/>
              <a:buNone/>
            </a:pPr>
            <a:endParaRPr sz="16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g3dec9f0cfbb_0_202"/>
          <p:cNvSpPr/>
          <p:nvPr/>
        </p:nvSpPr>
        <p:spPr>
          <a:xfrm>
            <a:off x="6494216" y="3547526"/>
            <a:ext cx="2434500" cy="13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6775" tIns="53375" rIns="106775" bIns="533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9"/>
              <a:buFont typeface="Arial"/>
              <a:buNone/>
            </a:pPr>
            <a:r>
              <a:rPr lang="zh-TW" sz="1709" b="1" i="0" u="none" strike="noStrike" cap="non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Case 6</a:t>
            </a:r>
            <a:r>
              <a:rPr lang="zh-TW" sz="1593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模糊時間條件</a:t>
            </a:r>
            <a:endParaRPr sz="22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17"/>
              </a:spcBef>
              <a:spcAft>
                <a:spcPts val="0"/>
              </a:spcAft>
              <a:buClr>
                <a:srgbClr val="000000"/>
              </a:buClr>
              <a:buSzPts val="934"/>
              <a:buFont typeface="Arial"/>
              <a:buNone/>
            </a:pPr>
            <a:r>
              <a:rPr lang="zh-TW" sz="1534" b="1" i="0" u="none" strike="noStrike" cap="none">
                <a:solidFill>
                  <a:srgbClr val="EA580C"/>
                </a:solidFill>
                <a:latin typeface="Arial"/>
                <a:ea typeface="Arial"/>
                <a:cs typeface="Arial"/>
                <a:sym typeface="Arial"/>
              </a:rPr>
              <a:t>I 類錯誤</a:t>
            </a:r>
            <a:endParaRPr sz="22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17"/>
              </a:spcBef>
              <a:spcAft>
                <a:spcPts val="0"/>
              </a:spcAft>
              <a:buClr>
                <a:srgbClr val="000000"/>
              </a:buClr>
              <a:buSzPts val="876"/>
              <a:buFont typeface="Arial"/>
              <a:buNone/>
            </a:pPr>
            <a:r>
              <a:rPr lang="zh-TW" sz="1476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刪除「年末」→ 系統攔截 → 詢問年初或年末</a:t>
            </a:r>
            <a:endParaRPr sz="223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ec78014f78_0_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CoT 的 faithfulness 進一步討論，看怎麼毒害結果</a:t>
            </a:r>
            <a:endParaRPr/>
          </a:p>
        </p:txBody>
      </p:sp>
      <p:sp>
        <p:nvSpPr>
          <p:cNvPr id="402" name="Google Shape;402;g3ec78014f78_0_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Lanham et al. (2023) </a:t>
            </a:r>
            <a:r>
              <a:rPr lang="zh-TW" b="1"/>
              <a:t>量化了 CoT 步驟與最終答案的因果脫節</a:t>
            </a:r>
            <a:r>
              <a:rPr lang="zh-TW"/>
              <a:t>，並揭示一個反直覺的 scaling 趨勢：隨著模型參數規模擴大與能力增強，其生成的推理軌跡反而越不忠實。</a:t>
            </a:r>
            <a:r>
              <a:rPr lang="zh-TW" b="1"/>
              <a:t>模型越聰明，其偽裝推理軌跡以符合人類期待的能力就越強</a:t>
            </a:r>
            <a:r>
              <a:rPr lang="zh-TW"/>
              <a:t>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Pfau et al. (ICLR 2024)  從機制層面提供了解釋：</a:t>
            </a:r>
            <a:r>
              <a:rPr lang="zh-TW" b="1"/>
              <a:t>過去假設 CoT 的有效性來自將複雜任務拆解為人類可讀的離散步驟</a:t>
            </a:r>
            <a:r>
              <a:rPr lang="zh-TW"/>
              <a:t>，但嚴格實驗證明 CoT tokens 提供的是純粹的</a:t>
            </a:r>
            <a:r>
              <a:rPr lang="zh-TW" b="1"/>
              <a:t> 計算深度 (computational depth)，而不需要包含任何有意義的中間語義資訊</a:t>
            </a:r>
            <a:r>
              <a:rPr lang="zh-TW"/>
              <a:t>——甚至將中間步驟替換為無意義的填充符號也不影響效能。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近期paper (Lie to Me, 2026; Ariadne, 2026</a:t>
            </a:r>
            <a:r>
              <a:rPr lang="zh-TW" b="1"/>
              <a:t>) 將此分析延伸至 reasoning models 與 multi-agent 系統，確認此現象並非早期模型的暫時性缺陷。</a:t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ec78014f78_0_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現有解法的光譜與缺口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g3ec78014f78_0_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(a) 執行端外部化（PAL, PoT, FINDER）將算術交給 Python interpreter，</a:t>
            </a:r>
            <a:r>
              <a:rPr lang="zh-TW" b="1"/>
              <a:t>但 LLM 仍可寫出語法正確、金融邏輯錯誤的程式碼</a:t>
            </a:r>
            <a:r>
              <a:rPr lang="zh-TW"/>
              <a:t>，對 semantic drift 無防禦；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(b) 符號求解器路線（Logic-LM, VERAFI）</a:t>
            </a:r>
            <a:r>
              <a:rPr lang="zh-TW" b="1"/>
              <a:t>依賴自然語言到形式邏輯的脆弱翻譯，在複雜情境下準確率反而劣化</a:t>
            </a:r>
            <a:r>
              <a:rPr lang="zh-TW"/>
              <a:t>；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(c) Agentic reflection（ToT, Self-Refine）</a:t>
            </a:r>
            <a:r>
              <a:rPr lang="zh-TW" b="1"/>
              <a:t>以 LLM 驗證 LLM，未解決 faithfulness 的本質問題</a:t>
            </a:r>
            <a:r>
              <a:rPr lang="zh-TW"/>
              <a:t>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ec78014f78_0_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最常被討論的一點是方法(b)符號求解器路線</a:t>
            </a:r>
            <a:endParaRPr/>
          </a:p>
        </p:txBody>
      </p:sp>
      <p:sp>
        <p:nvSpPr>
          <p:cNvPr id="414" name="Google Shape;414;g3ec78014f78_0_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Neuro-symbolic 與 Formal Verification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為取得formal保證，過往研究嘗試讓 LLM 充當「翻譯者」，</a:t>
            </a:r>
            <a:r>
              <a:rPr lang="zh-TW" b="1"/>
              <a:t>將自然語言問題轉換為確定性符號系統可處理的表示</a:t>
            </a:r>
            <a:r>
              <a:rPr lang="zh-TW"/>
              <a:t>。此流派可拆為兩條子路線，但都最終受限於同一個根本瓶頸。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ec78014f78_0_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子路線1: 模組化推理 - DeepMind</a:t>
            </a:r>
            <a:endParaRPr/>
          </a:p>
        </p:txBody>
      </p:sp>
      <p:sp>
        <p:nvSpPr>
          <p:cNvPr id="420" name="Google Shape;420;g3ec78014f78_0_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1F2328"/>
                </a:solidFill>
                <a:highlight>
                  <a:srgbClr val="FFFFFF"/>
                </a:highlight>
              </a:rPr>
              <a:t>借鑑 neurosymbolic 概念，提出 Selection-Inference (SI) 框架，將推理拆為</a:t>
            </a:r>
            <a:r>
              <a:rPr lang="zh-TW" sz="1800" b="1">
                <a:solidFill>
                  <a:srgbClr val="1F2328"/>
                </a:solidFill>
                <a:highlight>
                  <a:srgbClr val="FFFFFF"/>
                </a:highlight>
              </a:rPr>
              <a:t>「從文本選取相關事實」與「從事實推導結論」</a:t>
            </a:r>
            <a:r>
              <a:rPr lang="zh-TW" sz="1800">
                <a:solidFill>
                  <a:srgbClr val="1F2328"/>
                </a:solidFill>
                <a:highlight>
                  <a:srgbClr val="FFFFFF"/>
                </a:highlight>
              </a:rPr>
              <a:t>兩個獨立模組。後續的 Faithful Reasoning 進一步加入 Halter 模組（偵測「</a:t>
            </a:r>
            <a:r>
              <a:rPr lang="zh-TW" sz="1800" b="1">
                <a:solidFill>
                  <a:srgbClr val="1F2328"/>
                </a:solidFill>
                <a:highlight>
                  <a:srgbClr val="FFFFFF"/>
                </a:highlight>
              </a:rPr>
              <a:t>資訊是否已足夠</a:t>
            </a:r>
            <a:r>
              <a:rPr lang="zh-TW" sz="1800">
                <a:solidFill>
                  <a:srgbClr val="1F2328"/>
                </a:solidFill>
                <a:highlight>
                  <a:srgbClr val="FFFFFF"/>
                </a:highlight>
              </a:rPr>
              <a:t>」）與 Value Function + Beam Search（</a:t>
            </a:r>
            <a:r>
              <a:rPr lang="zh-TW" sz="1800" b="1">
                <a:solidFill>
                  <a:srgbClr val="1F2328"/>
                </a:solidFill>
                <a:highlight>
                  <a:srgbClr val="FFFFFF"/>
                </a:highlight>
              </a:rPr>
              <a:t>並行推演多條邏輯分支後選優</a:t>
            </a:r>
            <a:r>
              <a:rPr lang="zh-TW" sz="1800">
                <a:solidFill>
                  <a:srgbClr val="1F2328"/>
                </a:solidFill>
                <a:highlight>
                  <a:srgbClr val="FFFFFF"/>
                </a:highlight>
              </a:rPr>
              <a:t>）。</a:t>
            </a:r>
            <a:endParaRPr sz="18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>
                <a:solidFill>
                  <a:srgbClr val="1F2328"/>
                </a:solidFill>
                <a:highlight>
                  <a:srgbClr val="FFFFFF"/>
                </a:highlight>
              </a:rPr>
              <a:t>這兩篇工作在可解釋性上取得顯著進展，並明確批評 CoT 等方法以「幻覺合理化」冒充忠實推理</a:t>
            </a:r>
            <a:r>
              <a:rPr lang="zh-TW" sz="1800">
                <a:solidFill>
                  <a:srgbClr val="1F2328"/>
                </a:solidFill>
                <a:highlight>
                  <a:srgbClr val="FFFFFF"/>
                </a:highlight>
              </a:rPr>
              <a:t>。然而，其表現的前提假設始終未能突破：</a:t>
            </a:r>
            <a:r>
              <a:rPr lang="zh-TW" sz="1800" b="1">
                <a:solidFill>
                  <a:srgbClr val="DC2626"/>
                </a:solidFill>
                <a:highlight>
                  <a:srgbClr val="FFFFFF"/>
                </a:highlight>
              </a:rPr>
              <a:t>所有必備前提、規則與干擾項必須事先完整封裝在 Context 中(我們做不到！)</a:t>
            </a:r>
            <a:r>
              <a:rPr lang="zh-TW" sz="1800">
                <a:solidFill>
                  <a:srgbClr val="DC2626"/>
                </a:solidFill>
                <a:highlight>
                  <a:srgbClr val="FFFFFF"/>
                </a:highlight>
              </a:rPr>
              <a:t>。</a:t>
            </a:r>
            <a:r>
              <a:rPr lang="zh-TW" sz="1800">
                <a:solidFill>
                  <a:srgbClr val="1F2328"/>
                </a:solidFill>
                <a:highlight>
                  <a:srgbClr val="FFFFFF"/>
                </a:highlight>
              </a:rPr>
              <a:t>一旦需要外部檢索，Selection 模組若抓取錯誤的前提，後續推論無論邏輯多完美，皆只是在錯誤的基礎上進行華麗的推導。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ec78014f78_0_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子路線2 : 形式求解器路線</a:t>
            </a:r>
            <a:endParaRPr/>
          </a:p>
        </p:txBody>
      </p:sp>
      <p:sp>
        <p:nvSpPr>
          <p:cNvPr id="426" name="Google Shape;426;g3ec78014f78_0_31"/>
          <p:cNvSpPr txBox="1">
            <a:spLocks noGrp="1"/>
          </p:cNvSpPr>
          <p:nvPr>
            <p:ph type="body" idx="1"/>
          </p:nvPr>
        </p:nvSpPr>
        <p:spPr>
          <a:xfrm>
            <a:off x="669300" y="1017725"/>
            <a:ext cx="7805400" cy="34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Logic-LM (Pan et al., 2023) 讓 LLM 將題目翻譯成 ASP，交由 Clingo 這類確定性 Symbolic Solver 驗證。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LINC (Olausson et al., EMNLP 2023) 嘗試映射至一階邏輯（FOL），</a:t>
            </a:r>
            <a:r>
              <a:rPr lang="zh-TW" b="1" dirty="0">
                <a:solidFill>
                  <a:srgbClr val="FA8B10"/>
                </a:solidFill>
              </a:rPr>
              <a:t>但其錯誤分析明確指出模型頻繁出現語法錯誤與語意偏移（Semantic Drift）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SATLM (Ye et al., NeurIPS 2023) 改採宣告式路線，讓 LLM 只生成 Z3 SMT Solver 的約束式而非直接解題，</a:t>
            </a:r>
            <a:r>
              <a:rPr lang="zh-TW" b="1" dirty="0"/>
              <a:t>但仍高度依賴特化 Few-shot Prompt 才能驅動</a:t>
            </a:r>
            <a:r>
              <a:rPr lang="zh-TW" dirty="0"/>
              <a:t>，且剛性的 SMT Solver</a:t>
            </a:r>
            <a:r>
              <a:rPr lang="zh-TW" b="1" dirty="0"/>
              <a:t> 對自然語言中的雜訊零容忍</a:t>
            </a:r>
            <a:r>
              <a:rPr lang="zh-TW" dirty="0"/>
              <a:t>，一個符號錯誤即導致 UNSAT 或 Crash，且架構為單向 Parse→Solve，無自我修正機制。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Logic-LM 即使加上自我修正模組，在複雜邏輯資料集（AR-LSAT）上的準確率仍僅達 43.04%。VERAFI 則在失去翻譯精度後退而求其次，改採「軟約束」（之前提到的只是把約束放在prompt裡面祈禱ai會去主動注意到），形式保證大幅削弱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ec78014f78_0_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翻譯行為的根本極限</a:t>
            </a:r>
            <a:endParaRPr/>
          </a:p>
        </p:txBody>
      </p:sp>
      <p:sp>
        <p:nvSpPr>
          <p:cNvPr id="432" name="Google Shape;432;g3ec78014f78_0_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最新的 FormalJudge (Zhou et al., arXiv 2026, under review) 在其系統的限制分析中指出：</a:t>
            </a:r>
            <a:r>
              <a:rPr lang="zh-TW" b="1"/>
              <a:t>將自然語言需求翻譯為形式化規範，在一般情況下是一個「不可解的問題（undecidable problem）」</a:t>
            </a:r>
            <a:r>
              <a:rPr lang="zh-TW"/>
              <a:t>，</a:t>
            </a:r>
            <a:r>
              <a:rPr lang="zh-TW" b="1"/>
              <a:t>並將此現象命名為「規格合成瓶頸（specification synthesis bottleneck）」</a:t>
            </a:r>
            <a:r>
              <a:rPr lang="zh-TW"/>
              <a:t>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即便 FORMAL JUDGE 採用雙向架構——將使用者意圖分解為原子級「是/否」問題後由 Z3 組合——其失敗案例分析仍顯示：剩餘錯誤主要集中於意圖分解與語意提取這兩個翻譯環節，並結論</a:t>
            </a:r>
            <a:r>
              <a:rPr lang="zh-TW" b="1"/>
              <a:t>「這是一個單靠形式化驗證也無法解決的問題」</a:t>
            </a:r>
            <a:r>
              <a:rPr lang="zh-TW"/>
              <a:t>。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ec78014f78_0_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Multi-Agent Systems 與 Self-Reflection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g3ec78014f78_0_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/>
              <a:t>以 multi-agent 協作或 self-reflection 提升可靠性是目前金融 agent 最常見的商業路線（ToT, Self-Refine, Reflexion）</a:t>
            </a:r>
            <a:r>
              <a:rPr lang="zh-TW"/>
              <a:t>。然而這條路線在 faithfulness 上存在本質缺陷：</a:t>
            </a:r>
            <a:r>
              <a:rPr lang="zh-TW" b="1">
                <a:solidFill>
                  <a:srgbClr val="DC2626"/>
                </a:solidFill>
              </a:rPr>
              <a:t>CoT 與自我驗證的本質是「因果脫節（Causal Disconnect）的事後合理化」——LLM 宣稱已完成驗證，實際上是根據最終答案反向生成了一段看起來合理的推理軌跡</a:t>
            </a:r>
            <a:r>
              <a:rPr lang="zh-TW"/>
              <a:t>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在 multi-agent 架構中，這一問題被放大為 theory-of-mind failure：Why Multi-Agent LLM Systems Fail (Cemri et al., ICLR 2026) 指出，MAS 最常見的失敗模式在於 agent 之間假設彼此理解，但對共享狀態的詮釋存在分歧，導致錯誤在 agent 邊界處被靜默傳遞而非攔截。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ec78014f78_0_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g3ec78014f78_0_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earmint [1776271029141]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3680</Words>
  <Application>Microsoft Macintosh PowerPoint</Application>
  <PresentationFormat>On-screen Show (16:9)</PresentationFormat>
  <Paragraphs>286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Proxima Nova</vt:lpstr>
      <vt:lpstr>Arial</vt:lpstr>
      <vt:lpstr>Spearmint [1776271029141]</vt:lpstr>
      <vt:lpstr>VerifiQuant 合約驗證式金融推理Agent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Demo：讓合規變得一目了然</vt:lpstr>
      <vt:lpstr>附錄</vt:lpstr>
      <vt:lpstr>CoT 的 Faithfulness 危機，導致AI的trace無法復現+虛假信心</vt:lpstr>
      <vt:lpstr>PowerPoint Presentation</vt:lpstr>
      <vt:lpstr>核心設計：分類漏斗（Diagnostic Funnel）錯誤類型說明</vt:lpstr>
      <vt:lpstr>I類檢測成功且重要範例 1  :TRIN公式</vt:lpstr>
      <vt:lpstr>I類檢測成功且重要範例 2 :公式歧義</vt:lpstr>
      <vt:lpstr>PowerPoint Presentation</vt:lpstr>
      <vt:lpstr>CoT 的 faithfulness 進一步討論，看怎麼毒害結果</vt:lpstr>
      <vt:lpstr>現有解法的光譜與缺口 </vt:lpstr>
      <vt:lpstr>最常被討論的一點是方法(b)符號求解器路線</vt:lpstr>
      <vt:lpstr>子路線1: 模組化推理 - DeepMind</vt:lpstr>
      <vt:lpstr>子路線2 : 形式求解器路線</vt:lpstr>
      <vt:lpstr>翻譯行為的根本極限</vt:lpstr>
      <vt:lpstr>Multi-Agent Systems 與 Self-Reflection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宥圻 柯</cp:lastModifiedBy>
  <cp:revision>1</cp:revision>
  <dcterms:modified xsi:type="dcterms:W3CDTF">2026-06-17T07:30:35Z</dcterms:modified>
</cp:coreProperties>
</file>
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76" r:id="rId3"/>
    <p:sldId id="277" r:id="rId4"/>
    <p:sldId id="283" r:id="rId5"/>
    <p:sldId id="278" r:id="rId6"/>
    <p:sldId id="279" r:id="rId7"/>
    <p:sldId id="280" r:id="rId8"/>
    <p:sldId id="281" r:id="rId9"/>
    <p:sldId id="268" r:id="rId10"/>
    <p:sldId id="282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9" r:id="rId23"/>
    <p:sldId id="270" r:id="rId24"/>
    <p:sldId id="271" r:id="rId25"/>
    <p:sldId id="272" r:id="rId26"/>
    <p:sldId id="273" r:id="rId27"/>
    <p:sldId id="275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4" roundtripDataSignature="AMtx7mjKerX3AtYbAGjfoqCL1EbmLmhL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4"/>
  </p:normalViewPr>
  <p:slideViewPr>
    <p:cSldViewPr snapToGrid="0">
      <p:cViewPr>
        <p:scale>
          <a:sx n="115" d="100"/>
          <a:sy n="115" d="100"/>
        </p:scale>
        <p:origin x="1664" y="6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6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64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ec9f0cfbb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ec9f0cfbb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6bdba2b7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6bdba2b7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6bdba2b7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6bdba2b7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6bdba2b7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6bdba2b7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到這裡1:30~1:40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6bdba2b79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6bdba2b79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2:00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30秒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30秒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2:30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3:30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30秒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到這裡壓在五分鐘內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到這裡6:30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ec9f0cfbb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dec9f0cfbb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30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30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3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7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3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37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9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39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ctrTitle"/>
          </p:nvPr>
        </p:nvSpPr>
        <p:spPr>
          <a:xfrm>
            <a:off x="510449" y="1360448"/>
            <a:ext cx="5701073" cy="136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zh-TW" sz="3600" b="1">
                <a:solidFill>
                  <a:schemeClr val="lt2"/>
                </a:solidFill>
              </a:rPr>
              <a:t>VerifiQuant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800"/>
              <a:buNone/>
            </a:pPr>
            <a:r>
              <a:rPr lang="zh-TW" sz="2400">
                <a:solidFill>
                  <a:schemeClr val="lt2"/>
                </a:solidFill>
              </a:rPr>
              <a:t>合約驗證式金融推理Agent</a:t>
            </a:r>
            <a:endParaRPr sz="2400"/>
          </a:p>
        </p:txBody>
      </p:sp>
      <p:sp>
        <p:nvSpPr>
          <p:cNvPr id="60" name="Google Shape;60;p1"/>
          <p:cNvSpPr txBox="1">
            <a:spLocks noGrp="1"/>
          </p:cNvSpPr>
          <p:nvPr>
            <p:ph type="subTitle" idx="1"/>
          </p:nvPr>
        </p:nvSpPr>
        <p:spPr>
          <a:xfrm>
            <a:off x="510450" y="3182341"/>
            <a:ext cx="8123100" cy="14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zh-TW">
                <a:solidFill>
                  <a:schemeClr val="lt2"/>
                </a:solidFill>
              </a:rPr>
              <a:t>r14946005　資科碩一　柯宥圻　｜　研究進度報告</a:t>
            </a:r>
            <a:endParaRPr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zh-TW">
                <a:solidFill>
                  <a:schemeClr val="lt2"/>
                </a:solidFill>
              </a:rPr>
              <a:t>AI trading team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03CB45-EBFB-EC3A-F322-8FFF08CF9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492"/>
            <a:ext cx="9665446" cy="51859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8EEF9A-9FF2-746C-A834-4B3311A50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2492"/>
            <a:ext cx="9665446" cy="53946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025"/>
    </mc:Choice>
    <mc:Fallback>
      <p:transition spd="slow" advTm="2802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DF0F0D06-EB01-FF49-A957-1CBEB93F546A}"/>
              </a:ext>
            </a:extLst>
          </p:cNvPr>
          <p:cNvSpPr txBox="1"/>
          <p:nvPr/>
        </p:nvSpPr>
        <p:spPr>
          <a:xfrm>
            <a:off x="406400" y="228600"/>
            <a:ext cx="83312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202729"/>
                </a:solidFill>
              </a:rPr>
              <a:t>AI </a:t>
            </a:r>
            <a:r>
              <a:rPr lang="ja-JP" altLang="en-US" sz="2600" b="1">
                <a:solidFill>
                  <a:srgbClr val="202729"/>
                </a:solidFill>
              </a:rPr>
              <a:t>的生產力幻覺</a:t>
            </a:r>
            <a:endParaRPr lang="en-TW" sz="2600" b="1">
              <a:solidFill>
                <a:srgbClr val="202729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03D75D-802C-AB40-AFE5-8F08734B86EC}"/>
              </a:ext>
            </a:extLst>
          </p:cNvPr>
          <p:cNvSpPr/>
          <p:nvPr/>
        </p:nvSpPr>
        <p:spPr>
          <a:xfrm>
            <a:off x="406400" y="736600"/>
            <a:ext cx="711200" cy="508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C0DE4E3-CF70-B946-9821-91CEA3A8B431}"/>
              </a:ext>
            </a:extLst>
          </p:cNvPr>
          <p:cNvSpPr/>
          <p:nvPr/>
        </p:nvSpPr>
        <p:spPr>
          <a:xfrm>
            <a:off x="406400" y="914400"/>
            <a:ext cx="4724400" cy="3784600"/>
          </a:xfrm>
          <a:prstGeom prst="roundRect">
            <a:avLst/>
          </a:prstGeom>
          <a:solidFill>
            <a:srgbClr val="2027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D908B7-F646-394C-9B6A-30104E97636F}"/>
              </a:ext>
            </a:extLst>
          </p:cNvPr>
          <p:cNvSpPr txBox="1"/>
          <p:nvPr/>
        </p:nvSpPr>
        <p:spPr>
          <a:xfrm>
            <a:off x="660400" y="10414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 b="1">
                <a:solidFill>
                  <a:srgbClr val="63D297"/>
                </a:solidFill>
              </a:rPr>
              <a:t>真實案例</a:t>
            </a:r>
            <a:endParaRPr lang="en-TW" sz="1300" b="1">
              <a:solidFill>
                <a:srgbClr val="63D297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7513C8-3484-1946-999C-48859D4AECA9}"/>
              </a:ext>
            </a:extLst>
          </p:cNvPr>
          <p:cNvSpPr txBox="1"/>
          <p:nvPr/>
        </p:nvSpPr>
        <p:spPr>
          <a:xfrm>
            <a:off x="660400" y="1295400"/>
            <a:ext cx="42164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Dustin</a:t>
            </a:r>
            <a:r>
              <a:rPr lang="zh-TW" altLang="en-US" sz="2400" b="1" dirty="0">
                <a:solidFill>
                  <a:srgbClr val="FFFFFF"/>
                </a:solidFill>
              </a:rPr>
              <a:t> （台大財金同學）</a:t>
            </a:r>
            <a:endParaRPr lang="en-TW" sz="2400" b="1" dirty="0">
              <a:solidFill>
                <a:srgbClr val="FFFF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9AA657-FAB5-0A48-84EC-C8531D115102}"/>
              </a:ext>
            </a:extLst>
          </p:cNvPr>
          <p:cNvSpPr txBox="1"/>
          <p:nvPr/>
        </p:nvSpPr>
        <p:spPr>
          <a:xfrm>
            <a:off x="660400" y="1727200"/>
            <a:ext cx="421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63D297"/>
                </a:solidFill>
              </a:rPr>
              <a:t>J.P. Morgan </a:t>
            </a:r>
            <a:r>
              <a:rPr lang="ja-JP" altLang="en-US">
                <a:solidFill>
                  <a:srgbClr val="63D297"/>
                </a:solidFill>
              </a:rPr>
              <a:t>投行分析師</a:t>
            </a:r>
            <a:endParaRPr lang="en-TW">
              <a:solidFill>
                <a:srgbClr val="63D297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1C1FCD-E363-BC41-8673-92C8DD561C7B}"/>
              </a:ext>
            </a:extLst>
          </p:cNvPr>
          <p:cNvSpPr txBox="1"/>
          <p:nvPr/>
        </p:nvSpPr>
        <p:spPr>
          <a:xfrm>
            <a:off x="660400" y="2140131"/>
            <a:ext cx="4267200" cy="157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ja-JP" sz="1600" dirty="0">
                <a:solidFill>
                  <a:srgbClr val="FFFFFF"/>
                </a:solidFill>
              </a:rPr>
              <a:t>•  </a:t>
            </a:r>
            <a:r>
              <a:rPr lang="ja-JP" altLang="en-US" sz="1600">
                <a:solidFill>
                  <a:srgbClr val="FFFFFF"/>
                </a:solidFill>
              </a:rPr>
              <a:t>每週工時 </a:t>
            </a:r>
            <a:r>
              <a:rPr lang="en-US" altLang="ja-JP" sz="1600" dirty="0">
                <a:solidFill>
                  <a:srgbClr val="FFFFFF"/>
                </a:solidFill>
              </a:rPr>
              <a:t>80 </a:t>
            </a:r>
            <a:r>
              <a:rPr lang="ja-JP" altLang="en-US" sz="1600">
                <a:solidFill>
                  <a:srgbClr val="FFFFFF"/>
                </a:solidFill>
              </a:rPr>
              <a:t>小時
</a:t>
            </a:r>
            <a:r>
              <a:rPr lang="en-US" altLang="ja-JP" sz="1600" dirty="0">
                <a:solidFill>
                  <a:srgbClr val="FFFFFF"/>
                </a:solidFill>
              </a:rPr>
              <a:t>•  </a:t>
            </a:r>
            <a:r>
              <a:rPr lang="ja-JP" altLang="en-US" sz="1600">
                <a:solidFill>
                  <a:srgbClr val="FFFFFF"/>
                </a:solidFill>
              </a:rPr>
              <a:t>肉眼從數百頁 </a:t>
            </a:r>
            <a:r>
              <a:rPr lang="en-US" sz="1600" dirty="0">
                <a:solidFill>
                  <a:srgbClr val="FFFFFF"/>
                </a:solidFill>
              </a:rPr>
              <a:t>PDF </a:t>
            </a:r>
            <a:r>
              <a:rPr lang="ja-JP" altLang="en-US" sz="1600">
                <a:solidFill>
                  <a:srgbClr val="FFFFFF"/>
                </a:solidFill>
              </a:rPr>
              <a:t>財報中找數字
</a:t>
            </a:r>
            <a:r>
              <a:rPr lang="en-US" altLang="ja-JP" sz="1600" dirty="0">
                <a:solidFill>
                  <a:srgbClr val="FFFFFF"/>
                </a:solidFill>
              </a:rPr>
              <a:t>•  </a:t>
            </a:r>
            <a:r>
              <a:rPr lang="ja-JP" altLang="en-US" sz="1600">
                <a:solidFill>
                  <a:srgbClr val="FFFFFF"/>
                </a:solidFill>
              </a:rPr>
              <a:t>手動貼進 </a:t>
            </a:r>
            <a:r>
              <a:rPr lang="en-US" sz="1600" dirty="0">
                <a:solidFill>
                  <a:srgbClr val="FFFFFF"/>
                </a:solidFill>
              </a:rPr>
              <a:t>Excel </a:t>
            </a:r>
            <a:r>
              <a:rPr lang="ja-JP" altLang="en-US" sz="1600">
                <a:solidFill>
                  <a:srgbClr val="FFFFFF"/>
                </a:solidFill>
              </a:rPr>
              <a:t>反覆驗證
</a:t>
            </a:r>
            <a:r>
              <a:rPr lang="en-US" altLang="ja-JP" sz="1600" dirty="0">
                <a:solidFill>
                  <a:srgbClr val="FFFFFF"/>
                </a:solidFill>
              </a:rPr>
              <a:t>•  88% </a:t>
            </a:r>
            <a:r>
              <a:rPr lang="ja-JP" altLang="en-US" sz="1600">
                <a:solidFill>
                  <a:srgbClr val="FFFFFF"/>
                </a:solidFill>
              </a:rPr>
              <a:t>的試算表腳本隱藏人為錯誤</a:t>
            </a:r>
            <a:endParaRPr lang="en-TW" sz="1600" dirty="0">
              <a:solidFill>
                <a:srgbClr val="FFFFFF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534950-9187-2D43-B274-5C258D48F024}"/>
              </a:ext>
            </a:extLst>
          </p:cNvPr>
          <p:cNvSpPr txBox="1"/>
          <p:nvPr/>
        </p:nvSpPr>
        <p:spPr>
          <a:xfrm>
            <a:off x="660400" y="3810000"/>
            <a:ext cx="42672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600" b="1" i="1">
                <a:solidFill>
                  <a:srgbClr val="63D297"/>
                </a:solidFill>
              </a:rPr>
              <a:t>「我寧可自己算，也絕對不敢用 </a:t>
            </a:r>
            <a:r>
              <a:rPr lang="en-US" sz="1600" b="1" i="1">
                <a:solidFill>
                  <a:srgbClr val="63D297"/>
                </a:solidFill>
              </a:rPr>
              <a:t>AI。」</a:t>
            </a:r>
            <a:endParaRPr lang="en-TW" sz="1600" b="1" i="1">
              <a:solidFill>
                <a:srgbClr val="63D297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7AEFD0-6559-BE4F-9FEC-84F7D59B9A5E}"/>
              </a:ext>
            </a:extLst>
          </p:cNvPr>
          <p:cNvSpPr txBox="1"/>
          <p:nvPr/>
        </p:nvSpPr>
        <p:spPr>
          <a:xfrm>
            <a:off x="5486400" y="1041400"/>
            <a:ext cx="3251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202729"/>
                </a:solidFill>
              </a:rPr>
              <a:t>KPMG </a:t>
            </a:r>
            <a:r>
              <a:rPr lang="ja-JP" altLang="en-US" sz="1500" b="1">
                <a:solidFill>
                  <a:srgbClr val="202729"/>
                </a:solidFill>
              </a:rPr>
              <a:t>全球調查</a:t>
            </a:r>
            <a:endParaRPr lang="en-TW" sz="1500" b="1">
              <a:solidFill>
                <a:srgbClr val="202729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C7C234-0C3E-264A-9303-3EB8AFBF60B8}"/>
              </a:ext>
            </a:extLst>
          </p:cNvPr>
          <p:cNvSpPr txBox="1"/>
          <p:nvPr/>
        </p:nvSpPr>
        <p:spPr>
          <a:xfrm>
            <a:off x="5486400" y="1346200"/>
            <a:ext cx="32512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4800" b="1">
                <a:solidFill>
                  <a:srgbClr val="4BA173"/>
                </a:solidFill>
              </a:rPr>
              <a:t>74%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3BD69-B916-064A-B6E9-7396AD0CE371}"/>
              </a:ext>
            </a:extLst>
          </p:cNvPr>
          <p:cNvSpPr txBox="1"/>
          <p:nvPr/>
        </p:nvSpPr>
        <p:spPr>
          <a:xfrm>
            <a:off x="5486400" y="2108200"/>
            <a:ext cx="3251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>
                <a:solidFill>
                  <a:srgbClr val="202729"/>
                </a:solidFill>
              </a:rPr>
              <a:t>對導入 </a:t>
            </a:r>
            <a:r>
              <a:rPr lang="en-US">
                <a:solidFill>
                  <a:srgbClr val="202729"/>
                </a:solidFill>
              </a:rPr>
              <a:t>AI </a:t>
            </a:r>
            <a:r>
              <a:rPr lang="ja-JP" altLang="en-US">
                <a:solidFill>
                  <a:srgbClr val="202729"/>
                </a:solidFill>
              </a:rPr>
              <a:t>的高度關注</a:t>
            </a:r>
            <a:endParaRPr lang="en-TW">
              <a:solidFill>
                <a:srgbClr val="202729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E8DE59-E582-BA45-BEBC-F298DF723FF9}"/>
              </a:ext>
            </a:extLst>
          </p:cNvPr>
          <p:cNvSpPr txBox="1"/>
          <p:nvPr/>
        </p:nvSpPr>
        <p:spPr>
          <a:xfrm>
            <a:off x="5486400" y="2514600"/>
            <a:ext cx="32512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4800" b="1">
                <a:solidFill>
                  <a:srgbClr val="FF5252"/>
                </a:solidFill>
              </a:rPr>
              <a:t>11%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BDA7D3-A70E-3843-A999-A4F582C761ED}"/>
              </a:ext>
            </a:extLst>
          </p:cNvPr>
          <p:cNvSpPr txBox="1"/>
          <p:nvPr/>
        </p:nvSpPr>
        <p:spPr>
          <a:xfrm>
            <a:off x="5486400" y="3276600"/>
            <a:ext cx="3251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>
                <a:solidFill>
                  <a:srgbClr val="202729"/>
                </a:solidFill>
              </a:rPr>
              <a:t>真正投入生產部署</a:t>
            </a:r>
            <a:endParaRPr lang="en-TW">
              <a:solidFill>
                <a:srgbClr val="202729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59AC1DF-0F3B-6644-B2D3-D1916CE8BC0F}"/>
              </a:ext>
            </a:extLst>
          </p:cNvPr>
          <p:cNvSpPr/>
          <p:nvPr/>
        </p:nvSpPr>
        <p:spPr>
          <a:xfrm>
            <a:off x="5486400" y="3733800"/>
            <a:ext cx="3251200" cy="25400"/>
          </a:xfrm>
          <a:prstGeom prst="rect">
            <a:avLst/>
          </a:prstGeom>
          <a:solidFill>
            <a:srgbClr val="4BA17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B1A1D6-8825-7F4F-8FE1-4317E259148A}"/>
              </a:ext>
            </a:extLst>
          </p:cNvPr>
          <p:cNvSpPr txBox="1"/>
          <p:nvPr/>
        </p:nvSpPr>
        <p:spPr>
          <a:xfrm>
            <a:off x="5486400" y="3835400"/>
            <a:ext cx="32512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 i="1">
                <a:solidFill>
                  <a:srgbClr val="202729"/>
                </a:solidFill>
              </a:rPr>
              <a:t>「人人都渴望 </a:t>
            </a:r>
            <a:r>
              <a:rPr lang="en-US" sz="1300" i="1">
                <a:solidFill>
                  <a:srgbClr val="202729"/>
                </a:solidFill>
              </a:rPr>
              <a:t>AI </a:t>
            </a:r>
            <a:r>
              <a:rPr lang="ja-JP" altLang="en-US" sz="1300" i="1">
                <a:solidFill>
                  <a:srgbClr val="202729"/>
                </a:solidFill>
              </a:rPr>
              <a:t>的效率，卻沒人敢承擔 </a:t>
            </a:r>
            <a:r>
              <a:rPr lang="en-US" sz="1300" i="1">
                <a:solidFill>
                  <a:srgbClr val="202729"/>
                </a:solidFill>
              </a:rPr>
              <a:t>AI </a:t>
            </a:r>
            <a:r>
              <a:rPr lang="ja-JP" altLang="en-US" sz="1300" i="1">
                <a:solidFill>
                  <a:srgbClr val="202729"/>
                </a:solidFill>
              </a:rPr>
              <a:t>幻覺的代價。」</a:t>
            </a:r>
            <a:endParaRPr lang="en-TW" sz="1300" i="1">
              <a:solidFill>
                <a:srgbClr val="202729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2D3093-D650-F740-8CDC-83FB50FFA23C}"/>
              </a:ext>
            </a:extLst>
          </p:cNvPr>
          <p:cNvSpPr/>
          <p:nvPr/>
        </p:nvSpPr>
        <p:spPr>
          <a:xfrm>
            <a:off x="0" y="4978400"/>
            <a:ext cx="9144000" cy="762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32401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50C1AF-0937-F649-90D7-51DB1AE7653D}"/>
              </a:ext>
            </a:extLst>
          </p:cNvPr>
          <p:cNvSpPr txBox="1"/>
          <p:nvPr/>
        </p:nvSpPr>
        <p:spPr>
          <a:xfrm>
            <a:off x="406400" y="228600"/>
            <a:ext cx="83312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202729"/>
                </a:solidFill>
              </a:rPr>
              <a:t>「AI </a:t>
            </a:r>
            <a:r>
              <a:rPr lang="ja-JP" altLang="en-US" sz="2600" b="1">
                <a:solidFill>
                  <a:srgbClr val="202729"/>
                </a:solidFill>
              </a:rPr>
              <a:t>馬屁精」與致命的靜默錯誤</a:t>
            </a:r>
            <a:endParaRPr lang="en-TW" sz="2600" b="1">
              <a:solidFill>
                <a:srgbClr val="202729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EEEEF-0044-444E-B537-892C9A704F11}"/>
              </a:ext>
            </a:extLst>
          </p:cNvPr>
          <p:cNvSpPr/>
          <p:nvPr/>
        </p:nvSpPr>
        <p:spPr>
          <a:xfrm>
            <a:off x="406400" y="736600"/>
            <a:ext cx="711200" cy="508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B3FBD22-A8C5-214C-9BC1-26BFA52A9BF1}"/>
              </a:ext>
            </a:extLst>
          </p:cNvPr>
          <p:cNvSpPr/>
          <p:nvPr/>
        </p:nvSpPr>
        <p:spPr>
          <a:xfrm>
            <a:off x="406400" y="889000"/>
            <a:ext cx="8331200" cy="838200"/>
          </a:xfrm>
          <a:prstGeom prst="roundRect">
            <a:avLst/>
          </a:prstGeom>
          <a:solidFill>
            <a:srgbClr val="2027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16D5F-F2E4-9440-B69B-0F369AC44CF5}"/>
              </a:ext>
            </a:extLst>
          </p:cNvPr>
          <p:cNvSpPr txBox="1"/>
          <p:nvPr/>
        </p:nvSpPr>
        <p:spPr>
          <a:xfrm>
            <a:off x="780506" y="949960"/>
            <a:ext cx="1905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4000" b="1" dirty="0">
                <a:solidFill>
                  <a:srgbClr val="FF5252"/>
                </a:solidFill>
              </a:rPr>
              <a:t>10%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6DD5F-8DBC-934F-88F6-FFFCF79FD439}"/>
              </a:ext>
            </a:extLst>
          </p:cNvPr>
          <p:cNvSpPr txBox="1"/>
          <p:nvPr/>
        </p:nvSpPr>
        <p:spPr>
          <a:xfrm>
            <a:off x="1860006" y="1280160"/>
            <a:ext cx="2032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</a:rPr>
              <a:t>AI </a:t>
            </a:r>
            <a:r>
              <a:rPr lang="ja-JP" altLang="en-US" sz="1200">
                <a:solidFill>
                  <a:srgbClr val="FFFFFF"/>
                </a:solidFill>
              </a:rPr>
              <a:t>隨機靜默出錯</a:t>
            </a:r>
            <a:endParaRPr lang="en-TW" sz="120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D4228-B29E-F44D-8C62-BA694DEF5124}"/>
              </a:ext>
            </a:extLst>
          </p:cNvPr>
          <p:cNvSpPr txBox="1"/>
          <p:nvPr/>
        </p:nvSpPr>
        <p:spPr>
          <a:xfrm>
            <a:off x="3780065" y="1003300"/>
            <a:ext cx="762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3800" b="1" dirty="0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16633-6835-6C42-A33F-86F55C88F5C2}"/>
              </a:ext>
            </a:extLst>
          </p:cNvPr>
          <p:cNvSpPr txBox="1"/>
          <p:nvPr/>
        </p:nvSpPr>
        <p:spPr>
          <a:xfrm>
            <a:off x="4899480" y="941977"/>
            <a:ext cx="254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4000" b="1" dirty="0">
                <a:solidFill>
                  <a:srgbClr val="63D297"/>
                </a:solidFill>
              </a:rPr>
              <a:t>100%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ABE01-878F-3A4D-9607-EFFA059BD9A5}"/>
              </a:ext>
            </a:extLst>
          </p:cNvPr>
          <p:cNvSpPr txBox="1"/>
          <p:nvPr/>
        </p:nvSpPr>
        <p:spPr>
          <a:xfrm>
            <a:off x="6268722" y="1284877"/>
            <a:ext cx="3048000" cy="177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00">
                <a:solidFill>
                  <a:srgbClr val="FFFFFF"/>
                </a:solidFill>
              </a:rPr>
              <a:t>題目須全部人工重查</a:t>
            </a:r>
            <a:endParaRPr lang="en-TW" sz="1200" dirty="0">
              <a:solidFill>
                <a:srgbClr val="FFFFFF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476C03-768E-E444-8D4C-A4CE66643EDB}"/>
              </a:ext>
            </a:extLst>
          </p:cNvPr>
          <p:cNvSpPr/>
          <p:nvPr/>
        </p:nvSpPr>
        <p:spPr>
          <a:xfrm>
            <a:off x="406400" y="1905000"/>
            <a:ext cx="4064000" cy="2971800"/>
          </a:xfrm>
          <a:prstGeom prst="roundRect">
            <a:avLst/>
          </a:prstGeom>
          <a:solidFill>
            <a:srgbClr val="2027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C61957-7EF7-564D-A448-B563699353C0}"/>
              </a:ext>
            </a:extLst>
          </p:cNvPr>
          <p:cNvSpPr/>
          <p:nvPr/>
        </p:nvSpPr>
        <p:spPr>
          <a:xfrm>
            <a:off x="660400" y="2082800"/>
            <a:ext cx="2921000" cy="330200"/>
          </a:xfrm>
          <a:prstGeom prst="rect">
            <a:avLst/>
          </a:prstGeom>
          <a:solidFill>
            <a:srgbClr val="FF525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SILENT FAILURE </a:t>
            </a:r>
            <a:r>
              <a:rPr lang="ja-JP" altLang="en-US" sz="1300" b="1">
                <a:solidFill>
                  <a:srgbClr val="FFFFFF"/>
                </a:solidFill>
                <a:latin typeface="Arial"/>
                <a:cs typeface="Arial"/>
              </a:rPr>
              <a:t>靜默錯誤</a:t>
            </a:r>
            <a:endParaRPr lang="en-TW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EFF9B4-4C62-C047-AAA1-1EA9C1F0366D}"/>
              </a:ext>
            </a:extLst>
          </p:cNvPr>
          <p:cNvSpPr txBox="1"/>
          <p:nvPr/>
        </p:nvSpPr>
        <p:spPr>
          <a:xfrm>
            <a:off x="660400" y="2540000"/>
            <a:ext cx="3606800" cy="2235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</a:rPr>
              <a:t>AI </a:t>
            </a:r>
            <a:r>
              <a:rPr lang="ja-JP" altLang="en-US" sz="1600">
                <a:solidFill>
                  <a:srgbClr val="FFFFFF"/>
                </a:solidFill>
              </a:rPr>
              <a:t>遇到沒有明文規定的模糊地帶（如現金流屬期初或期末）時</a:t>
            </a:r>
            <a:r>
              <a:rPr lang="en-US" altLang="ja-JP" sz="1600" dirty="0">
                <a:solidFill>
                  <a:srgbClr val="FFFFFF"/>
                </a:solidFill>
              </a:rPr>
              <a:t>:</a:t>
            </a:r>
          </a:p>
          <a:p>
            <a:pPr algn="l"/>
            <a:r>
              <a:rPr lang="ja-JP" altLang="en-US" sz="1600">
                <a:solidFill>
                  <a:srgbClr val="FFFFFF"/>
                </a:solidFill>
              </a:rPr>
              <a:t>為了討好你、急著給答案，會「假裝自己懂」，替你預設條件，再極度自信地給出落差數百萬美元的錯誤數字。</a:t>
            </a:r>
            <a:endParaRPr lang="en-US" altLang="ja-JP" sz="1600" dirty="0">
              <a:solidFill>
                <a:srgbClr val="FFFFFF"/>
              </a:solidFill>
            </a:endParaRPr>
          </a:p>
          <a:p>
            <a:pPr algn="l"/>
            <a:endParaRPr lang="en-US" sz="1600" dirty="0">
              <a:solidFill>
                <a:srgbClr val="FFFFFF"/>
              </a:solidFill>
            </a:endParaRPr>
          </a:p>
          <a:p>
            <a:pPr algn="l"/>
            <a:r>
              <a:rPr lang="ja-JP" altLang="en-US" sz="1600">
                <a:solidFill>
                  <a:srgbClr val="FFFFFF"/>
                </a:solidFill>
              </a:rPr>
              <a:t>多篇論文指出：從</a:t>
            </a:r>
            <a:r>
              <a:rPr lang="en-US" altLang="ja-JP" sz="1600" dirty="0" err="1">
                <a:solidFill>
                  <a:srgbClr val="FFFFFF"/>
                </a:solidFill>
              </a:rPr>
              <a:t>CoT</a:t>
            </a:r>
            <a:r>
              <a:rPr lang="ja-JP" altLang="en-US" sz="1600">
                <a:solidFill>
                  <a:srgbClr val="FFFFFF"/>
                </a:solidFill>
              </a:rPr>
              <a:t>到</a:t>
            </a:r>
            <a:r>
              <a:rPr lang="en-US" altLang="ja-JP" sz="1600" dirty="0">
                <a:solidFill>
                  <a:srgbClr val="FFFFFF"/>
                </a:solidFill>
              </a:rPr>
              <a:t>Multi-Agent, </a:t>
            </a:r>
            <a:r>
              <a:rPr lang="ja-JP" altLang="en-US" sz="1600">
                <a:solidFill>
                  <a:srgbClr val="FFFFFF"/>
                </a:solidFill>
              </a:rPr>
              <a:t>模型往往會「掩蓋真正的錯誤原因」。</a:t>
            </a:r>
            <a:endParaRPr lang="en-TW" sz="1600" dirty="0">
              <a:solidFill>
                <a:srgbClr val="FFFFFF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4D305B4-FD2A-7445-9B7F-A2E623B9CE9B}"/>
              </a:ext>
            </a:extLst>
          </p:cNvPr>
          <p:cNvSpPr/>
          <p:nvPr/>
        </p:nvSpPr>
        <p:spPr>
          <a:xfrm>
            <a:off x="4673600" y="1905000"/>
            <a:ext cx="4064000" cy="2971800"/>
          </a:xfrm>
          <a:prstGeom prst="roundRect">
            <a:avLst/>
          </a:prstGeom>
          <a:solidFill>
            <a:srgbClr val="EEF2F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79B58-1D89-A146-B0C1-7F490A27E73F}"/>
              </a:ext>
            </a:extLst>
          </p:cNvPr>
          <p:cNvSpPr txBox="1"/>
          <p:nvPr/>
        </p:nvSpPr>
        <p:spPr>
          <a:xfrm>
            <a:off x="4927600" y="2032000"/>
            <a:ext cx="3556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3800" b="1">
                <a:solidFill>
                  <a:srgbClr val="FF5252"/>
                </a:solidFill>
              </a:rPr>
              <a:t>23%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84595D-1B72-5A4D-BE6B-0F69E9EAA173}"/>
              </a:ext>
            </a:extLst>
          </p:cNvPr>
          <p:cNvSpPr txBox="1"/>
          <p:nvPr/>
        </p:nvSpPr>
        <p:spPr>
          <a:xfrm>
            <a:off x="4927600" y="2616200"/>
            <a:ext cx="36068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202729"/>
                </a:solidFill>
              </a:rPr>
              <a:t>頂會論文指出：財金資料集本身就充滿歧義</a:t>
            </a:r>
            <a:endParaRPr lang="en-TW" sz="1300">
              <a:solidFill>
                <a:srgbClr val="202729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E212D4-C3C1-D440-8A90-CD634A900FEC}"/>
              </a:ext>
            </a:extLst>
          </p:cNvPr>
          <p:cNvSpPr/>
          <p:nvPr/>
        </p:nvSpPr>
        <p:spPr>
          <a:xfrm>
            <a:off x="4927600" y="3048000"/>
            <a:ext cx="3556000" cy="25400"/>
          </a:xfrm>
          <a:prstGeom prst="rect">
            <a:avLst/>
          </a:prstGeom>
          <a:solidFill>
            <a:srgbClr val="4BA17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86B1B5-3284-3D49-B6F6-04433DE18ED3}"/>
              </a:ext>
            </a:extLst>
          </p:cNvPr>
          <p:cNvSpPr txBox="1"/>
          <p:nvPr/>
        </p:nvSpPr>
        <p:spPr>
          <a:xfrm>
            <a:off x="4927600" y="3149600"/>
            <a:ext cx="36068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202729"/>
                </a:solidFill>
              </a:rPr>
              <a:t>舉例：期初 </a:t>
            </a:r>
            <a:r>
              <a:rPr lang="en-US" sz="1500" b="1" dirty="0">
                <a:solidFill>
                  <a:srgbClr val="202729"/>
                </a:solidFill>
              </a:rPr>
              <a:t>vs </a:t>
            </a:r>
            <a:r>
              <a:rPr lang="ja-JP" altLang="en-US" sz="1500" b="1">
                <a:solidFill>
                  <a:srgbClr val="202729"/>
                </a:solidFill>
              </a:rPr>
              <a:t>期末付款：隱性共識</a:t>
            </a:r>
            <a:endParaRPr lang="en-TW" sz="1500" b="1" dirty="0">
              <a:solidFill>
                <a:srgbClr val="202729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87C3EE-D248-AD43-843D-ACF36F52B7CC}"/>
              </a:ext>
            </a:extLst>
          </p:cNvPr>
          <p:cNvSpPr txBox="1"/>
          <p:nvPr/>
        </p:nvSpPr>
        <p:spPr>
          <a:xfrm>
            <a:off x="4927600" y="3454400"/>
            <a:ext cx="36068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02729"/>
                </a:solidFill>
              </a:rPr>
              <a:t>雙方的默契往往不寫進白紙黑字，</a:t>
            </a:r>
            <a:r>
              <a:rPr lang="en-US" sz="1250" dirty="0">
                <a:solidFill>
                  <a:srgbClr val="202729"/>
                </a:solidFill>
              </a:rPr>
              <a:t>AI </a:t>
            </a:r>
            <a:r>
              <a:rPr lang="ja-JP" altLang="en-US" sz="1250">
                <a:solidFill>
                  <a:srgbClr val="202729"/>
                </a:solidFill>
              </a:rPr>
              <a:t>一旦自行預設和使用者假設不同的情況，即引發蝴蝶效應。</a:t>
            </a:r>
            <a:endParaRPr lang="en-TW" sz="1250" dirty="0">
              <a:solidFill>
                <a:srgbClr val="202729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9994F9-2708-E444-BD58-CB980DFA3BBA}"/>
              </a:ext>
            </a:extLst>
          </p:cNvPr>
          <p:cNvSpPr txBox="1"/>
          <p:nvPr/>
        </p:nvSpPr>
        <p:spPr>
          <a:xfrm>
            <a:off x="4724400" y="4061968"/>
            <a:ext cx="3810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800" b="1">
                <a:solidFill>
                  <a:srgbClr val="4BA173"/>
                </a:solidFill>
              </a:rPr>
              <a:t>「</a:t>
            </a:r>
            <a:r>
              <a:rPr lang="en-US" altLang="ja-JP" sz="1800" b="1" dirty="0">
                <a:solidFill>
                  <a:srgbClr val="4BA173"/>
                </a:solidFill>
              </a:rPr>
              <a:t>90% </a:t>
            </a:r>
            <a:r>
              <a:rPr lang="ja-JP" altLang="en-US" sz="1800" b="1">
                <a:solidFill>
                  <a:srgbClr val="4BA173"/>
                </a:solidFill>
              </a:rPr>
              <a:t>準確率」在金融業是假命題。</a:t>
            </a:r>
            <a:endParaRPr lang="en-US" altLang="ja-JP" sz="1800" b="1" dirty="0">
              <a:solidFill>
                <a:srgbClr val="4BA173"/>
              </a:solidFill>
            </a:endParaRPr>
          </a:p>
          <a:p>
            <a:pPr algn="l"/>
            <a:endParaRPr lang="en-TW" sz="1800" b="1" dirty="0">
              <a:solidFill>
                <a:srgbClr val="4BA173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E2995C-A380-854E-B667-A4181CC669ED}"/>
              </a:ext>
            </a:extLst>
          </p:cNvPr>
          <p:cNvSpPr/>
          <p:nvPr/>
        </p:nvSpPr>
        <p:spPr>
          <a:xfrm>
            <a:off x="0" y="4978400"/>
            <a:ext cx="9144000" cy="762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07145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7712F4E-1DDB-254E-B10E-5EAA2083C116}"/>
              </a:ext>
            </a:extLst>
          </p:cNvPr>
          <p:cNvSpPr txBox="1"/>
          <p:nvPr/>
        </p:nvSpPr>
        <p:spPr>
          <a:xfrm>
            <a:off x="406400" y="228600"/>
            <a:ext cx="83312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600" b="1">
                <a:solidFill>
                  <a:srgbClr val="202729"/>
                </a:solidFill>
              </a:rPr>
              <a:t>純粹 </a:t>
            </a:r>
            <a:r>
              <a:rPr lang="en-US" sz="2600" b="1">
                <a:solidFill>
                  <a:srgbClr val="202729"/>
                </a:solidFill>
              </a:rPr>
              <a:t>Prompt Engineering </a:t>
            </a:r>
            <a:r>
              <a:rPr lang="ja-JP" altLang="en-US" sz="2600" b="1">
                <a:solidFill>
                  <a:srgbClr val="202729"/>
                </a:solidFill>
              </a:rPr>
              <a:t>的三宗罪</a:t>
            </a:r>
            <a:endParaRPr lang="en-TW" sz="2600" b="1">
              <a:solidFill>
                <a:srgbClr val="20272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FEC3CE-7C58-8446-ACFE-A4534F0BC3C3}"/>
              </a:ext>
            </a:extLst>
          </p:cNvPr>
          <p:cNvSpPr/>
          <p:nvPr/>
        </p:nvSpPr>
        <p:spPr>
          <a:xfrm>
            <a:off x="406400" y="736600"/>
            <a:ext cx="711200" cy="508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3F43BA6-B7BA-944D-B341-7F6A4FC732E5}"/>
              </a:ext>
            </a:extLst>
          </p:cNvPr>
          <p:cNvSpPr/>
          <p:nvPr/>
        </p:nvSpPr>
        <p:spPr>
          <a:xfrm>
            <a:off x="406400" y="2319750"/>
            <a:ext cx="2641600" cy="2531650"/>
          </a:xfrm>
          <a:prstGeom prst="roundRect">
            <a:avLst/>
          </a:prstGeom>
          <a:solidFill>
            <a:srgbClr val="2027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C665BC-515E-2E4F-9045-B0556598A2B9}"/>
              </a:ext>
            </a:extLst>
          </p:cNvPr>
          <p:cNvSpPr/>
          <p:nvPr/>
        </p:nvSpPr>
        <p:spPr>
          <a:xfrm>
            <a:off x="406400" y="2319750"/>
            <a:ext cx="2641600" cy="88900"/>
          </a:xfrm>
          <a:prstGeom prst="rect">
            <a:avLst/>
          </a:prstGeom>
          <a:solidFill>
            <a:srgbClr val="FF525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7CB6F47-9945-E54D-90D5-8B71540C706C}"/>
              </a:ext>
            </a:extLst>
          </p:cNvPr>
          <p:cNvSpPr/>
          <p:nvPr/>
        </p:nvSpPr>
        <p:spPr>
          <a:xfrm>
            <a:off x="609600" y="2599150"/>
            <a:ext cx="355600" cy="355600"/>
          </a:xfrm>
          <a:prstGeom prst="ellipse">
            <a:avLst/>
          </a:prstGeom>
          <a:solidFill>
            <a:srgbClr val="FF525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TW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71772C-05A9-B844-893C-E296144A4D00}"/>
              </a:ext>
            </a:extLst>
          </p:cNvPr>
          <p:cNvSpPr txBox="1"/>
          <p:nvPr/>
        </p:nvSpPr>
        <p:spPr>
          <a:xfrm>
            <a:off x="609600" y="3056350"/>
            <a:ext cx="2235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800" b="1">
                <a:solidFill>
                  <a:srgbClr val="FF5252"/>
                </a:solidFill>
              </a:rPr>
              <a:t>Silent Failure</a:t>
            </a:r>
            <a:endParaRPr lang="en-TW" sz="1800" b="1">
              <a:solidFill>
                <a:srgbClr val="FF525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D8EEB9-61DE-9A47-B46C-74D4A257BF8D}"/>
              </a:ext>
            </a:extLst>
          </p:cNvPr>
          <p:cNvSpPr txBox="1"/>
          <p:nvPr/>
        </p:nvSpPr>
        <p:spPr>
          <a:xfrm>
            <a:off x="609600" y="3361150"/>
            <a:ext cx="2235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>
                <a:solidFill>
                  <a:srgbClr val="FFFFFF"/>
                </a:solidFill>
              </a:rPr>
              <a:t>靜默失敗</a:t>
            </a:r>
            <a:endParaRPr lang="en-TW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A61E9B-4ACF-8847-8E0C-AB20B56B6EB7}"/>
              </a:ext>
            </a:extLst>
          </p:cNvPr>
          <p:cNvSpPr/>
          <p:nvPr/>
        </p:nvSpPr>
        <p:spPr>
          <a:xfrm>
            <a:off x="609600" y="3691350"/>
            <a:ext cx="1397000" cy="25400"/>
          </a:xfrm>
          <a:prstGeom prst="rect">
            <a:avLst/>
          </a:prstGeom>
          <a:solidFill>
            <a:srgbClr val="FF5252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FB3DCF-12D1-D246-A324-BB16CA8B73FB}"/>
              </a:ext>
            </a:extLst>
          </p:cNvPr>
          <p:cNvSpPr txBox="1"/>
          <p:nvPr/>
        </p:nvSpPr>
        <p:spPr>
          <a:xfrm>
            <a:off x="609600" y="3818350"/>
            <a:ext cx="2235200" cy="170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>
                <a:solidFill>
                  <a:srgbClr val="FFFFFF"/>
                </a:solidFill>
              </a:rPr>
              <a:t>模型在資訊不足時，仍以高自信輸出答案。</a:t>
            </a:r>
            <a:endParaRPr lang="en-TW" dirty="0">
              <a:solidFill>
                <a:srgbClr val="FFFFFF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8C3314B-9D40-784D-8514-62B2BAFF896E}"/>
              </a:ext>
            </a:extLst>
          </p:cNvPr>
          <p:cNvSpPr/>
          <p:nvPr/>
        </p:nvSpPr>
        <p:spPr>
          <a:xfrm>
            <a:off x="3251200" y="2319750"/>
            <a:ext cx="2641600" cy="2531650"/>
          </a:xfrm>
          <a:prstGeom prst="roundRect">
            <a:avLst/>
          </a:prstGeom>
          <a:solidFill>
            <a:srgbClr val="2027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94801D-8D44-8641-99BE-AE483E6F5675}"/>
              </a:ext>
            </a:extLst>
          </p:cNvPr>
          <p:cNvSpPr/>
          <p:nvPr/>
        </p:nvSpPr>
        <p:spPr>
          <a:xfrm>
            <a:off x="3251200" y="2319750"/>
            <a:ext cx="2641600" cy="88900"/>
          </a:xfrm>
          <a:prstGeom prst="rect">
            <a:avLst/>
          </a:prstGeom>
          <a:solidFill>
            <a:srgbClr val="F2A93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CFB43D-FBF3-5241-B376-649C0C9147D0}"/>
              </a:ext>
            </a:extLst>
          </p:cNvPr>
          <p:cNvSpPr/>
          <p:nvPr/>
        </p:nvSpPr>
        <p:spPr>
          <a:xfrm>
            <a:off x="3454400" y="2599150"/>
            <a:ext cx="355600" cy="355600"/>
          </a:xfrm>
          <a:prstGeom prst="ellipse">
            <a:avLst/>
          </a:prstGeom>
          <a:solidFill>
            <a:srgbClr val="F2A93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TW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A5614-48C7-5640-9401-A5F75F2A5E67}"/>
              </a:ext>
            </a:extLst>
          </p:cNvPr>
          <p:cNvSpPr txBox="1"/>
          <p:nvPr/>
        </p:nvSpPr>
        <p:spPr>
          <a:xfrm>
            <a:off x="3454400" y="3056350"/>
            <a:ext cx="2235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800" b="1">
                <a:solidFill>
                  <a:srgbClr val="F2A93B"/>
                </a:solidFill>
              </a:rPr>
              <a:t>Semantic Drift</a:t>
            </a:r>
            <a:endParaRPr lang="en-TW" sz="1800" b="1">
              <a:solidFill>
                <a:srgbClr val="F2A93B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40CCBE-215F-9243-8809-B94F06D0FB9A}"/>
              </a:ext>
            </a:extLst>
          </p:cNvPr>
          <p:cNvSpPr txBox="1"/>
          <p:nvPr/>
        </p:nvSpPr>
        <p:spPr>
          <a:xfrm>
            <a:off x="3454400" y="3361150"/>
            <a:ext cx="2235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>
                <a:solidFill>
                  <a:srgbClr val="FFFFFF"/>
                </a:solidFill>
              </a:rPr>
              <a:t>語意漂移</a:t>
            </a:r>
            <a:endParaRPr lang="en-TW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4C59AD-A714-4246-AF36-242C7240B6D8}"/>
              </a:ext>
            </a:extLst>
          </p:cNvPr>
          <p:cNvSpPr/>
          <p:nvPr/>
        </p:nvSpPr>
        <p:spPr>
          <a:xfrm>
            <a:off x="3454400" y="3691350"/>
            <a:ext cx="1397000" cy="25400"/>
          </a:xfrm>
          <a:prstGeom prst="rect">
            <a:avLst/>
          </a:prstGeom>
          <a:solidFill>
            <a:srgbClr val="F2A93B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00C041-00DC-BD4E-BD30-1B3B79582477}"/>
              </a:ext>
            </a:extLst>
          </p:cNvPr>
          <p:cNvSpPr txBox="1"/>
          <p:nvPr/>
        </p:nvSpPr>
        <p:spPr>
          <a:xfrm>
            <a:off x="3454400" y="3818350"/>
            <a:ext cx="2235200" cy="170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>
                <a:solidFill>
                  <a:srgbClr val="FFFFFF"/>
                </a:solidFill>
              </a:rPr>
              <a:t>公式選對，但隱性歧義（匯率方向、現金流期初／期末、報酬率年化基準）導致系統性錯誤。</a:t>
            </a:r>
            <a:endParaRPr lang="en-TW">
              <a:solidFill>
                <a:srgbClr val="FFFFFF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AD6BCE1-F750-CD4A-9620-137E109AC660}"/>
              </a:ext>
            </a:extLst>
          </p:cNvPr>
          <p:cNvSpPr/>
          <p:nvPr/>
        </p:nvSpPr>
        <p:spPr>
          <a:xfrm>
            <a:off x="6096000" y="2319750"/>
            <a:ext cx="2641600" cy="2531650"/>
          </a:xfrm>
          <a:prstGeom prst="roundRect">
            <a:avLst/>
          </a:prstGeom>
          <a:solidFill>
            <a:srgbClr val="2027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274BD9-061D-924F-BB27-C38E4DD41E08}"/>
              </a:ext>
            </a:extLst>
          </p:cNvPr>
          <p:cNvSpPr/>
          <p:nvPr/>
        </p:nvSpPr>
        <p:spPr>
          <a:xfrm>
            <a:off x="6096000" y="2319750"/>
            <a:ext cx="2641600" cy="88900"/>
          </a:xfrm>
          <a:prstGeom prst="rect">
            <a:avLst/>
          </a:prstGeom>
          <a:solidFill>
            <a:srgbClr val="4BA17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C092D56-21C5-674F-A82A-13F18458BA82}"/>
              </a:ext>
            </a:extLst>
          </p:cNvPr>
          <p:cNvSpPr/>
          <p:nvPr/>
        </p:nvSpPr>
        <p:spPr>
          <a:xfrm>
            <a:off x="6299200" y="2599150"/>
            <a:ext cx="355600" cy="355600"/>
          </a:xfrm>
          <a:prstGeom prst="ellipse">
            <a:avLst/>
          </a:prstGeom>
          <a:solidFill>
            <a:srgbClr val="4BA17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TW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82F835-745D-2C46-9FC9-53C75FDBCA90}"/>
              </a:ext>
            </a:extLst>
          </p:cNvPr>
          <p:cNvSpPr txBox="1"/>
          <p:nvPr/>
        </p:nvSpPr>
        <p:spPr>
          <a:xfrm>
            <a:off x="6299200" y="3056350"/>
            <a:ext cx="2235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800" b="1">
                <a:solidFill>
                  <a:srgbClr val="4BA173"/>
                </a:solidFill>
              </a:rPr>
              <a:t>Audit Gap</a:t>
            </a:r>
            <a:endParaRPr lang="en-TW" sz="1800" b="1">
              <a:solidFill>
                <a:srgbClr val="4BA173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5C21A1-03D8-944C-A9C3-B15E301DAC36}"/>
              </a:ext>
            </a:extLst>
          </p:cNvPr>
          <p:cNvSpPr txBox="1"/>
          <p:nvPr/>
        </p:nvSpPr>
        <p:spPr>
          <a:xfrm>
            <a:off x="6299200" y="3361150"/>
            <a:ext cx="2235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>
                <a:solidFill>
                  <a:srgbClr val="FFFFFF"/>
                </a:solidFill>
              </a:rPr>
              <a:t>審計斷層</a:t>
            </a:r>
            <a:endParaRPr lang="en-TW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861209-3291-6E49-851C-38E5807B3DF6}"/>
              </a:ext>
            </a:extLst>
          </p:cNvPr>
          <p:cNvSpPr/>
          <p:nvPr/>
        </p:nvSpPr>
        <p:spPr>
          <a:xfrm>
            <a:off x="6299200" y="3691350"/>
            <a:ext cx="1397000" cy="25400"/>
          </a:xfrm>
          <a:prstGeom prst="rect">
            <a:avLst/>
          </a:prstGeom>
          <a:solidFill>
            <a:srgbClr val="4BA17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A0EF2C-0058-BE4D-86BC-0A58EA4EF918}"/>
              </a:ext>
            </a:extLst>
          </p:cNvPr>
          <p:cNvSpPr txBox="1"/>
          <p:nvPr/>
        </p:nvSpPr>
        <p:spPr>
          <a:xfrm>
            <a:off x="6299200" y="3818350"/>
            <a:ext cx="2235200" cy="170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CoT </a:t>
            </a:r>
            <a:r>
              <a:rPr lang="ja-JP" altLang="en-US">
                <a:solidFill>
                  <a:srgbClr val="FFFFFF"/>
                </a:solidFill>
              </a:rPr>
              <a:t>軌跡因取樣隨機性無法重現，損失發生時無從究責。</a:t>
            </a:r>
            <a:endParaRPr lang="en-TW">
              <a:solidFill>
                <a:srgbClr val="FFFFFF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762E89-E835-4549-AC51-98CD510BEB8D}"/>
              </a:ext>
            </a:extLst>
          </p:cNvPr>
          <p:cNvSpPr/>
          <p:nvPr/>
        </p:nvSpPr>
        <p:spPr>
          <a:xfrm>
            <a:off x="0" y="4978400"/>
            <a:ext cx="9144000" cy="762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B5A5E9-CA29-698C-2AE4-54E0740ABDCD}"/>
              </a:ext>
            </a:extLst>
          </p:cNvPr>
          <p:cNvSpPr txBox="1"/>
          <p:nvPr/>
        </p:nvSpPr>
        <p:spPr>
          <a:xfrm>
            <a:off x="406400" y="812292"/>
            <a:ext cx="8575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202729"/>
                </a:solidFill>
              </a:rPr>
              <a:t>LLM </a:t>
            </a:r>
            <a:r>
              <a:rPr lang="ja-JP" altLang="en-US" sz="2000">
                <a:solidFill>
                  <a:srgbClr val="202729"/>
                </a:solidFill>
              </a:rPr>
              <a:t>在金融 </a:t>
            </a:r>
            <a:r>
              <a:rPr lang="en-US" sz="2000" dirty="0">
                <a:solidFill>
                  <a:srgbClr val="202729"/>
                </a:solidFill>
              </a:rPr>
              <a:t>benchmark </a:t>
            </a:r>
            <a:r>
              <a:rPr lang="ja-JP" altLang="en-US" sz="2000">
                <a:solidFill>
                  <a:srgbClr val="202729"/>
                </a:solidFill>
              </a:rPr>
              <a:t>的準確率已逼近頂峰，但 </a:t>
            </a:r>
            <a:r>
              <a:rPr lang="en-US" sz="2000" dirty="0">
                <a:solidFill>
                  <a:srgbClr val="202729"/>
                </a:solidFill>
              </a:rPr>
              <a:t>accuracy </a:t>
            </a:r>
            <a:r>
              <a:rPr lang="en-US" sz="2000" dirty="0" err="1">
                <a:solidFill>
                  <a:srgbClr val="202729"/>
                </a:solidFill>
              </a:rPr>
              <a:t>本身</a:t>
            </a:r>
            <a:r>
              <a:rPr lang="ja-JP" altLang="en-US" sz="2000">
                <a:solidFill>
                  <a:srgbClr val="202729"/>
                </a:solidFill>
              </a:rPr>
              <a:t>在實務部署中是誤導性指標。</a:t>
            </a:r>
            <a:endParaRPr lang="en-TW" sz="2000" b="1" dirty="0">
              <a:solidFill>
                <a:srgbClr val="4BA173"/>
              </a:solidFill>
            </a:endParaRPr>
          </a:p>
          <a:p>
            <a:pPr algn="l"/>
            <a:endParaRPr lang="en-TW" sz="1000" b="1" dirty="0">
              <a:solidFill>
                <a:srgbClr val="4BA173"/>
              </a:solidFill>
            </a:endParaRPr>
          </a:p>
          <a:p>
            <a:pPr algn="l"/>
            <a:r>
              <a:rPr lang="en-TW" sz="2000" b="1" dirty="0">
                <a:solidFill>
                  <a:srgbClr val="4BA173"/>
                </a:solidFill>
              </a:rPr>
              <a:t>1. 如果模型遇到不確定性，如何反應？</a:t>
            </a:r>
          </a:p>
          <a:p>
            <a:pPr algn="l"/>
            <a:r>
              <a:rPr lang="en-TW" sz="2000" b="1" dirty="0">
                <a:solidFill>
                  <a:srgbClr val="4BA173"/>
                </a:solidFill>
              </a:rPr>
              <a:t>2. 如果數字會隱性算錯，系統還有用嗎</a:t>
            </a:r>
            <a:endParaRPr lang="en-TW" sz="2000" dirty="0"/>
          </a:p>
        </p:txBody>
      </p:sp>
    </p:spTree>
    <p:extLst>
      <p:ext uri="{BB962C8B-B14F-4D97-AF65-F5344CB8AC3E}">
        <p14:creationId xmlns:p14="http://schemas.microsoft.com/office/powerpoint/2010/main" val="2535595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F2CA53-06DF-DC41-A3F5-ED477DA8719E}"/>
              </a:ext>
            </a:extLst>
          </p:cNvPr>
          <p:cNvSpPr txBox="1"/>
          <p:nvPr/>
        </p:nvSpPr>
        <p:spPr>
          <a:xfrm>
            <a:off x="406400" y="228600"/>
            <a:ext cx="83312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600" b="1">
                <a:solidFill>
                  <a:srgbClr val="202729"/>
                </a:solidFill>
              </a:rPr>
              <a:t>法規現實與我們的護城河</a:t>
            </a:r>
            <a:endParaRPr lang="en-TW" sz="2600" b="1" dirty="0">
              <a:solidFill>
                <a:srgbClr val="202729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59A8A9-DCD6-1C42-8CBB-F1BA5865B3C5}"/>
              </a:ext>
            </a:extLst>
          </p:cNvPr>
          <p:cNvSpPr/>
          <p:nvPr/>
        </p:nvSpPr>
        <p:spPr>
          <a:xfrm>
            <a:off x="406400" y="736600"/>
            <a:ext cx="711200" cy="508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991D9-E18D-9749-9944-8505F8F350EC}"/>
              </a:ext>
            </a:extLst>
          </p:cNvPr>
          <p:cNvSpPr/>
          <p:nvPr/>
        </p:nvSpPr>
        <p:spPr>
          <a:xfrm>
            <a:off x="406400" y="889000"/>
            <a:ext cx="2641600" cy="1524000"/>
          </a:xfrm>
          <a:prstGeom prst="rect">
            <a:avLst/>
          </a:prstGeom>
          <a:solidFill>
            <a:srgbClr val="EEF2F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014A8-9B93-9943-A31A-73633577E467}"/>
              </a:ext>
            </a:extLst>
          </p:cNvPr>
          <p:cNvSpPr/>
          <p:nvPr/>
        </p:nvSpPr>
        <p:spPr>
          <a:xfrm>
            <a:off x="406400" y="889000"/>
            <a:ext cx="2641600" cy="330200"/>
          </a:xfrm>
          <a:prstGeom prst="rect">
            <a:avLst/>
          </a:prstGeom>
          <a:solidFill>
            <a:srgbClr val="4BA17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b="1">
                <a:solidFill>
                  <a:srgbClr val="FFFFFF"/>
                </a:solidFill>
                <a:latin typeface="Arial"/>
                <a:cs typeface="Arial"/>
              </a:rPr>
              <a:t>台灣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FSC </a:t>
            </a:r>
            <a:r>
              <a:rPr lang="ja-JP" altLang="en-US" b="1">
                <a:solidFill>
                  <a:srgbClr val="FFFFFF"/>
                </a:solidFill>
                <a:latin typeface="Arial"/>
                <a:cs typeface="Arial"/>
              </a:rPr>
              <a:t>金管會</a:t>
            </a:r>
            <a:r>
              <a:rPr lang="en-US" altLang="ja-JP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ja-JP" altLang="en-US" b="1">
                <a:solidFill>
                  <a:srgbClr val="FFFFFF"/>
                </a:solidFill>
                <a:latin typeface="Arial"/>
                <a:cs typeface="Arial"/>
              </a:rPr>
              <a:t>第四款</a:t>
            </a:r>
            <a:endParaRPr lang="en-TW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711C12-43AC-9F48-B80E-3C5DA3380C9A}"/>
              </a:ext>
            </a:extLst>
          </p:cNvPr>
          <p:cNvSpPr txBox="1"/>
          <p:nvPr/>
        </p:nvSpPr>
        <p:spPr>
          <a:xfrm>
            <a:off x="584200" y="12954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600" b="1" u="sng">
                <a:solidFill>
                  <a:srgbClr val="202729"/>
                </a:solidFill>
              </a:rPr>
              <a:t>人類可控</a:t>
            </a:r>
            <a:endParaRPr lang="en-TW" sz="1600" b="1" u="sng" dirty="0">
              <a:solidFill>
                <a:srgbClr val="202729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90D356-EC71-7C45-BB4C-5938FF09AA8C}"/>
              </a:ext>
            </a:extLst>
          </p:cNvPr>
          <p:cNvSpPr txBox="1"/>
          <p:nvPr/>
        </p:nvSpPr>
        <p:spPr>
          <a:xfrm>
            <a:off x="584200" y="1696720"/>
            <a:ext cx="22860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rtl="0">
              <a:spcAft>
                <a:spcPts val="1200"/>
              </a:spcAft>
            </a:pPr>
            <a:r>
              <a:rPr lang="ja-JP" altLang="en-US" sz="13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金融員工必須承擔最終責任，且 </a:t>
            </a: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AI </a:t>
            </a:r>
            <a:r>
              <a:rPr lang="ja-JP" altLang="en-US" sz="13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決策過程必須可解釋。</a:t>
            </a:r>
            <a:endParaRPr lang="ja-JP" altLang="en-US" sz="1300" b="0">
              <a:effectLst/>
            </a:endParaRPr>
          </a:p>
          <a:p>
            <a:br>
              <a:rPr lang="ja-JP" altLang="en-US" sz="1300"/>
            </a:br>
            <a:endParaRPr lang="en-TW" sz="1300" dirty="0">
              <a:solidFill>
                <a:srgbClr val="202729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6EE044-0F54-504B-9E4F-C9DD29EDE04D}"/>
              </a:ext>
            </a:extLst>
          </p:cNvPr>
          <p:cNvSpPr/>
          <p:nvPr/>
        </p:nvSpPr>
        <p:spPr>
          <a:xfrm>
            <a:off x="3251200" y="889000"/>
            <a:ext cx="2641600" cy="1524000"/>
          </a:xfrm>
          <a:prstGeom prst="rect">
            <a:avLst/>
          </a:prstGeom>
          <a:solidFill>
            <a:srgbClr val="EEF2F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A984B7-529D-924F-A094-E254878C3103}"/>
              </a:ext>
            </a:extLst>
          </p:cNvPr>
          <p:cNvSpPr/>
          <p:nvPr/>
        </p:nvSpPr>
        <p:spPr>
          <a:xfrm>
            <a:off x="3251200" y="889000"/>
            <a:ext cx="2641600" cy="330200"/>
          </a:xfrm>
          <a:prstGeom prst="rect">
            <a:avLst/>
          </a:prstGeom>
          <a:solidFill>
            <a:srgbClr val="4BA17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b="1">
                <a:solidFill>
                  <a:srgbClr val="FFFFFF"/>
                </a:solidFill>
                <a:latin typeface="Arial"/>
                <a:cs typeface="Arial"/>
              </a:rPr>
              <a:t>歐盟 </a:t>
            </a:r>
            <a:r>
              <a:rPr lang="en-US" b="1" dirty="0">
                <a:solidFill>
                  <a:srgbClr val="FFFFFF"/>
                </a:solidFill>
                <a:latin typeface="Arial"/>
                <a:cs typeface="Arial"/>
              </a:rPr>
              <a:t>EU AI Act</a:t>
            </a:r>
            <a:r>
              <a:rPr lang="zh-TW" altLang="en-US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altLang="zh-TW" b="1" dirty="0">
                <a:solidFill>
                  <a:srgbClr val="FFFFFF"/>
                </a:solidFill>
                <a:latin typeface="Arial"/>
                <a:cs typeface="Arial"/>
              </a:rPr>
              <a:t>–rule 13</a:t>
            </a:r>
            <a:endParaRPr lang="en-TW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D5A40D-4D5A-F745-A3D1-50A680BBD08E}"/>
              </a:ext>
            </a:extLst>
          </p:cNvPr>
          <p:cNvSpPr txBox="1"/>
          <p:nvPr/>
        </p:nvSpPr>
        <p:spPr>
          <a:xfrm>
            <a:off x="3429000" y="12954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600" b="1" u="sng">
                <a:solidFill>
                  <a:srgbClr val="202729"/>
                </a:solidFill>
              </a:rPr>
              <a:t>精確追溯</a:t>
            </a:r>
            <a:endParaRPr lang="en-TW" sz="1600" b="1" u="sng" dirty="0">
              <a:solidFill>
                <a:srgbClr val="20272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D177B-034B-4445-96FC-BB6F925349EF}"/>
              </a:ext>
            </a:extLst>
          </p:cNvPr>
          <p:cNvSpPr txBox="1"/>
          <p:nvPr/>
        </p:nvSpPr>
        <p:spPr>
          <a:xfrm>
            <a:off x="3403600" y="1676400"/>
            <a:ext cx="24892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>
              <a:spcAft>
                <a:spcPts val="1200"/>
              </a:spcAft>
            </a:pPr>
            <a:r>
              <a:rPr lang="ja-JP" altLang="en-US" sz="1300">
                <a:latin typeface="Arial" panose="020B0604020202020204" pitchFamily="34" charset="0"/>
              </a:rPr>
              <a:t>部署者必須能夠解釋模型如何得出結論，並必須能將該結論精確追溯至原始的輸入紀錄。</a:t>
            </a:r>
            <a:endParaRPr lang="en-TW" sz="1300" dirty="0"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1A1117-B395-FB4F-8E7F-94133A6443D2}"/>
              </a:ext>
            </a:extLst>
          </p:cNvPr>
          <p:cNvSpPr/>
          <p:nvPr/>
        </p:nvSpPr>
        <p:spPr>
          <a:xfrm>
            <a:off x="6096000" y="889000"/>
            <a:ext cx="2641600" cy="1524000"/>
          </a:xfrm>
          <a:prstGeom prst="rect">
            <a:avLst/>
          </a:prstGeom>
          <a:solidFill>
            <a:srgbClr val="EEF2F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94E8EF-6E35-234A-BA73-6E30955CA960}"/>
              </a:ext>
            </a:extLst>
          </p:cNvPr>
          <p:cNvSpPr/>
          <p:nvPr/>
        </p:nvSpPr>
        <p:spPr>
          <a:xfrm>
            <a:off x="6096000" y="889000"/>
            <a:ext cx="2641600" cy="330200"/>
          </a:xfrm>
          <a:prstGeom prst="rect">
            <a:avLst/>
          </a:prstGeom>
          <a:solidFill>
            <a:srgbClr val="4BA17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Basel III &amp; FINRA - 2025</a:t>
            </a:r>
            <a:endParaRPr lang="en-TW" sz="16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9D6486-A2B4-0941-B214-0A5D4704A643}"/>
              </a:ext>
            </a:extLst>
          </p:cNvPr>
          <p:cNvSpPr txBox="1"/>
          <p:nvPr/>
        </p:nvSpPr>
        <p:spPr>
          <a:xfrm>
            <a:off x="6273800" y="1295400"/>
            <a:ext cx="2286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600" b="1" u="sng">
                <a:solidFill>
                  <a:srgbClr val="202729"/>
                </a:solidFill>
              </a:rPr>
              <a:t>輸出下限 </a:t>
            </a:r>
            <a:r>
              <a:rPr lang="en-US" altLang="ja-JP" sz="1600" b="1" u="sng" dirty="0">
                <a:solidFill>
                  <a:srgbClr val="202729"/>
                </a:solidFill>
              </a:rPr>
              <a:t>+ </a:t>
            </a:r>
            <a:r>
              <a:rPr lang="ja-JP" altLang="en-US" sz="1600" b="1" u="sng">
                <a:solidFill>
                  <a:srgbClr val="202729"/>
                </a:solidFill>
              </a:rPr>
              <a:t>人為檢查點</a:t>
            </a:r>
            <a:endParaRPr lang="en-TW" sz="1600" b="1" u="sng" dirty="0">
              <a:solidFill>
                <a:srgbClr val="20272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8D76D0-420F-4244-8061-6004E05D86B2}"/>
              </a:ext>
            </a:extLst>
          </p:cNvPr>
          <p:cNvSpPr txBox="1"/>
          <p:nvPr/>
        </p:nvSpPr>
        <p:spPr>
          <a:xfrm>
            <a:off x="6181344" y="1651000"/>
            <a:ext cx="2556256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>
              <a:spcAft>
                <a:spcPts val="1200"/>
              </a:spcAft>
            </a:pPr>
            <a:r>
              <a:rPr lang="ja-JP" altLang="en-US" sz="1300">
                <a:latin typeface="Arial" panose="020B0604020202020204" pitchFamily="34" charset="0"/>
              </a:rPr>
              <a:t>建立透明</a:t>
            </a:r>
            <a:r>
              <a:rPr lang="en-US" altLang="ja-JP" sz="1300" dirty="0">
                <a:latin typeface="Arial" panose="020B0604020202020204" pitchFamily="34" charset="0"/>
              </a:rPr>
              <a:t>AI</a:t>
            </a:r>
            <a:r>
              <a:rPr lang="ja-JP" altLang="en-US" sz="1300">
                <a:latin typeface="Arial" panose="020B0604020202020204" pitchFamily="34" charset="0"/>
              </a:rPr>
              <a:t>框架時，需實施</a:t>
            </a:r>
            <a:r>
              <a:rPr lang="en-US" sz="1300" dirty="0">
                <a:latin typeface="Arial" panose="020B0604020202020204" pitchFamily="34" charset="0"/>
              </a:rPr>
              <a:t>HITL，</a:t>
            </a:r>
            <a:r>
              <a:rPr lang="ja-JP" altLang="en-US" sz="1300">
                <a:latin typeface="Arial" panose="020B0604020202020204" pitchFamily="34" charset="0"/>
              </a:rPr>
              <a:t>並在必要時對高風險應用設定「輸出下限」作為安全防護 。</a:t>
            </a:r>
            <a:endParaRPr lang="en-TW" sz="1300" dirty="0"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6EC40B-674A-A844-9EDF-EB2C8A2939A8}"/>
              </a:ext>
            </a:extLst>
          </p:cNvPr>
          <p:cNvSpPr txBox="1"/>
          <p:nvPr/>
        </p:nvSpPr>
        <p:spPr>
          <a:xfrm>
            <a:off x="406400" y="2489200"/>
            <a:ext cx="83312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b="1">
                <a:solidFill>
                  <a:srgbClr val="4BA173"/>
                </a:solidFill>
              </a:rPr>
              <a:t>監管巨頭只問一件事：出事了，能不能精確追溯？</a:t>
            </a:r>
            <a:endParaRPr lang="en-TW" b="1" dirty="0">
              <a:solidFill>
                <a:srgbClr val="4BA173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0407A9A-8EC5-B047-9EF3-63F0DDE59695}"/>
              </a:ext>
            </a:extLst>
          </p:cNvPr>
          <p:cNvSpPr/>
          <p:nvPr/>
        </p:nvSpPr>
        <p:spPr>
          <a:xfrm>
            <a:off x="406400" y="2794000"/>
            <a:ext cx="4114800" cy="2082800"/>
          </a:xfrm>
          <a:prstGeom prst="roundRect">
            <a:avLst/>
          </a:prstGeom>
          <a:solidFill>
            <a:srgbClr val="FBE9E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34BC0A-394B-F24C-9054-BBB5272AAED2}"/>
              </a:ext>
            </a:extLst>
          </p:cNvPr>
          <p:cNvSpPr txBox="1"/>
          <p:nvPr/>
        </p:nvSpPr>
        <p:spPr>
          <a:xfrm>
            <a:off x="635000" y="2921000"/>
            <a:ext cx="368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 dirty="0">
                <a:solidFill>
                  <a:srgbClr val="FF5252"/>
                </a:solidFill>
              </a:rPr>
              <a:t>✕  Multi-Agent（</a:t>
            </a:r>
            <a:r>
              <a:rPr lang="ja-JP" altLang="en-US" sz="1500" b="1">
                <a:solidFill>
                  <a:srgbClr val="FF5252"/>
                </a:solidFill>
              </a:rPr>
              <a:t>黑箱共識）</a:t>
            </a:r>
            <a:endParaRPr lang="en-TW" sz="1500" b="1" dirty="0">
              <a:solidFill>
                <a:srgbClr val="FF525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3E0D5D-A9A7-604B-BF3C-C96274C52B43}"/>
              </a:ext>
            </a:extLst>
          </p:cNvPr>
          <p:cNvSpPr txBox="1"/>
          <p:nvPr/>
        </p:nvSpPr>
        <p:spPr>
          <a:xfrm>
            <a:off x="635000" y="3327400"/>
            <a:ext cx="3708400" cy="142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800">
                <a:solidFill>
                  <a:srgbClr val="202729"/>
                </a:solidFill>
              </a:rPr>
              <a:t>讓多個黑箱互相聊天達成共識。出錯時只能交出神經網路「事後合理化」的對話紀錄，在法庭上毫無審計效力。</a:t>
            </a:r>
            <a:endParaRPr lang="en-TW" sz="1800" dirty="0">
              <a:solidFill>
                <a:srgbClr val="202729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95EC2F8-71CF-EC47-A9C6-CCC6CCC97FC4}"/>
              </a:ext>
            </a:extLst>
          </p:cNvPr>
          <p:cNvSpPr/>
          <p:nvPr/>
        </p:nvSpPr>
        <p:spPr>
          <a:xfrm>
            <a:off x="4622800" y="2794000"/>
            <a:ext cx="4114800" cy="2082800"/>
          </a:xfrm>
          <a:prstGeom prst="roundRect">
            <a:avLst/>
          </a:prstGeom>
          <a:solidFill>
            <a:srgbClr val="2027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018625-6002-F34B-8502-BADBB922F32B}"/>
              </a:ext>
            </a:extLst>
          </p:cNvPr>
          <p:cNvSpPr txBox="1"/>
          <p:nvPr/>
        </p:nvSpPr>
        <p:spPr>
          <a:xfrm>
            <a:off x="4851400" y="2921000"/>
            <a:ext cx="368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63D297"/>
                </a:solidFill>
              </a:rPr>
              <a:t>✓  VerifiQuant（</a:t>
            </a:r>
            <a:r>
              <a:rPr lang="ja-JP" altLang="en-US" sz="1500" b="1">
                <a:solidFill>
                  <a:srgbClr val="63D297"/>
                </a:solidFill>
              </a:rPr>
              <a:t>合約驗證）</a:t>
            </a:r>
            <a:endParaRPr lang="en-TW" sz="1500" b="1">
              <a:solidFill>
                <a:srgbClr val="63D297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BDDFF3-00FA-2241-9182-AE075E7DB3B1}"/>
              </a:ext>
            </a:extLst>
          </p:cNvPr>
          <p:cNvSpPr txBox="1"/>
          <p:nvPr/>
        </p:nvSpPr>
        <p:spPr>
          <a:xfrm>
            <a:off x="4851400" y="3327400"/>
            <a:ext cx="3708400" cy="142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600">
                <a:solidFill>
                  <a:srgbClr val="FFFFFF"/>
                </a:solidFill>
              </a:rPr>
              <a:t>明確的人為檢查點</a:t>
            </a:r>
            <a:r>
              <a:rPr lang="zh-TW" altLang="en-US" sz="1600" dirty="0">
                <a:solidFill>
                  <a:srgbClr val="FFFFFF"/>
                </a:solidFill>
              </a:rPr>
              <a:t> </a:t>
            </a:r>
            <a:r>
              <a:rPr lang="en-US" altLang="ja-JP" sz="1600" dirty="0">
                <a:solidFill>
                  <a:srgbClr val="FFFFFF"/>
                </a:solidFill>
              </a:rPr>
              <a:t>HITL</a:t>
            </a:r>
            <a:r>
              <a:rPr lang="zh-TW" altLang="en-US" sz="1600" dirty="0">
                <a:solidFill>
                  <a:srgbClr val="FFFFFF"/>
                </a:solidFill>
              </a:rPr>
              <a:t> </a:t>
            </a:r>
            <a:r>
              <a:rPr lang="ja-JP" altLang="en-US" sz="1600">
                <a:solidFill>
                  <a:srgbClr val="FFFFFF"/>
                </a:solidFill>
              </a:rPr>
              <a:t>、可證明的追溯性，溯源到輸入內容，以及 </a:t>
            </a:r>
            <a:r>
              <a:rPr lang="en-US" sz="1600" dirty="0">
                <a:solidFill>
                  <a:srgbClr val="FFFFFF"/>
                </a:solidFill>
              </a:rPr>
              <a:t>AI </a:t>
            </a:r>
            <a:r>
              <a:rPr lang="ja-JP" altLang="en-US" sz="1600">
                <a:solidFill>
                  <a:srgbClr val="FFFFFF"/>
                </a:solidFill>
              </a:rPr>
              <a:t>不懂時的「輸出下限」，完全對齊監管要求，且不受到</a:t>
            </a:r>
            <a:r>
              <a:rPr lang="zh-TW" altLang="en-US" sz="1600" dirty="0">
                <a:solidFill>
                  <a:srgbClr val="FFFFFF"/>
                </a:solidFill>
              </a:rPr>
              <a:t> </a:t>
            </a:r>
            <a:r>
              <a:rPr lang="en-US" altLang="ja-JP" sz="1600" dirty="0" err="1">
                <a:solidFill>
                  <a:srgbClr val="FFFFFF"/>
                </a:solidFill>
              </a:rPr>
              <a:t>CoT</a:t>
            </a:r>
            <a:r>
              <a:rPr lang="zh-TW" altLang="en-US" sz="1600" dirty="0">
                <a:solidFill>
                  <a:srgbClr val="FFFFFF"/>
                </a:solidFill>
              </a:rPr>
              <a:t> </a:t>
            </a:r>
            <a:r>
              <a:rPr lang="ja-JP" altLang="en-US" sz="1600">
                <a:solidFill>
                  <a:srgbClr val="FFFFFF"/>
                </a:solidFill>
              </a:rPr>
              <a:t>隨機性干擾，這就是我們的護城河。</a:t>
            </a:r>
            <a:endParaRPr lang="en-TW" sz="1600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D0299E-C8BE-B74D-861D-DC66A8606EB8}"/>
              </a:ext>
            </a:extLst>
          </p:cNvPr>
          <p:cNvSpPr/>
          <p:nvPr/>
        </p:nvSpPr>
        <p:spPr>
          <a:xfrm>
            <a:off x="0" y="4978400"/>
            <a:ext cx="9144000" cy="762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248431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EB217E-8F2E-1F47-877A-4520CD4330EF}"/>
              </a:ext>
            </a:extLst>
          </p:cNvPr>
          <p:cNvSpPr txBox="1"/>
          <p:nvPr/>
        </p:nvSpPr>
        <p:spPr>
          <a:xfrm>
            <a:off x="406400" y="228600"/>
            <a:ext cx="83312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600" b="1">
                <a:solidFill>
                  <a:srgbClr val="202729"/>
                </a:solidFill>
              </a:rPr>
              <a:t>VerifiQuant：</a:t>
            </a:r>
            <a:r>
              <a:rPr lang="ja-JP" altLang="en-US" sz="2600" b="1">
                <a:solidFill>
                  <a:srgbClr val="202729"/>
                </a:solidFill>
              </a:rPr>
              <a:t>合約驗證式金融推理框架</a:t>
            </a:r>
            <a:endParaRPr lang="en-TW" sz="2600" b="1">
              <a:solidFill>
                <a:srgbClr val="202729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84EBD7-D5CE-144D-A786-0D28FBA3E114}"/>
              </a:ext>
            </a:extLst>
          </p:cNvPr>
          <p:cNvSpPr/>
          <p:nvPr/>
        </p:nvSpPr>
        <p:spPr>
          <a:xfrm>
            <a:off x="406400" y="736600"/>
            <a:ext cx="711200" cy="508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F901EFF-6723-C048-B426-08D60EA749E2}"/>
              </a:ext>
            </a:extLst>
          </p:cNvPr>
          <p:cNvSpPr/>
          <p:nvPr/>
        </p:nvSpPr>
        <p:spPr>
          <a:xfrm>
            <a:off x="406400" y="838200"/>
            <a:ext cx="1498600" cy="787400"/>
          </a:xfrm>
          <a:prstGeom prst="roundRect">
            <a:avLst/>
          </a:prstGeom>
          <a:solidFill>
            <a:srgbClr val="EEF2F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C5BC9-8D62-2548-8CAB-6E5C33840213}"/>
              </a:ext>
            </a:extLst>
          </p:cNvPr>
          <p:cNvSpPr txBox="1"/>
          <p:nvPr/>
        </p:nvSpPr>
        <p:spPr>
          <a:xfrm>
            <a:off x="406400" y="838200"/>
            <a:ext cx="14986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202729"/>
                </a:solidFill>
              </a:rPr>
              <a:t>PDF/ </a:t>
            </a:r>
            <a:r>
              <a:rPr lang="ja-JP" altLang="en-US" sz="1300" b="1">
                <a:solidFill>
                  <a:srgbClr val="202729"/>
                </a:solidFill>
              </a:rPr>
              <a:t>財報文獻</a:t>
            </a:r>
            <a:r>
              <a:rPr lang="en-US" altLang="ja-JP" sz="1300" b="1" dirty="0">
                <a:solidFill>
                  <a:srgbClr val="202729"/>
                </a:solidFill>
              </a:rPr>
              <a:t> / </a:t>
            </a:r>
            <a:r>
              <a:rPr lang="ja-JP" altLang="en-US" sz="1300" b="1">
                <a:solidFill>
                  <a:srgbClr val="202729"/>
                </a:solidFill>
              </a:rPr>
              <a:t>用戶的任意輸入</a:t>
            </a:r>
            <a:endParaRPr lang="en-TW" sz="1300" b="1" dirty="0">
              <a:solidFill>
                <a:srgbClr val="202729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14AF563-13BA-444F-9A8E-D7F6CE452CDA}"/>
              </a:ext>
            </a:extLst>
          </p:cNvPr>
          <p:cNvSpPr/>
          <p:nvPr/>
        </p:nvSpPr>
        <p:spPr>
          <a:xfrm>
            <a:off x="2108200" y="838200"/>
            <a:ext cx="1498600" cy="787400"/>
          </a:xfrm>
          <a:prstGeom prst="roundRect">
            <a:avLst/>
          </a:prstGeom>
          <a:solidFill>
            <a:srgbClr val="EEF2F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EF4BD-CC35-304B-9C0D-7CF7B5777491}"/>
              </a:ext>
            </a:extLst>
          </p:cNvPr>
          <p:cNvSpPr txBox="1"/>
          <p:nvPr/>
        </p:nvSpPr>
        <p:spPr>
          <a:xfrm>
            <a:off x="2108200" y="838200"/>
            <a:ext cx="14986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00" b="1" dirty="0">
                <a:solidFill>
                  <a:srgbClr val="202729"/>
                </a:solidFill>
              </a:rPr>
              <a:t>LLM</a:t>
            </a:r>
            <a:r>
              <a:rPr lang="zh-TW" altLang="en-US" sz="1300" b="1" dirty="0">
                <a:solidFill>
                  <a:srgbClr val="202729"/>
                </a:solidFill>
              </a:rPr>
              <a:t> </a:t>
            </a:r>
            <a:r>
              <a:rPr lang="ja-JP" altLang="en-US" sz="1300" b="1">
                <a:solidFill>
                  <a:srgbClr val="202729"/>
                </a:solidFill>
              </a:rPr>
              <a:t>資訊抓取，</a:t>
            </a:r>
            <a:endParaRPr lang="en-US" altLang="ja-JP" sz="1300" b="1" dirty="0">
              <a:solidFill>
                <a:srgbClr val="202729"/>
              </a:solidFill>
            </a:endParaRPr>
          </a:p>
          <a:p>
            <a:pPr algn="l"/>
            <a:r>
              <a:rPr lang="ja-JP" altLang="en-US" sz="1300" b="1">
                <a:solidFill>
                  <a:srgbClr val="202729"/>
                </a:solidFill>
              </a:rPr>
              <a:t>尋找對應的公式組合</a:t>
            </a:r>
            <a:endParaRPr lang="en-TW" sz="1300" b="1" dirty="0">
              <a:solidFill>
                <a:srgbClr val="202729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3E8BAC8-827C-F743-8FAB-36302EF1230B}"/>
              </a:ext>
            </a:extLst>
          </p:cNvPr>
          <p:cNvSpPr/>
          <p:nvPr/>
        </p:nvSpPr>
        <p:spPr>
          <a:xfrm>
            <a:off x="3810000" y="838200"/>
            <a:ext cx="1498600" cy="787400"/>
          </a:xfrm>
          <a:prstGeom prst="roundRect">
            <a:avLst/>
          </a:prstGeom>
          <a:solidFill>
            <a:srgbClr val="EEF2F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53965-AB38-D847-B954-E46D315FC075}"/>
              </a:ext>
            </a:extLst>
          </p:cNvPr>
          <p:cNvSpPr txBox="1"/>
          <p:nvPr/>
        </p:nvSpPr>
        <p:spPr>
          <a:xfrm>
            <a:off x="3810000" y="838200"/>
            <a:ext cx="14986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02729"/>
                </a:solidFill>
              </a:rPr>
              <a:t>FIC
</a:t>
            </a:r>
            <a:r>
              <a:rPr lang="ja-JP" altLang="en-US" sz="1600" b="1">
                <a:solidFill>
                  <a:srgbClr val="202729"/>
                </a:solidFill>
              </a:rPr>
              <a:t>合約填寫</a:t>
            </a:r>
            <a:endParaRPr lang="en-TW" sz="1600" b="1">
              <a:solidFill>
                <a:srgbClr val="202729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4F962A4-DAFA-A34F-ADD3-3FB5419D1FF4}"/>
              </a:ext>
            </a:extLst>
          </p:cNvPr>
          <p:cNvSpPr/>
          <p:nvPr/>
        </p:nvSpPr>
        <p:spPr>
          <a:xfrm>
            <a:off x="5511800" y="838200"/>
            <a:ext cx="1498600" cy="787400"/>
          </a:xfrm>
          <a:prstGeom prst="roundRect">
            <a:avLst/>
          </a:prstGeom>
          <a:solidFill>
            <a:srgbClr val="2027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68418D-23F2-2541-98B1-6D9F7B0E28EF}"/>
              </a:ext>
            </a:extLst>
          </p:cNvPr>
          <p:cNvSpPr txBox="1"/>
          <p:nvPr/>
        </p:nvSpPr>
        <p:spPr>
          <a:xfrm>
            <a:off x="5511800" y="838200"/>
            <a:ext cx="14986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ja-JP" sz="1600" b="1" dirty="0">
                <a:solidFill>
                  <a:srgbClr val="63D297"/>
                </a:solidFill>
              </a:rPr>
              <a:t>6 </a:t>
            </a:r>
            <a:r>
              <a:rPr lang="ja-JP" altLang="en-US" sz="1600" b="1">
                <a:solidFill>
                  <a:srgbClr val="63D297"/>
                </a:solidFill>
              </a:rPr>
              <a:t>層
診斷漏斗</a:t>
            </a:r>
            <a:endParaRPr lang="en-TW" sz="1600" b="1" dirty="0">
              <a:solidFill>
                <a:srgbClr val="63D297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BBA7989-F799-A04D-9E1B-B095EA2DE4D6}"/>
              </a:ext>
            </a:extLst>
          </p:cNvPr>
          <p:cNvSpPr/>
          <p:nvPr/>
        </p:nvSpPr>
        <p:spPr>
          <a:xfrm>
            <a:off x="7213600" y="838200"/>
            <a:ext cx="1498600" cy="787400"/>
          </a:xfrm>
          <a:prstGeom prst="round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B6BA8B-7203-FF48-B860-48884AAA7451}"/>
              </a:ext>
            </a:extLst>
          </p:cNvPr>
          <p:cNvSpPr txBox="1"/>
          <p:nvPr/>
        </p:nvSpPr>
        <p:spPr>
          <a:xfrm>
            <a:off x="7213600" y="838200"/>
            <a:ext cx="14986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b="1" dirty="0">
                <a:solidFill>
                  <a:srgbClr val="202729"/>
                </a:solidFill>
              </a:rPr>
              <a:t>Verified Output
Python </a:t>
            </a:r>
            <a:r>
              <a:rPr lang="ja-JP" altLang="en-US" b="1">
                <a:solidFill>
                  <a:srgbClr val="202729"/>
                </a:solidFill>
              </a:rPr>
              <a:t>執行</a:t>
            </a:r>
            <a:endParaRPr lang="en-TW" b="1" dirty="0">
              <a:solidFill>
                <a:srgbClr val="202729"/>
              </a:solidFill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336A52BD-7F0B-A348-AAC5-48E7958E65D1}"/>
              </a:ext>
            </a:extLst>
          </p:cNvPr>
          <p:cNvSpPr/>
          <p:nvPr/>
        </p:nvSpPr>
        <p:spPr>
          <a:xfrm>
            <a:off x="1917700" y="1117600"/>
            <a:ext cx="177800" cy="228600"/>
          </a:xfrm>
          <a:prstGeom prst="rightArrow">
            <a:avLst/>
          </a:prstGeom>
          <a:solidFill>
            <a:srgbClr val="4BA17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98810E0C-945C-CF43-9C41-20AB819735FF}"/>
              </a:ext>
            </a:extLst>
          </p:cNvPr>
          <p:cNvSpPr/>
          <p:nvPr/>
        </p:nvSpPr>
        <p:spPr>
          <a:xfrm>
            <a:off x="3619500" y="1117600"/>
            <a:ext cx="177800" cy="228600"/>
          </a:xfrm>
          <a:prstGeom prst="rightArrow">
            <a:avLst/>
          </a:prstGeom>
          <a:solidFill>
            <a:srgbClr val="4BA17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A0CF9522-CD71-7649-B667-BD4D36A088FD}"/>
              </a:ext>
            </a:extLst>
          </p:cNvPr>
          <p:cNvSpPr/>
          <p:nvPr/>
        </p:nvSpPr>
        <p:spPr>
          <a:xfrm>
            <a:off x="5321300" y="1117600"/>
            <a:ext cx="177800" cy="228600"/>
          </a:xfrm>
          <a:prstGeom prst="rightArrow">
            <a:avLst/>
          </a:prstGeom>
          <a:solidFill>
            <a:srgbClr val="4BA17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48FD7DAC-12E0-0545-AB60-F6493137FE07}"/>
              </a:ext>
            </a:extLst>
          </p:cNvPr>
          <p:cNvSpPr/>
          <p:nvPr/>
        </p:nvSpPr>
        <p:spPr>
          <a:xfrm>
            <a:off x="7023100" y="1117600"/>
            <a:ext cx="177800" cy="228600"/>
          </a:xfrm>
          <a:prstGeom prst="rightArrow">
            <a:avLst/>
          </a:prstGeom>
          <a:solidFill>
            <a:srgbClr val="4BA17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4BA5EA-61BB-2749-9D41-B005FC47F721}"/>
              </a:ext>
            </a:extLst>
          </p:cNvPr>
          <p:cNvSpPr txBox="1"/>
          <p:nvPr/>
        </p:nvSpPr>
        <p:spPr>
          <a:xfrm>
            <a:off x="406400" y="1752600"/>
            <a:ext cx="8331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800" b="1">
                <a:solidFill>
                  <a:srgbClr val="4BA173"/>
                </a:solidFill>
              </a:rPr>
              <a:t>AI </a:t>
            </a:r>
            <a:r>
              <a:rPr lang="ja-JP" altLang="en-US" sz="1800" b="1">
                <a:solidFill>
                  <a:srgbClr val="4BA173"/>
                </a:solidFill>
              </a:rPr>
              <a:t>的工作不是算數學，而是「填寫合約」。</a:t>
            </a:r>
            <a:endParaRPr lang="en-TW" sz="1800" b="1">
              <a:solidFill>
                <a:srgbClr val="4BA173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320F1E-D724-3542-9F42-F139A0443104}"/>
              </a:ext>
            </a:extLst>
          </p:cNvPr>
          <p:cNvSpPr txBox="1"/>
          <p:nvPr/>
        </p:nvSpPr>
        <p:spPr>
          <a:xfrm>
            <a:off x="406400" y="2108200"/>
            <a:ext cx="83312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202729"/>
                </a:solidFill>
              </a:rPr>
              <a:t>6 </a:t>
            </a:r>
            <a:r>
              <a:rPr lang="ja-JP" altLang="en-US" sz="1600" b="1">
                <a:solidFill>
                  <a:srgbClr val="202729"/>
                </a:solidFill>
              </a:rPr>
              <a:t>層診斷漏斗（</a:t>
            </a:r>
            <a:r>
              <a:rPr lang="en-US" sz="1600" b="1">
                <a:solidFill>
                  <a:srgbClr val="202729"/>
                </a:solidFill>
              </a:rPr>
              <a:t>M · N · F · E · I · C）— </a:t>
            </a:r>
            <a:r>
              <a:rPr lang="ja-JP" altLang="en-US" sz="1600" b="1">
                <a:solidFill>
                  <a:srgbClr val="202729"/>
                </a:solidFill>
              </a:rPr>
              <a:t>算出任何數字前，資料必須逐層通過：</a:t>
            </a:r>
            <a:endParaRPr lang="en-TW" sz="1600" b="1">
              <a:solidFill>
                <a:srgbClr val="202729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1FC8514-FFBD-2145-8493-5479CBFBF88C}"/>
              </a:ext>
            </a:extLst>
          </p:cNvPr>
          <p:cNvSpPr/>
          <p:nvPr/>
        </p:nvSpPr>
        <p:spPr>
          <a:xfrm>
            <a:off x="609600" y="2438400"/>
            <a:ext cx="1168400" cy="1498600"/>
          </a:xfrm>
          <a:prstGeom prst="roundRect">
            <a:avLst/>
          </a:prstGeom>
          <a:solidFill>
            <a:srgbClr val="EEF2F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01AE4D-6032-5B44-9C4A-68C8765617D7}"/>
              </a:ext>
            </a:extLst>
          </p:cNvPr>
          <p:cNvSpPr txBox="1"/>
          <p:nvPr/>
        </p:nvSpPr>
        <p:spPr>
          <a:xfrm>
            <a:off x="609600" y="2540000"/>
            <a:ext cx="1168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000" b="1">
                <a:solidFill>
                  <a:srgbClr val="4BA173"/>
                </a:solidFill>
              </a:rPr>
              <a:t>M</a:t>
            </a:r>
            <a:endParaRPr lang="en-TW" sz="3000" b="1">
              <a:solidFill>
                <a:srgbClr val="4BA173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8AC8E8-1F6E-F640-AF57-55D747F11631}"/>
              </a:ext>
            </a:extLst>
          </p:cNvPr>
          <p:cNvSpPr txBox="1"/>
          <p:nvPr/>
        </p:nvSpPr>
        <p:spPr>
          <a:xfrm>
            <a:off x="660400" y="3098800"/>
            <a:ext cx="10668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altLang="en-US" sz="12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語義模糊，意圖籠統</a:t>
            </a:r>
            <a:endParaRPr lang="en-US" sz="1200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32EF868-DE90-944C-9BF0-2EF2803B65B8}"/>
              </a:ext>
            </a:extLst>
          </p:cNvPr>
          <p:cNvSpPr/>
          <p:nvPr/>
        </p:nvSpPr>
        <p:spPr>
          <a:xfrm>
            <a:off x="1930400" y="2438400"/>
            <a:ext cx="1168400" cy="1498600"/>
          </a:xfrm>
          <a:prstGeom prst="roundRect">
            <a:avLst/>
          </a:prstGeom>
          <a:solidFill>
            <a:srgbClr val="EEF2F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B4245E-94E0-6143-B947-7EF504BA018F}"/>
              </a:ext>
            </a:extLst>
          </p:cNvPr>
          <p:cNvSpPr txBox="1"/>
          <p:nvPr/>
        </p:nvSpPr>
        <p:spPr>
          <a:xfrm>
            <a:off x="1930400" y="2540000"/>
            <a:ext cx="1168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000" b="1">
                <a:solidFill>
                  <a:srgbClr val="4BA173"/>
                </a:solidFill>
              </a:rPr>
              <a:t>N</a:t>
            </a:r>
            <a:endParaRPr lang="en-TW" sz="3000" b="1">
              <a:solidFill>
                <a:srgbClr val="4BA173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C0B4C3-D2D7-3040-85A4-C1A24B549849}"/>
              </a:ext>
            </a:extLst>
          </p:cNvPr>
          <p:cNvSpPr txBox="1"/>
          <p:nvPr/>
        </p:nvSpPr>
        <p:spPr>
          <a:xfrm>
            <a:off x="1981200" y="3098800"/>
            <a:ext cx="10668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TW" sz="14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無對應公式</a:t>
            </a:r>
            <a:r>
              <a:rPr lang="en-US" altLang="zh-TW" sz="14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zh-TW" altLang="en-US" sz="14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與財務內容無關</a:t>
            </a:r>
            <a:endParaRPr lang="en-TW" dirty="0">
              <a:solidFill>
                <a:srgbClr val="202729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9FB8DB7-CADA-4E4E-B0A9-756AB726DEFD}"/>
              </a:ext>
            </a:extLst>
          </p:cNvPr>
          <p:cNvSpPr/>
          <p:nvPr/>
        </p:nvSpPr>
        <p:spPr>
          <a:xfrm>
            <a:off x="3251200" y="2438400"/>
            <a:ext cx="1168400" cy="1498600"/>
          </a:xfrm>
          <a:prstGeom prst="roundRect">
            <a:avLst/>
          </a:prstGeom>
          <a:solidFill>
            <a:srgbClr val="2027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B06D02-40F6-2448-8395-DC2F904F154D}"/>
              </a:ext>
            </a:extLst>
          </p:cNvPr>
          <p:cNvSpPr txBox="1"/>
          <p:nvPr/>
        </p:nvSpPr>
        <p:spPr>
          <a:xfrm>
            <a:off x="3251200" y="2540000"/>
            <a:ext cx="1168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000" b="1">
                <a:solidFill>
                  <a:srgbClr val="63D297"/>
                </a:solidFill>
              </a:rPr>
              <a:t>F</a:t>
            </a:r>
            <a:endParaRPr lang="en-TW" sz="3000" b="1">
              <a:solidFill>
                <a:srgbClr val="63D297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1F6B8C-B28E-2B43-B268-D93230B8C8E7}"/>
              </a:ext>
            </a:extLst>
          </p:cNvPr>
          <p:cNvSpPr txBox="1"/>
          <p:nvPr/>
        </p:nvSpPr>
        <p:spPr>
          <a:xfrm>
            <a:off x="3302000" y="3098800"/>
            <a:ext cx="10668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TW" altLang="en-US" dirty="0">
                <a:solidFill>
                  <a:srgbClr val="FFFFFF"/>
                </a:solidFill>
              </a:rPr>
              <a:t>但缺少必要參數</a:t>
            </a:r>
            <a:endParaRPr lang="en-TW" dirty="0">
              <a:solidFill>
                <a:srgbClr val="FFFFFF"/>
              </a:solidFill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78F6532-126A-084A-8CBE-B736D5402666}"/>
              </a:ext>
            </a:extLst>
          </p:cNvPr>
          <p:cNvSpPr/>
          <p:nvPr/>
        </p:nvSpPr>
        <p:spPr>
          <a:xfrm>
            <a:off x="4572000" y="2438400"/>
            <a:ext cx="1168400" cy="1498600"/>
          </a:xfrm>
          <a:prstGeom prst="roundRect">
            <a:avLst/>
          </a:prstGeom>
          <a:solidFill>
            <a:srgbClr val="2027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500B0E-96D3-5344-8A20-6E20C77EA416}"/>
              </a:ext>
            </a:extLst>
          </p:cNvPr>
          <p:cNvSpPr txBox="1"/>
          <p:nvPr/>
        </p:nvSpPr>
        <p:spPr>
          <a:xfrm>
            <a:off x="4572000" y="2540000"/>
            <a:ext cx="1168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000" b="1">
                <a:solidFill>
                  <a:srgbClr val="63D297"/>
                </a:solidFill>
              </a:rPr>
              <a:t>E</a:t>
            </a:r>
            <a:endParaRPr lang="en-TW" sz="3000" b="1">
              <a:solidFill>
                <a:srgbClr val="63D297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95CD5E-EAA0-7C49-88D3-22A57C8B1C7D}"/>
              </a:ext>
            </a:extLst>
          </p:cNvPr>
          <p:cNvSpPr txBox="1"/>
          <p:nvPr/>
        </p:nvSpPr>
        <p:spPr>
          <a:xfrm>
            <a:off x="4622800" y="3098800"/>
            <a:ext cx="10668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altLang="en-US" dirty="0">
                <a:solidFill>
                  <a:srgbClr val="FFFFFF"/>
                </a:solidFill>
              </a:rPr>
              <a:t>數值存在但違反邏輯邊界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7692BE5-7236-5F43-A38C-EFD002B8B8F5}"/>
              </a:ext>
            </a:extLst>
          </p:cNvPr>
          <p:cNvSpPr/>
          <p:nvPr/>
        </p:nvSpPr>
        <p:spPr>
          <a:xfrm>
            <a:off x="5892800" y="2438400"/>
            <a:ext cx="1168400" cy="1498600"/>
          </a:xfrm>
          <a:prstGeom prst="roundRect">
            <a:avLst/>
          </a:prstGeom>
          <a:solidFill>
            <a:srgbClr val="2027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817703-E21D-1246-B438-BA13235C3F6E}"/>
              </a:ext>
            </a:extLst>
          </p:cNvPr>
          <p:cNvSpPr txBox="1"/>
          <p:nvPr/>
        </p:nvSpPr>
        <p:spPr>
          <a:xfrm>
            <a:off x="5892800" y="2540000"/>
            <a:ext cx="1168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000" b="1">
                <a:solidFill>
                  <a:srgbClr val="63D297"/>
                </a:solidFill>
              </a:rPr>
              <a:t>I</a:t>
            </a:r>
            <a:endParaRPr lang="en-TW" sz="3000" b="1">
              <a:solidFill>
                <a:srgbClr val="63D297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3F9BDD-CB8D-B045-AE98-AAC767A2A044}"/>
              </a:ext>
            </a:extLst>
          </p:cNvPr>
          <p:cNvSpPr txBox="1"/>
          <p:nvPr/>
        </p:nvSpPr>
        <p:spPr>
          <a:xfrm>
            <a:off x="5943600" y="3009900"/>
            <a:ext cx="10668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altLang="en-US" dirty="0">
                <a:solidFill>
                  <a:srgbClr val="FFFFFF"/>
                </a:solidFill>
              </a:rPr>
              <a:t>隱性語義歧義（交易時間、匯率方向）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CC91967-6DBC-FF43-BFFF-08815BF849BB}"/>
              </a:ext>
            </a:extLst>
          </p:cNvPr>
          <p:cNvSpPr/>
          <p:nvPr/>
        </p:nvSpPr>
        <p:spPr>
          <a:xfrm>
            <a:off x="7213600" y="2438400"/>
            <a:ext cx="1168400" cy="1498600"/>
          </a:xfrm>
          <a:prstGeom prst="roundRect">
            <a:avLst/>
          </a:prstGeom>
          <a:solidFill>
            <a:srgbClr val="EEF2F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EE1BF0-6B01-AE44-9E55-7D87F8506657}"/>
              </a:ext>
            </a:extLst>
          </p:cNvPr>
          <p:cNvSpPr txBox="1"/>
          <p:nvPr/>
        </p:nvSpPr>
        <p:spPr>
          <a:xfrm>
            <a:off x="7213600" y="2540000"/>
            <a:ext cx="1168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000" b="1">
                <a:solidFill>
                  <a:srgbClr val="4BA173"/>
                </a:solidFill>
              </a:rPr>
              <a:t>C</a:t>
            </a:r>
            <a:endParaRPr lang="en-TW" sz="3000" b="1">
              <a:solidFill>
                <a:srgbClr val="4BA173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E57BEC-0756-FB46-A6DF-5A0E43666312}"/>
              </a:ext>
            </a:extLst>
          </p:cNvPr>
          <p:cNvSpPr txBox="1"/>
          <p:nvPr/>
        </p:nvSpPr>
        <p:spPr>
          <a:xfrm>
            <a:off x="7264400" y="3098800"/>
            <a:ext cx="1066800" cy="787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>
                <a:solidFill>
                  <a:srgbClr val="202729"/>
                </a:solidFill>
              </a:rPr>
              <a:t>嘗試執行</a:t>
            </a:r>
            <a:r>
              <a:rPr lang="en-US" altLang="ja-JP" dirty="0">
                <a:solidFill>
                  <a:srgbClr val="202729"/>
                </a:solidFill>
              </a:rPr>
              <a:t>Python Code </a:t>
            </a:r>
            <a:r>
              <a:rPr lang="ja-JP" altLang="en-US">
                <a:solidFill>
                  <a:srgbClr val="202729"/>
                </a:solidFill>
              </a:rPr>
              <a:t>輸出</a:t>
            </a:r>
            <a:endParaRPr lang="en-TW" dirty="0">
              <a:solidFill>
                <a:srgbClr val="20272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30276C-A923-DD49-BD33-A2BFC59D9D88}"/>
              </a:ext>
            </a:extLst>
          </p:cNvPr>
          <p:cNvSpPr txBox="1"/>
          <p:nvPr/>
        </p:nvSpPr>
        <p:spPr>
          <a:xfrm>
            <a:off x="406400" y="4089400"/>
            <a:ext cx="8331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ja-JP" altLang="en-US" sz="2400" b="1">
                <a:solidFill>
                  <a:srgbClr val="202729"/>
                </a:solidFill>
              </a:rPr>
              <a:t>任一閘門未通過 → </a:t>
            </a:r>
            <a:r>
              <a:rPr lang="en-US" sz="2400" b="1" dirty="0" err="1">
                <a:solidFill>
                  <a:srgbClr val="202729"/>
                </a:solidFill>
              </a:rPr>
              <a:t>VerifiQuant</a:t>
            </a:r>
            <a:r>
              <a:rPr lang="en-US" sz="2400" b="1" dirty="0">
                <a:solidFill>
                  <a:srgbClr val="202729"/>
                </a:solidFill>
              </a:rPr>
              <a:t> </a:t>
            </a:r>
            <a:r>
              <a:rPr lang="ja-JP" altLang="en-US" sz="2400" b="1">
                <a:solidFill>
                  <a:srgbClr val="202729"/>
                </a:solidFill>
              </a:rPr>
              <a:t>不瞎猜，強制暫停、發出結構化警告，將決策權交還人類。</a:t>
            </a:r>
            <a:endParaRPr lang="en-TW" sz="2400" b="1" dirty="0">
              <a:solidFill>
                <a:srgbClr val="202729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957C672-A589-034F-8686-6F32FA4FA761}"/>
              </a:ext>
            </a:extLst>
          </p:cNvPr>
          <p:cNvSpPr/>
          <p:nvPr/>
        </p:nvSpPr>
        <p:spPr>
          <a:xfrm>
            <a:off x="0" y="4978400"/>
            <a:ext cx="9144000" cy="762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70377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3B9A4D69-482A-CA46-930E-2274453BAA5D}"/>
              </a:ext>
            </a:extLst>
          </p:cNvPr>
          <p:cNvSpPr txBox="1"/>
          <p:nvPr/>
        </p:nvSpPr>
        <p:spPr>
          <a:xfrm>
            <a:off x="406400" y="228600"/>
            <a:ext cx="83312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600" b="1">
                <a:solidFill>
                  <a:srgbClr val="202729"/>
                </a:solidFill>
              </a:rPr>
              <a:t>價值主張：用「安全拒答」換取絕對信任</a:t>
            </a:r>
            <a:endParaRPr lang="en-TW" sz="2600" b="1">
              <a:solidFill>
                <a:srgbClr val="202729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25F4DD-FFAA-F54F-AD5C-AEAC14B44B80}"/>
              </a:ext>
            </a:extLst>
          </p:cNvPr>
          <p:cNvSpPr/>
          <p:nvPr/>
        </p:nvSpPr>
        <p:spPr>
          <a:xfrm>
            <a:off x="406400" y="736600"/>
            <a:ext cx="711200" cy="508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4AB576-95A9-C941-8BA1-28C2481237F8}"/>
              </a:ext>
            </a:extLst>
          </p:cNvPr>
          <p:cNvSpPr/>
          <p:nvPr/>
        </p:nvSpPr>
        <p:spPr>
          <a:xfrm>
            <a:off x="1574800" y="889000"/>
            <a:ext cx="2235200" cy="609600"/>
          </a:xfrm>
          <a:prstGeom prst="rect">
            <a:avLst/>
          </a:prstGeom>
          <a:solidFill>
            <a:srgbClr val="61616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666C8B-3FA8-4742-B8DA-F159FBD8BC85}"/>
              </a:ext>
            </a:extLst>
          </p:cNvPr>
          <p:cNvSpPr txBox="1"/>
          <p:nvPr/>
        </p:nvSpPr>
        <p:spPr>
          <a:xfrm>
            <a:off x="1625600" y="914400"/>
            <a:ext cx="21336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</a:rPr>
              <a:t>Gemini 2.5 </a:t>
            </a:r>
            <a:r>
              <a:rPr lang="ja-JP" altLang="en-US" sz="1250" b="1">
                <a:solidFill>
                  <a:srgbClr val="FFFFFF"/>
                </a:solidFill>
              </a:rPr>
              <a:t>單次輸出</a:t>
            </a:r>
            <a:endParaRPr lang="en-TW" sz="1250" b="1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F5CD0F-7DFA-B046-ACC1-801CC94E1BA9}"/>
              </a:ext>
            </a:extLst>
          </p:cNvPr>
          <p:cNvSpPr/>
          <p:nvPr/>
        </p:nvSpPr>
        <p:spPr>
          <a:xfrm>
            <a:off x="4038600" y="889000"/>
            <a:ext cx="2235200" cy="609600"/>
          </a:xfrm>
          <a:prstGeom prst="rect">
            <a:avLst/>
          </a:prstGeom>
          <a:solidFill>
            <a:srgbClr val="61616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751957-56F3-054E-8BC4-B9E6CC79C149}"/>
              </a:ext>
            </a:extLst>
          </p:cNvPr>
          <p:cNvSpPr txBox="1"/>
          <p:nvPr/>
        </p:nvSpPr>
        <p:spPr>
          <a:xfrm>
            <a:off x="4089400" y="914400"/>
            <a:ext cx="21336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b="1">
                <a:solidFill>
                  <a:srgbClr val="FFFFFF"/>
                </a:solidFill>
              </a:rPr>
              <a:t>最強 </a:t>
            </a:r>
            <a:r>
              <a:rPr lang="en-US" b="1" dirty="0" err="1">
                <a:solidFill>
                  <a:srgbClr val="FFFFFF"/>
                </a:solidFill>
              </a:rPr>
              <a:t>CoT</a:t>
            </a:r>
            <a:r>
              <a:rPr lang="en-US" b="1" dirty="0">
                <a:solidFill>
                  <a:srgbClr val="FFFFFF"/>
                </a:solidFill>
              </a:rPr>
              <a:t> + </a:t>
            </a:r>
            <a:r>
              <a:rPr lang="ja-JP" altLang="en-US" b="1">
                <a:solidFill>
                  <a:srgbClr val="FFFFFF"/>
                </a:solidFill>
              </a:rPr>
              <a:t>盲審（</a:t>
            </a:r>
            <a:r>
              <a:rPr lang="en-US" b="1" dirty="0">
                <a:solidFill>
                  <a:srgbClr val="FFFFFF"/>
                </a:solidFill>
              </a:rPr>
              <a:t>Pro 3）＋</a:t>
            </a:r>
            <a:r>
              <a:rPr lang="ja-JP" altLang="en-US" b="1">
                <a:solidFill>
                  <a:srgbClr val="FFFFFF"/>
                </a:solidFill>
              </a:rPr>
              <a:t>多角度自我檢查 </a:t>
            </a:r>
            <a:r>
              <a:rPr lang="en-US" altLang="ja-JP" b="1" dirty="0">
                <a:solidFill>
                  <a:srgbClr val="FFFFFF"/>
                </a:solidFill>
              </a:rPr>
              <a:t>×3</a:t>
            </a:r>
            <a:endParaRPr lang="en-TW" b="1" dirty="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63F740-9E2B-0B45-A127-1E548D80910D}"/>
              </a:ext>
            </a:extLst>
          </p:cNvPr>
          <p:cNvSpPr/>
          <p:nvPr/>
        </p:nvSpPr>
        <p:spPr>
          <a:xfrm>
            <a:off x="6502400" y="889000"/>
            <a:ext cx="2235200" cy="6096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C101FC-3589-B140-A7AD-AC8F0754E89E}"/>
              </a:ext>
            </a:extLst>
          </p:cNvPr>
          <p:cNvSpPr txBox="1"/>
          <p:nvPr/>
        </p:nvSpPr>
        <p:spPr>
          <a:xfrm>
            <a:off x="6553200" y="914400"/>
            <a:ext cx="21336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202729"/>
                </a:solidFill>
              </a:rPr>
              <a:t>VerifiQuant</a:t>
            </a:r>
            <a:endParaRPr lang="en-TW" sz="1500" b="1">
              <a:solidFill>
                <a:srgbClr val="202729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031EEB-5496-DC41-A493-F0E7F6570B6E}"/>
              </a:ext>
            </a:extLst>
          </p:cNvPr>
          <p:cNvSpPr txBox="1"/>
          <p:nvPr/>
        </p:nvSpPr>
        <p:spPr>
          <a:xfrm>
            <a:off x="457200" y="1574800"/>
            <a:ext cx="10668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b="1">
                <a:solidFill>
                  <a:srgbClr val="202729"/>
                </a:solidFill>
              </a:rPr>
              <a:t>準確率</a:t>
            </a:r>
            <a:endParaRPr lang="en-TW" b="1">
              <a:solidFill>
                <a:srgbClr val="202729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CD88F4-65CF-4E47-87FE-01BAB175D5B3}"/>
              </a:ext>
            </a:extLst>
          </p:cNvPr>
          <p:cNvSpPr txBox="1"/>
          <p:nvPr/>
        </p:nvSpPr>
        <p:spPr>
          <a:xfrm>
            <a:off x="1574800" y="1574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2600" b="1">
                <a:solidFill>
                  <a:srgbClr val="202729"/>
                </a:solidFill>
              </a:rPr>
              <a:t>82%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63D051-B3F0-2F47-A3A9-2E06A8B76F91}"/>
              </a:ext>
            </a:extLst>
          </p:cNvPr>
          <p:cNvSpPr txBox="1"/>
          <p:nvPr/>
        </p:nvSpPr>
        <p:spPr>
          <a:xfrm>
            <a:off x="4038600" y="1574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2600" b="1">
                <a:solidFill>
                  <a:srgbClr val="202729"/>
                </a:solidFill>
              </a:rPr>
              <a:t>98%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2578AD-D4D3-A840-98BF-0E3D81006DAC}"/>
              </a:ext>
            </a:extLst>
          </p:cNvPr>
          <p:cNvSpPr txBox="1"/>
          <p:nvPr/>
        </p:nvSpPr>
        <p:spPr>
          <a:xfrm>
            <a:off x="6502400" y="1574800"/>
            <a:ext cx="22352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2600" b="1">
                <a:solidFill>
                  <a:srgbClr val="202729"/>
                </a:solidFill>
              </a:rPr>
              <a:t>90%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06C8F5-6DAD-AC49-887A-B5C2A23B0EEC}"/>
              </a:ext>
            </a:extLst>
          </p:cNvPr>
          <p:cNvSpPr/>
          <p:nvPr/>
        </p:nvSpPr>
        <p:spPr>
          <a:xfrm>
            <a:off x="406400" y="2108200"/>
            <a:ext cx="8331200" cy="939800"/>
          </a:xfrm>
          <a:prstGeom prst="rect">
            <a:avLst/>
          </a:prstGeom>
          <a:solidFill>
            <a:srgbClr val="2027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2F8F7B-0BD8-334F-8C28-B5E5EE014213}"/>
              </a:ext>
            </a:extLst>
          </p:cNvPr>
          <p:cNvSpPr txBox="1"/>
          <p:nvPr/>
        </p:nvSpPr>
        <p:spPr>
          <a:xfrm>
            <a:off x="508000" y="2184400"/>
            <a:ext cx="10668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b="1">
                <a:solidFill>
                  <a:srgbClr val="FF5252"/>
                </a:solidFill>
              </a:rPr>
              <a:t>靜默錯誤</a:t>
            </a:r>
            <a:endParaRPr lang="en-TW" b="1">
              <a:solidFill>
                <a:srgbClr val="FF5252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A64C9A-FA85-5A4E-9984-58F92D699E60}"/>
              </a:ext>
            </a:extLst>
          </p:cNvPr>
          <p:cNvSpPr txBox="1"/>
          <p:nvPr/>
        </p:nvSpPr>
        <p:spPr>
          <a:xfrm>
            <a:off x="1574800" y="2159000"/>
            <a:ext cx="223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3000" b="1">
                <a:solidFill>
                  <a:srgbClr val="FF5252"/>
                </a:solidFill>
              </a:rPr>
              <a:t>18%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60E3B9-6D24-214B-94F1-0DBA5381CC67}"/>
              </a:ext>
            </a:extLst>
          </p:cNvPr>
          <p:cNvSpPr txBox="1"/>
          <p:nvPr/>
        </p:nvSpPr>
        <p:spPr>
          <a:xfrm>
            <a:off x="4038600" y="2159000"/>
            <a:ext cx="223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3000" b="1">
                <a:solidFill>
                  <a:srgbClr val="FF5252"/>
                </a:solidFill>
              </a:rPr>
              <a:t>2%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C0231F-A66A-5F46-99B0-464CD841AFAA}"/>
              </a:ext>
            </a:extLst>
          </p:cNvPr>
          <p:cNvSpPr txBox="1"/>
          <p:nvPr/>
        </p:nvSpPr>
        <p:spPr>
          <a:xfrm>
            <a:off x="6502400" y="2159000"/>
            <a:ext cx="22352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3000" b="1">
                <a:solidFill>
                  <a:srgbClr val="63D297"/>
                </a:solidFill>
              </a:rPr>
              <a:t>0%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5E8B35-2772-964C-96E1-DA007A3109CF}"/>
              </a:ext>
            </a:extLst>
          </p:cNvPr>
          <p:cNvSpPr txBox="1"/>
          <p:nvPr/>
        </p:nvSpPr>
        <p:spPr>
          <a:xfrm>
            <a:off x="1574800" y="2692400"/>
            <a:ext cx="2235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FF5252"/>
                </a:solidFill>
              </a:rPr>
              <a:t>風險最高</a:t>
            </a:r>
            <a:endParaRPr lang="en-TW" sz="1100">
              <a:solidFill>
                <a:srgbClr val="FF5252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AC5E85-6A43-3949-93F5-E48AEB00E427}"/>
              </a:ext>
            </a:extLst>
          </p:cNvPr>
          <p:cNvSpPr txBox="1"/>
          <p:nvPr/>
        </p:nvSpPr>
        <p:spPr>
          <a:xfrm>
            <a:off x="4038600" y="2692400"/>
            <a:ext cx="2235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>
                <a:solidFill>
                  <a:srgbClr val="FF5252"/>
                </a:solidFill>
              </a:rPr>
              <a:t>消除不掉的致命風險</a:t>
            </a:r>
            <a:endParaRPr lang="en-TW" sz="1100">
              <a:solidFill>
                <a:srgbClr val="FF525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6122CA-2E5E-E146-AE80-3DC38564446D}"/>
              </a:ext>
            </a:extLst>
          </p:cNvPr>
          <p:cNvSpPr txBox="1"/>
          <p:nvPr/>
        </p:nvSpPr>
        <p:spPr>
          <a:xfrm>
            <a:off x="6502400" y="2692400"/>
            <a:ext cx="2235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100" b="1">
                <a:solidFill>
                  <a:srgbClr val="63D297"/>
                </a:solidFill>
              </a:rPr>
              <a:t>完美攔截</a:t>
            </a:r>
            <a:endParaRPr lang="en-TW" sz="1100" b="1">
              <a:solidFill>
                <a:srgbClr val="63D297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327974-47A4-7E47-8C68-607C20286AA2}"/>
              </a:ext>
            </a:extLst>
          </p:cNvPr>
          <p:cNvSpPr txBox="1"/>
          <p:nvPr/>
        </p:nvSpPr>
        <p:spPr>
          <a:xfrm>
            <a:off x="457200" y="3137408"/>
            <a:ext cx="10668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b="1">
                <a:solidFill>
                  <a:srgbClr val="202729"/>
                </a:solidFill>
              </a:rPr>
              <a:t>安全拒答</a:t>
            </a:r>
            <a:endParaRPr lang="en-TW" b="1">
              <a:solidFill>
                <a:srgbClr val="202729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455BAC-4F05-4145-BE9C-9801736332AB}"/>
              </a:ext>
            </a:extLst>
          </p:cNvPr>
          <p:cNvSpPr txBox="1"/>
          <p:nvPr/>
        </p:nvSpPr>
        <p:spPr>
          <a:xfrm>
            <a:off x="1574800" y="3088640"/>
            <a:ext cx="22352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2300" b="1" dirty="0">
                <a:solidFill>
                  <a:srgbClr val="202729"/>
                </a:solidFill>
              </a:rPr>
              <a:t>0%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6CC318-55C9-5249-A695-2957E39D7C7A}"/>
              </a:ext>
            </a:extLst>
          </p:cNvPr>
          <p:cNvSpPr txBox="1"/>
          <p:nvPr/>
        </p:nvSpPr>
        <p:spPr>
          <a:xfrm>
            <a:off x="4038600" y="3088640"/>
            <a:ext cx="22352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2300" b="1">
                <a:solidFill>
                  <a:srgbClr val="202729"/>
                </a:solidFill>
              </a:rPr>
              <a:t>0%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6B4748-10F2-B447-93FD-3B1F95E09EF1}"/>
              </a:ext>
            </a:extLst>
          </p:cNvPr>
          <p:cNvSpPr txBox="1"/>
          <p:nvPr/>
        </p:nvSpPr>
        <p:spPr>
          <a:xfrm>
            <a:off x="6502400" y="3088640"/>
            <a:ext cx="2235200" cy="406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TW" sz="2300" b="1">
                <a:solidFill>
                  <a:srgbClr val="4BA173"/>
                </a:solidFill>
              </a:rPr>
              <a:t>10%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F86F020-DA9E-1449-B05B-E6E3671320AA}"/>
              </a:ext>
            </a:extLst>
          </p:cNvPr>
          <p:cNvSpPr txBox="1"/>
          <p:nvPr/>
        </p:nvSpPr>
        <p:spPr>
          <a:xfrm>
            <a:off x="457200" y="3543808"/>
            <a:ext cx="11176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ja-JP" altLang="en-US" b="1">
                <a:solidFill>
                  <a:srgbClr val="202729"/>
                </a:solidFill>
              </a:rPr>
              <a:t>平均時間</a:t>
            </a:r>
            <a:endParaRPr lang="en-TW" b="1" dirty="0">
              <a:solidFill>
                <a:srgbClr val="202729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8032C7-83D6-7349-815E-3DE76E77C921}"/>
              </a:ext>
            </a:extLst>
          </p:cNvPr>
          <p:cNvSpPr txBox="1"/>
          <p:nvPr/>
        </p:nvSpPr>
        <p:spPr>
          <a:xfrm>
            <a:off x="1574800" y="357124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800" b="1">
                <a:solidFill>
                  <a:srgbClr val="202729"/>
                </a:solidFill>
              </a:rPr>
              <a:t>12 secs</a:t>
            </a:r>
            <a:endParaRPr lang="en-TW" sz="1800" b="1">
              <a:solidFill>
                <a:srgbClr val="202729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594B37-0ACA-5A49-82AE-CBB2E619F172}"/>
              </a:ext>
            </a:extLst>
          </p:cNvPr>
          <p:cNvSpPr txBox="1"/>
          <p:nvPr/>
        </p:nvSpPr>
        <p:spPr>
          <a:xfrm>
            <a:off x="4038600" y="357124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800" b="1">
                <a:solidFill>
                  <a:srgbClr val="FF5252"/>
                </a:solidFill>
              </a:rPr>
              <a:t>3 mins</a:t>
            </a:r>
            <a:endParaRPr lang="en-TW" sz="1800" b="1">
              <a:solidFill>
                <a:srgbClr val="FF5252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658BF1-BD08-4546-9067-300F976EFED0}"/>
              </a:ext>
            </a:extLst>
          </p:cNvPr>
          <p:cNvSpPr txBox="1"/>
          <p:nvPr/>
        </p:nvSpPr>
        <p:spPr>
          <a:xfrm>
            <a:off x="6502400" y="3571240"/>
            <a:ext cx="2235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800" b="1">
                <a:solidFill>
                  <a:srgbClr val="4BA173"/>
                </a:solidFill>
              </a:rPr>
              <a:t>42 secs</a:t>
            </a:r>
            <a:endParaRPr lang="en-TW" sz="1800" b="1">
              <a:solidFill>
                <a:srgbClr val="4BA173"/>
              </a:solidFill>
            </a:endParaRP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BF096AB4-4B0C-9B45-BA45-DBC274C53A1C}"/>
              </a:ext>
            </a:extLst>
          </p:cNvPr>
          <p:cNvSpPr/>
          <p:nvPr/>
        </p:nvSpPr>
        <p:spPr>
          <a:xfrm>
            <a:off x="406400" y="3962400"/>
            <a:ext cx="8331200" cy="812800"/>
          </a:xfrm>
          <a:prstGeom prst="roundRect">
            <a:avLst/>
          </a:prstGeom>
          <a:solidFill>
            <a:srgbClr val="202729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A883D5-BB81-8448-AFE4-0C7E9FC6B069}"/>
              </a:ext>
            </a:extLst>
          </p:cNvPr>
          <p:cNvSpPr txBox="1"/>
          <p:nvPr/>
        </p:nvSpPr>
        <p:spPr>
          <a:xfrm>
            <a:off x="660400" y="4089400"/>
            <a:ext cx="7823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50">
                <a:solidFill>
                  <a:srgbClr val="FFFFFF"/>
                </a:solidFill>
              </a:rPr>
              <a:t>我們寧可打斷分析師、請他再確認，也絕不給出不可審計的數字。</a:t>
            </a:r>
            <a:endParaRPr lang="en-TW" sz="1350">
              <a:solidFill>
                <a:srgbClr val="FFFFFF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FBA809-AC82-354F-9474-47593CC60B70}"/>
              </a:ext>
            </a:extLst>
          </p:cNvPr>
          <p:cNvSpPr txBox="1"/>
          <p:nvPr/>
        </p:nvSpPr>
        <p:spPr>
          <a:xfrm>
            <a:off x="660400" y="4419600"/>
            <a:ext cx="782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50" b="1">
                <a:solidFill>
                  <a:srgbClr val="63D297"/>
                </a:solidFill>
              </a:rPr>
              <a:t>把不可靠的高準確率，換成金融界最需要的 </a:t>
            </a:r>
            <a:r>
              <a:rPr lang="en-US" altLang="ja-JP" sz="1450" b="1">
                <a:solidFill>
                  <a:srgbClr val="63D297"/>
                </a:solidFill>
              </a:rPr>
              <a:t>100% </a:t>
            </a:r>
            <a:r>
              <a:rPr lang="ja-JP" altLang="en-US" sz="1450" b="1">
                <a:solidFill>
                  <a:srgbClr val="63D297"/>
                </a:solidFill>
              </a:rPr>
              <a:t>絕對信任。</a:t>
            </a:r>
            <a:endParaRPr lang="en-TW" sz="1450" b="1">
              <a:solidFill>
                <a:srgbClr val="63D297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02B16E3-D814-264F-8299-63A7BB1C77FC}"/>
              </a:ext>
            </a:extLst>
          </p:cNvPr>
          <p:cNvSpPr/>
          <p:nvPr/>
        </p:nvSpPr>
        <p:spPr>
          <a:xfrm>
            <a:off x="0" y="4978400"/>
            <a:ext cx="9144000" cy="762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80663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0E4B-4E05-C070-B00F-323B9A14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/>
              <a:t>Demo：</a:t>
            </a:r>
            <a:r>
              <a:rPr lang="ja-JP" altLang="en-US"/>
              <a:t>讓合規變得一目了然</a:t>
            </a:r>
            <a:endParaRPr lang="en-TW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42CC6D-894F-AC44-A5BC-C16E3638E6D5}"/>
              </a:ext>
            </a:extLst>
          </p:cNvPr>
          <p:cNvSpPr/>
          <p:nvPr/>
        </p:nvSpPr>
        <p:spPr>
          <a:xfrm>
            <a:off x="508000" y="2895600"/>
            <a:ext cx="1270000" cy="381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086D7A-27B0-F542-9A11-D93338E2AFCD}"/>
              </a:ext>
            </a:extLst>
          </p:cNvPr>
          <p:cNvSpPr txBox="1"/>
          <p:nvPr/>
        </p:nvSpPr>
        <p:spPr>
          <a:xfrm>
            <a:off x="508000" y="3073400"/>
            <a:ext cx="81280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600">
                <a:solidFill>
                  <a:srgbClr val="FFFFFF"/>
                </a:solidFill>
              </a:rPr>
              <a:t>真正的透明度，不是丟給法遵人員一堆程式碼，而是讓他們看見每一次決策的依據。</a:t>
            </a:r>
            <a:endParaRPr lang="en-TW" sz="160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AEFA94-8AAE-4543-8274-2CBB273F5470}"/>
              </a:ext>
            </a:extLst>
          </p:cNvPr>
          <p:cNvSpPr txBox="1"/>
          <p:nvPr/>
        </p:nvSpPr>
        <p:spPr>
          <a:xfrm>
            <a:off x="508000" y="3810000"/>
            <a:ext cx="82296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63D297"/>
                </a:solidFill>
              </a:rPr>
              <a:t>接下來 </a:t>
            </a:r>
            <a:r>
              <a:rPr lang="en-US" altLang="ja-JP" sz="1500" b="1" dirty="0">
                <a:solidFill>
                  <a:srgbClr val="63D297"/>
                </a:solidFill>
              </a:rPr>
              <a:t>4.5</a:t>
            </a:r>
            <a:r>
              <a:rPr lang="ja-JP" altLang="en-US" sz="1500" b="1">
                <a:solidFill>
                  <a:srgbClr val="63D297"/>
                </a:solidFill>
              </a:rPr>
              <a:t>分鐘實機展示：</a:t>
            </a:r>
            <a:r>
              <a:rPr lang="en-US" sz="1500" b="1" dirty="0" err="1">
                <a:solidFill>
                  <a:srgbClr val="63D297"/>
                </a:solidFill>
              </a:rPr>
              <a:t>VerifiQuant</a:t>
            </a:r>
            <a:r>
              <a:rPr lang="en-US" sz="1500" b="1" dirty="0">
                <a:solidFill>
                  <a:srgbClr val="63D297"/>
                </a:solidFill>
              </a:rPr>
              <a:t> </a:t>
            </a:r>
            <a:r>
              <a:rPr lang="ja-JP" altLang="en-US" sz="1500" b="1">
                <a:solidFill>
                  <a:srgbClr val="63D297"/>
                </a:solidFill>
              </a:rPr>
              <a:t>如何攔截致命的隱性假設，並產出符合 </a:t>
            </a:r>
            <a:r>
              <a:rPr lang="en-US" sz="1500" b="1" dirty="0">
                <a:solidFill>
                  <a:srgbClr val="63D297"/>
                </a:solidFill>
              </a:rPr>
              <a:t>EU AI Act </a:t>
            </a:r>
            <a:r>
              <a:rPr lang="ja-JP" altLang="en-US" sz="1500" b="1">
                <a:solidFill>
                  <a:srgbClr val="63D297"/>
                </a:solidFill>
              </a:rPr>
              <a:t>級別的審計報告。</a:t>
            </a:r>
            <a:endParaRPr lang="en-TW" sz="1500" b="1" dirty="0">
              <a:solidFill>
                <a:srgbClr val="63D2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351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 txBox="1">
            <a:spLocks noGrp="1"/>
          </p:cNvSpPr>
          <p:nvPr>
            <p:ph type="title"/>
          </p:nvPr>
        </p:nvSpPr>
        <p:spPr>
          <a:xfrm>
            <a:off x="266900" y="12247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核心設計：</a:t>
            </a:r>
            <a:r>
              <a:rPr lang="zh-TW" b="1"/>
              <a:t>分類漏斗（Diagnostic Funnel）錯誤類型說明</a:t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203200" y="863600"/>
            <a:ext cx="8737600" cy="558800"/>
          </a:xfrm>
          <a:prstGeom prst="rect">
            <a:avLst/>
          </a:prstGeom>
          <a:solidFill>
            <a:srgbClr val="FEF2F2"/>
          </a:solidFill>
          <a:ln w="9525" cap="flat" cmpd="sng">
            <a:solidFill>
              <a:srgbClr val="DC2626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203200" y="863600"/>
            <a:ext cx="50800" cy="55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30200" y="952500"/>
            <a:ext cx="381000" cy="381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787400" y="901700"/>
            <a:ext cx="1460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Intent</a:t>
            </a:r>
            <a:endParaRPr sz="17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Misunderstanding</a:t>
            </a:r>
            <a:endParaRPr sz="1700"/>
          </a:p>
        </p:txBody>
      </p:sp>
      <p:sp>
        <p:nvSpPr>
          <p:cNvPr id="251" name="Google Shape;251;p8"/>
          <p:cNvSpPr/>
          <p:nvPr/>
        </p:nvSpPr>
        <p:spPr>
          <a:xfrm>
            <a:off x="2197100" y="9017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語義模糊，意圖太籠統無法對應 FIC</a:t>
            </a:r>
            <a:endParaRPr dirty="0"/>
          </a:p>
        </p:txBody>
      </p:sp>
      <p:sp>
        <p:nvSpPr>
          <p:cNvPr id="252" name="Google Shape;252;p8"/>
          <p:cNvSpPr/>
          <p:nvPr/>
        </p:nvSpPr>
        <p:spPr>
          <a:xfrm>
            <a:off x="6972300" y="927100"/>
            <a:ext cx="1892300" cy="431800"/>
          </a:xfrm>
          <a:prstGeom prst="rect">
            <a:avLst/>
          </a:prstGeom>
          <a:solidFill>
            <a:srgbClr val="DC2626">
              <a:alpha val="12156"/>
            </a:srgbClr>
          </a:solidFill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Refusal + 引導式反問</a:t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203200" y="1473200"/>
            <a:ext cx="8737600" cy="558800"/>
          </a:xfrm>
          <a:prstGeom prst="rect">
            <a:avLst/>
          </a:prstGeom>
          <a:solidFill>
            <a:srgbClr val="FFF7ED"/>
          </a:solidFill>
          <a:ln w="9525" cap="flat" cmpd="sng">
            <a:solidFill>
              <a:srgbClr val="EA580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203200" y="1473200"/>
            <a:ext cx="50800" cy="558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30200" y="1562100"/>
            <a:ext cx="381000" cy="3810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787400" y="1511300"/>
            <a:ext cx="1460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b="1" i="0" u="none" strike="noStrike" cap="non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sz="17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Not Supported</a:t>
            </a:r>
            <a:endParaRPr sz="1700"/>
          </a:p>
        </p:txBody>
      </p:sp>
      <p:sp>
        <p:nvSpPr>
          <p:cNvPr id="257" name="Google Shape;257;p8"/>
          <p:cNvSpPr/>
          <p:nvPr/>
        </p:nvSpPr>
        <p:spPr>
          <a:xfrm>
            <a:off x="2197100" y="15113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意圖明確，但 FIC 庫中無對應公式</a:t>
            </a:r>
            <a:endParaRPr dirty="0"/>
          </a:p>
        </p:txBody>
      </p:sp>
      <p:sp>
        <p:nvSpPr>
          <p:cNvPr id="258" name="Google Shape;258;p8"/>
          <p:cNvSpPr/>
          <p:nvPr/>
        </p:nvSpPr>
        <p:spPr>
          <a:xfrm>
            <a:off x="6972300" y="1536700"/>
            <a:ext cx="1892300" cy="431800"/>
          </a:xfrm>
          <a:prstGeom prst="rect">
            <a:avLst/>
          </a:prstGeom>
          <a:solidFill>
            <a:srgbClr val="EA580C">
              <a:alpha val="12156"/>
            </a:srgbClr>
          </a:solidFill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Graceful Exit：宣告知識邊界</a:t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203200" y="2082800"/>
            <a:ext cx="8737600" cy="558800"/>
          </a:xfrm>
          <a:prstGeom prst="rect">
            <a:avLst/>
          </a:prstGeom>
          <a:solidFill>
            <a:srgbClr val="FFFBEB"/>
          </a:solidFill>
          <a:ln w="9525" cap="flat" cmpd="sng">
            <a:solidFill>
              <a:srgbClr val="D97706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203200" y="2082800"/>
            <a:ext cx="50800" cy="55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30200" y="217170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787400" y="2120900"/>
            <a:ext cx="1460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b="1" i="0" u="none" strike="noStrike" cap="non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endParaRPr sz="17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Formula Spec</a:t>
            </a:r>
            <a:endParaRPr sz="1700"/>
          </a:p>
        </p:txBody>
      </p:sp>
      <p:sp>
        <p:nvSpPr>
          <p:cNvPr id="263" name="Google Shape;263;p8"/>
          <p:cNvSpPr/>
          <p:nvPr/>
        </p:nvSpPr>
        <p:spPr>
          <a:xfrm>
            <a:off x="2197100" y="21209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FIC 已選定，但缺少必要參數</a:t>
            </a:r>
            <a:endParaRPr dirty="0"/>
          </a:p>
        </p:txBody>
      </p:sp>
      <p:sp>
        <p:nvSpPr>
          <p:cNvPr id="264" name="Google Shape;264;p8"/>
          <p:cNvSpPr/>
          <p:nvPr/>
        </p:nvSpPr>
        <p:spPr>
          <a:xfrm>
            <a:off x="6972300" y="2146300"/>
            <a:ext cx="1892300" cy="431800"/>
          </a:xfrm>
          <a:prstGeom prst="rect">
            <a:avLst/>
          </a:prstGeom>
          <a:solidFill>
            <a:srgbClr val="D97706">
              <a:alpha val="12156"/>
            </a:srgbClr>
          </a:solidFill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Slot-filling：動態補值</a:t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203200" y="2692400"/>
            <a:ext cx="8737600" cy="558800"/>
          </a:xfrm>
          <a:prstGeom prst="rect">
            <a:avLst/>
          </a:prstGeom>
          <a:solidFill>
            <a:srgbClr val="ECFDF5"/>
          </a:solidFill>
          <a:ln w="9525" cap="flat" cmpd="sng">
            <a:solidFill>
              <a:srgbClr val="05966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203200" y="2692400"/>
            <a:ext cx="50800" cy="558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30200" y="2781300"/>
            <a:ext cx="381000" cy="3810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787400" y="2730500"/>
            <a:ext cx="1460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Boundary</a:t>
            </a:r>
            <a:endParaRPr sz="17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Extraction Alert</a:t>
            </a:r>
            <a:endParaRPr sz="1700"/>
          </a:p>
        </p:txBody>
      </p:sp>
      <p:sp>
        <p:nvSpPr>
          <p:cNvPr id="269" name="Google Shape;269;p8"/>
          <p:cNvSpPr/>
          <p:nvPr/>
        </p:nvSpPr>
        <p:spPr>
          <a:xfrm>
            <a:off x="2197100" y="27305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數值存在但違反邏輯邊界</a:t>
            </a:r>
            <a:endParaRPr dirty="0"/>
          </a:p>
        </p:txBody>
      </p:sp>
      <p:sp>
        <p:nvSpPr>
          <p:cNvPr id="270" name="Google Shape;270;p8"/>
          <p:cNvSpPr/>
          <p:nvPr/>
        </p:nvSpPr>
        <p:spPr>
          <a:xfrm>
            <a:off x="6972300" y="2755900"/>
            <a:ext cx="1892300" cy="431800"/>
          </a:xfrm>
          <a:prstGeom prst="rect">
            <a:avLst/>
          </a:prstGeom>
          <a:solidFill>
            <a:srgbClr val="059669">
              <a:alpha val="12156"/>
            </a:srgbClr>
          </a:solidFill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Deterministic Alert：</a:t>
            </a:r>
            <a:endParaRPr sz="1050" b="1" i="0" u="none" strike="noStrike" cap="non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要求確認</a:t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203200" y="3302000"/>
            <a:ext cx="8737600" cy="55880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203200" y="3302000"/>
            <a:ext cx="50800" cy="55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330200" y="3390900"/>
            <a:ext cx="381000" cy="381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787400" y="3340100"/>
            <a:ext cx="1460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Critic</a:t>
            </a:r>
            <a:endParaRPr sz="17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Interception</a:t>
            </a:r>
            <a:endParaRPr sz="1700"/>
          </a:p>
        </p:txBody>
      </p:sp>
      <p:sp>
        <p:nvSpPr>
          <p:cNvPr id="275" name="Google Shape;275;p8"/>
          <p:cNvSpPr/>
          <p:nvPr/>
        </p:nvSpPr>
        <p:spPr>
          <a:xfrm>
            <a:off x="2197100" y="33401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隱性語義歧義（年末/年初、匯率方向）</a:t>
            </a:r>
            <a:endParaRPr dirty="0"/>
          </a:p>
        </p:txBody>
      </p:sp>
      <p:sp>
        <p:nvSpPr>
          <p:cNvPr id="276" name="Google Shape;276;p8"/>
          <p:cNvSpPr/>
          <p:nvPr/>
        </p:nvSpPr>
        <p:spPr>
          <a:xfrm>
            <a:off x="6972300" y="3365500"/>
            <a:ext cx="1892300" cy="431800"/>
          </a:xfrm>
          <a:prstGeom prst="rect">
            <a:avLst/>
          </a:prstGeom>
          <a:solidFill>
            <a:srgbClr val="2563EB">
              <a:alpha val="12156"/>
            </a:srgbClr>
          </a:solidFill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I-hard 阻止 ｜ I-soft 附警告</a:t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203200" y="3911600"/>
            <a:ext cx="8737600" cy="558800"/>
          </a:xfrm>
          <a:prstGeom prst="rect">
            <a:avLst/>
          </a:prstGeom>
          <a:solidFill>
            <a:srgbClr val="F5F3FF"/>
          </a:solidFill>
          <a:ln w="9525" cap="flat" cmpd="sng">
            <a:solidFill>
              <a:srgbClr val="7C3AED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203200" y="3911600"/>
            <a:ext cx="50800" cy="55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330200" y="4000500"/>
            <a:ext cx="381000" cy="381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787400" y="3949700"/>
            <a:ext cx="1460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Logic</a:t>
            </a:r>
            <a:endParaRPr sz="17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Calculation</a:t>
            </a:r>
            <a:endParaRPr sz="1700"/>
          </a:p>
        </p:txBody>
      </p:sp>
      <p:sp>
        <p:nvSpPr>
          <p:cNvPr id="281" name="Google Shape;281;p8"/>
          <p:cNvSpPr/>
          <p:nvPr/>
        </p:nvSpPr>
        <p:spPr>
          <a:xfrm>
            <a:off x="2197100" y="39497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確定性執行：C-exec / C-match / C-mismatch</a:t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6972300" y="3975100"/>
            <a:ext cx="1892300" cy="431800"/>
          </a:xfrm>
          <a:prstGeom prst="rect">
            <a:avLst/>
          </a:prstGeom>
          <a:solidFill>
            <a:srgbClr val="7C3AED">
              <a:alpha val="12156"/>
            </a:srgbClr>
          </a:solidFill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程式碼執行 → 歸因分析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3FE8F-A4FB-76E2-A9E1-CA2DB6C1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ja-JP" altLang="en-US"/>
              <a:t>附錄</a:t>
            </a:r>
            <a:endParaRPr lang="en-TW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E15AA-C6C4-4B4E-AB39-DE781F19D2FF}"/>
              </a:ext>
            </a:extLst>
          </p:cNvPr>
          <p:cNvSpPr/>
          <p:nvPr/>
        </p:nvSpPr>
        <p:spPr>
          <a:xfrm>
            <a:off x="508000" y="2895600"/>
            <a:ext cx="1270000" cy="38100"/>
          </a:xfrm>
          <a:prstGeom prst="rect">
            <a:avLst/>
          </a:prstGeom>
          <a:solidFill>
            <a:srgbClr val="63D29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TW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20D06-7011-C64D-82CA-75FF154F3719}"/>
              </a:ext>
            </a:extLst>
          </p:cNvPr>
          <p:cNvSpPr txBox="1"/>
          <p:nvPr/>
        </p:nvSpPr>
        <p:spPr>
          <a:xfrm>
            <a:off x="508000" y="3098800"/>
            <a:ext cx="812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ja-JP" altLang="en-US" sz="1600">
                <a:solidFill>
                  <a:srgbClr val="FFFFFF"/>
                </a:solidFill>
              </a:rPr>
              <a:t>原始研究進度報告 </a:t>
            </a:r>
            <a:r>
              <a:rPr lang="en-US" altLang="ja-JP" sz="1600">
                <a:solidFill>
                  <a:srgbClr val="FFFFFF"/>
                </a:solidFill>
              </a:rPr>
              <a:t>— </a:t>
            </a:r>
            <a:r>
              <a:rPr lang="ja-JP" altLang="en-US" sz="1600">
                <a:solidFill>
                  <a:srgbClr val="FFFFFF"/>
                </a:solidFill>
              </a:rPr>
              <a:t>完整技術細節、實驗設計與佐證資料</a:t>
            </a:r>
            <a:endParaRPr lang="en-TW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98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ec9f0cfbb_0_2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3dec9f0cfbb_0_2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g3dec9f0cfbb_0_245" title="Screenshot 2026-04-17 at 01.54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5599"/>
            <a:ext cx="9143998" cy="42323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dec9f0cfbb_0_245"/>
          <p:cNvSpPr txBox="1">
            <a:spLocks noGrp="1"/>
          </p:cNvSpPr>
          <p:nvPr>
            <p:ph type="body" idx="1"/>
          </p:nvPr>
        </p:nvSpPr>
        <p:spPr>
          <a:xfrm>
            <a:off x="192675" y="1017725"/>
            <a:ext cx="2565300" cy="1228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 b="1"/>
              <a:t>問AI 一個專案賺不賺錢...</a:t>
            </a:r>
            <a:endParaRPr sz="28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6bdba2b79_0_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3d6bdba2b79_0_1"/>
          <p:cNvSpPr txBox="1">
            <a:spLocks noGrp="1"/>
          </p:cNvSpPr>
          <p:nvPr>
            <p:ph type="body" idx="1"/>
          </p:nvPr>
        </p:nvSpPr>
        <p:spPr>
          <a:xfrm>
            <a:off x="6007200" y="204925"/>
            <a:ext cx="2825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 b="1"/>
              <a:t>Gemini</a:t>
            </a:r>
            <a:endParaRPr sz="2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 b="1"/>
              <a:t>犯下了什麼錯？</a:t>
            </a:r>
            <a:endParaRPr sz="2800" b="1"/>
          </a:p>
        </p:txBody>
      </p:sp>
      <p:pic>
        <p:nvPicPr>
          <p:cNvPr id="76" name="Google Shape;76;g3d6bdba2b79_0_1" title="Screenshot 2026-04-17 at 01.54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" y="0"/>
            <a:ext cx="527007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6bdba2b79_0_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6bdba2b79_0_7"/>
          <p:cNvSpPr txBox="1">
            <a:spLocks noGrp="1"/>
          </p:cNvSpPr>
          <p:nvPr>
            <p:ph type="body" idx="1"/>
          </p:nvPr>
        </p:nvSpPr>
        <p:spPr>
          <a:xfrm>
            <a:off x="6007200" y="1357191"/>
            <a:ext cx="2997000" cy="3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b="1">
                <a:solidFill>
                  <a:schemeClr val="accent5"/>
                </a:solidFill>
              </a:rPr>
              <a:t>我沒有跟他說我要用NPV但是他自動以為我要算NPV</a:t>
            </a:r>
            <a:r>
              <a:rPr lang="zh-TW" b="1"/>
              <a:t>（還可能是Irr, payback等其他判斷收益公式）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b="1"/>
              <a:t>我沒有跟他說</a:t>
            </a:r>
            <a:r>
              <a:rPr lang="zh-TW" b="1">
                <a:solidFill>
                  <a:schemeClr val="accent5"/>
                </a:solidFill>
              </a:rPr>
              <a:t>是期初還是期末得到現金流</a:t>
            </a:r>
            <a:endParaRPr b="1">
              <a:solidFill>
                <a:schemeClr val="accent5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b="1"/>
              <a:t>我看不出來這樣算到底是不是有錯誤的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b="1"/>
              <a:t>etc…</a:t>
            </a:r>
            <a:endParaRPr b="1"/>
          </a:p>
        </p:txBody>
      </p:sp>
      <p:pic>
        <p:nvPicPr>
          <p:cNvPr id="83" name="Google Shape;83;g3d6bdba2b79_0_7" title="Screenshot 2026-04-17 at 01.54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" y="0"/>
            <a:ext cx="527007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d6bdba2b79_0_7"/>
          <p:cNvSpPr txBox="1">
            <a:spLocks noGrp="1"/>
          </p:cNvSpPr>
          <p:nvPr>
            <p:ph type="body" idx="1"/>
          </p:nvPr>
        </p:nvSpPr>
        <p:spPr>
          <a:xfrm>
            <a:off x="6007200" y="219141"/>
            <a:ext cx="2825100" cy="121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 b="1"/>
              <a:t>Gemini</a:t>
            </a:r>
            <a:endParaRPr sz="2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 b="1"/>
              <a:t>犯下了什麼錯？</a:t>
            </a:r>
            <a:endParaRPr sz="28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6bdba2b79_0_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d6bdba2b79_0_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g3d6bdba2b79_0_15" title="Screenshot 2026-04-17 at 01.58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943" y="0"/>
            <a:ext cx="799411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6bdba2b79_0_66"/>
          <p:cNvSpPr txBox="1">
            <a:spLocks noGrp="1"/>
          </p:cNvSpPr>
          <p:nvPr>
            <p:ph type="title"/>
          </p:nvPr>
        </p:nvSpPr>
        <p:spPr>
          <a:xfrm>
            <a:off x="0" y="897662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4320" b="1">
                <a:solidFill>
                  <a:schemeClr val="dk2"/>
                </a:solidFill>
              </a:rPr>
              <a:t>心智問題 (Theory Of Mind)</a:t>
            </a:r>
            <a:endParaRPr sz="4320" b="1">
              <a:solidFill>
                <a:schemeClr val="dk2"/>
              </a:solidFill>
            </a:endParaRPr>
          </a:p>
        </p:txBody>
      </p:sp>
      <p:sp>
        <p:nvSpPr>
          <p:cNvPr id="97" name="Google Shape;97;g3d6bdba2b79_0_66"/>
          <p:cNvSpPr txBox="1">
            <a:spLocks noGrp="1"/>
          </p:cNvSpPr>
          <p:nvPr>
            <p:ph type="body" idx="1"/>
          </p:nvPr>
        </p:nvSpPr>
        <p:spPr>
          <a:xfrm>
            <a:off x="0" y="1926126"/>
            <a:ext cx="914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/>
              <a:t>用戶不知道AI在想什麼</a:t>
            </a:r>
            <a:endParaRPr sz="27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/>
              <a:t>AI不知道用戶到底需要什麼</a:t>
            </a:r>
            <a:endParaRPr sz="27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 b="1"/>
              <a:t>AI通常會猜測用戶需求</a:t>
            </a:r>
            <a:endParaRPr sz="27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/>
              <a:t>用戶猜測AI會猜到自己的需求</a:t>
            </a:r>
            <a:endParaRPr sz="27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/>
              <a:t>……</a:t>
            </a:r>
            <a:endParaRPr sz="2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b="1"/>
              <a:t>驅動</a:t>
            </a:r>
            <a:r>
              <a:rPr lang="zh-TW"/>
              <a:t>相關研究：</a:t>
            </a:r>
            <a:r>
              <a:rPr lang="zh-TW" b="1"/>
              <a:t>本研究的洞察</a:t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254000" y="1041400"/>
            <a:ext cx="8636000" cy="1778000"/>
          </a:xfrm>
          <a:prstGeom prst="rect">
            <a:avLst/>
          </a:prstGeom>
          <a:solidFill>
            <a:srgbClr val="FAFAFE"/>
          </a:solidFill>
          <a:ln w="9525" cap="flat" cmpd="sng">
            <a:solidFill>
              <a:srgbClr val="7C3AED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5400000" algn="ctr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54000" y="1041400"/>
            <a:ext cx="63500" cy="177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31800" y="1168400"/>
            <a:ext cx="355600" cy="355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863600" y="1193800"/>
            <a:ext cx="914400" cy="279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 spcFirstLastPara="1" wrap="square" lIns="36575" tIns="0" rIns="36575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ACL 2025</a:t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1905000" y="1143000"/>
            <a:ext cx="67945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FinanceReasoning — Reasoning Ability</a:t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31800" y="1676400"/>
            <a:ext cx="82804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7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核心論點：</a:t>
            </a:r>
            <a:r>
              <a:rPr lang="zh-TW" sz="17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金融推理失敗主因在於</a:t>
            </a:r>
            <a:r>
              <a:rPr lang="zh-TW" sz="17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資料集品質不佳</a:t>
            </a:r>
            <a:r>
              <a:rPr lang="zh-TW" sz="17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，而非模型能力天花板</a:t>
            </a:r>
            <a:endParaRPr sz="1700"/>
          </a:p>
        </p:txBody>
      </p:sp>
      <p:sp>
        <p:nvSpPr>
          <p:cNvPr id="109" name="Google Shape;109;p5"/>
          <p:cNvSpPr/>
          <p:nvPr/>
        </p:nvSpPr>
        <p:spPr>
          <a:xfrm>
            <a:off x="431800" y="2108200"/>
            <a:ext cx="8280400" cy="609600"/>
          </a:xfrm>
          <a:prstGeom prst="rect">
            <a:avLst/>
          </a:prstGeom>
          <a:solidFill>
            <a:srgbClr val="7C3AED">
              <a:alpha val="7843"/>
            </a:srgbClr>
          </a:solidFill>
          <a:ln>
            <a:noFill/>
          </a:ln>
        </p:spPr>
        <p:txBody>
          <a:bodyPr spcFirstLastPara="1" wrap="square" lIns="91425" tIns="36575" rIns="91425" bIns="36575" anchor="ctr" anchorCtr="0">
            <a:norm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zh-TW" sz="1295" b="0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zh-TW" sz="1295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本研究的回應：</a:t>
            </a:r>
            <a:r>
              <a:rPr lang="zh-TW" sz="1295" b="0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FIC（Financial Identity Card）系統化定義每個問題的「合約」，從根本解決資料集歧義問題</a:t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254000" y="2971800"/>
            <a:ext cx="8636000" cy="1778000"/>
          </a:xfrm>
          <a:prstGeom prst="rect">
            <a:avLst/>
          </a:prstGeom>
          <a:solidFill>
            <a:srgbClr val="F8FAFF"/>
          </a:solidFill>
          <a:ln w="9525" cap="flat" cmpd="sng">
            <a:solidFill>
              <a:srgbClr val="2563E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5400000" algn="ctr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54000" y="2971800"/>
            <a:ext cx="63500" cy="177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31800" y="3098800"/>
            <a:ext cx="355600" cy="355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863600" y="3124200"/>
            <a:ext cx="914400" cy="279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36575" tIns="0" rIns="36575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ICLR 2026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1905000" y="3073400"/>
            <a:ext cx="67945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Why Multi-Agent LLM Systems Fail</a:t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31800" y="3505200"/>
            <a:ext cx="82804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zh-TW" sz="1495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核心論點：</a:t>
            </a:r>
            <a:r>
              <a:rPr lang="zh-TW" sz="1495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Multi-Agent LLM 失敗最常見原因是「心智</a:t>
            </a:r>
            <a:r>
              <a:rPr lang="zh-TW" sz="1495">
                <a:solidFill>
                  <a:srgbClr val="6B7280"/>
                </a:solidFill>
              </a:rPr>
              <a:t>問題</a:t>
            </a:r>
            <a:r>
              <a:rPr lang="zh-TW" sz="1495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」——</a:t>
            </a:r>
            <a:r>
              <a:rPr lang="zh-TW" sz="1495">
                <a:solidFill>
                  <a:srgbClr val="6B7280"/>
                </a:solidFill>
              </a:rPr>
              <a:t>人機和agents</a:t>
            </a:r>
            <a:r>
              <a:rPr lang="zh-TW" sz="1495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間</a:t>
            </a:r>
            <a:r>
              <a:rPr lang="zh-TW" sz="1495">
                <a:solidFill>
                  <a:srgbClr val="6B7280"/>
                </a:solidFill>
              </a:rPr>
              <a:t>以為</a:t>
            </a:r>
            <a:r>
              <a:rPr lang="zh-TW" sz="1495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彼此理解</a:t>
            </a:r>
            <a:endParaRPr sz="1600"/>
          </a:p>
        </p:txBody>
      </p:sp>
      <p:sp>
        <p:nvSpPr>
          <p:cNvPr id="116" name="Google Shape;116;p5"/>
          <p:cNvSpPr/>
          <p:nvPr/>
        </p:nvSpPr>
        <p:spPr>
          <a:xfrm>
            <a:off x="431800" y="4038600"/>
            <a:ext cx="8280400" cy="609600"/>
          </a:xfrm>
          <a:prstGeom prst="rect">
            <a:avLst/>
          </a:prstGeom>
          <a:solidFill>
            <a:srgbClr val="2563EB">
              <a:alpha val="7843"/>
            </a:srgbClr>
          </a:solidFill>
          <a:ln>
            <a:noFill/>
          </a:ln>
        </p:spPr>
        <p:txBody>
          <a:bodyPr spcFirstLastPara="1" wrap="square" lIns="91425" tIns="36575" rIns="91425" bIns="36575" anchor="ctr" anchorCtr="0">
            <a:norm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zh-TW" sz="1495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zh-TW" sz="1495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本研究的回應：</a:t>
            </a:r>
            <a:r>
              <a:rPr lang="zh-TW" sz="1495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Oracle-in-the-Loop 以結構化標準（FIC）取代 Agent 間的「自然語言共識」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相關研究（2/2）：</a:t>
            </a:r>
            <a:r>
              <a:rPr lang="zh-TW" b="1"/>
              <a:t>正式驗證與金融 Multi-Agent 系統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254000" y="1041400"/>
            <a:ext cx="8636000" cy="1778000"/>
          </a:xfrm>
          <a:prstGeom prst="rect">
            <a:avLst/>
          </a:prstGeom>
          <a:solidFill>
            <a:srgbClr val="F8FDFA"/>
          </a:solidFill>
          <a:ln w="9525" cap="flat" cmpd="sng">
            <a:solidFill>
              <a:srgbClr val="05966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5400000" algn="ctr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254000" y="1041400"/>
            <a:ext cx="63500" cy="177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31800" y="1168400"/>
            <a:ext cx="355600" cy="3556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863600" y="1193800"/>
            <a:ext cx="1016000" cy="2794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 spcFirstLastPara="1" wrap="square" lIns="36575" tIns="0" rIns="36575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NeSy 2025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1981200" y="1143000"/>
            <a:ext cx="6731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Formal Verification for LLM Reasoning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31800" y="1678971"/>
            <a:ext cx="82804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核心論點：</a:t>
            </a:r>
            <a:r>
              <a:rPr lang="zh-TW" sz="14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正式驗證對 LLM 最大障礙：用戶意圖本身是非正式的自然語言，無法直接套用形式化規則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31800" y="2108200"/>
            <a:ext cx="8280400" cy="609600"/>
          </a:xfrm>
          <a:prstGeom prst="rect">
            <a:avLst/>
          </a:prstGeom>
          <a:solidFill>
            <a:srgbClr val="059669">
              <a:alpha val="7843"/>
            </a:srgbClr>
          </a:solidFill>
          <a:ln>
            <a:noFill/>
          </a:ln>
        </p:spPr>
        <p:txBody>
          <a:bodyPr spcFirstLastPara="1" wrap="square" lIns="91425" tIns="36575" rIns="91425" bIns="36575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zh-TW" sz="140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本研究的回應：</a:t>
            </a:r>
            <a:r>
              <a:rPr lang="zh-TW" sz="1400" b="0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FIC 作為「中間層合約」，將自然語言意圖結構化，使後續驗證可行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254000" y="2971800"/>
            <a:ext cx="8636000" cy="1778000"/>
          </a:xfrm>
          <a:prstGeom prst="rect">
            <a:avLst/>
          </a:prstGeom>
          <a:solidFill>
            <a:srgbClr val="FFFBFB"/>
          </a:solidFill>
          <a:ln w="9525" cap="flat" cmpd="sng">
            <a:solidFill>
              <a:srgbClr val="DC2626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5400000" algn="ctr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54000" y="2971800"/>
            <a:ext cx="63500" cy="177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31800" y="3098800"/>
            <a:ext cx="355600" cy="3556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863600" y="3124200"/>
            <a:ext cx="1016000" cy="279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spcFirstLastPara="1" wrap="square" lIns="36575" tIns="0" rIns="36575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EMNLP 2025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1981200" y="3073400"/>
            <a:ext cx="6731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JP Morgan Multi-Agent Financial System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31800" y="3609371"/>
            <a:ext cx="82804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核心論點：金融</a:t>
            </a:r>
            <a:r>
              <a:rPr lang="zh-TW" sz="14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界最先進金融 MAS 系統，Pass@1 正確率僅 46%（一次通過率極低），且無誤差歸因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31800" y="4038600"/>
            <a:ext cx="8280400" cy="609600"/>
          </a:xfrm>
          <a:prstGeom prst="rect">
            <a:avLst/>
          </a:prstGeom>
          <a:solidFill>
            <a:srgbClr val="DC2626">
              <a:alpha val="7843"/>
            </a:srgbClr>
          </a:solidFill>
          <a:ln>
            <a:noFill/>
          </a:ln>
        </p:spPr>
        <p:txBody>
          <a:bodyPr spcFirstLastPara="1" wrap="square" lIns="91425" tIns="36575" rIns="91425" bIns="36575" anchor="ctr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zh-TW" sz="1295" b="0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zh-TW" sz="1295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本研究的回應：</a:t>
            </a:r>
            <a:r>
              <a:rPr lang="zh-TW" sz="1295" b="0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VerifiQuant 以 88% 正確率超越業界基準，並提供可解釋的錯誤診斷，不僅更準確，且架構完全透明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研究摘要：</a:t>
            </a:r>
            <a:r>
              <a:rPr lang="zh-TW" b="1">
                <a:latin typeface="Arial"/>
                <a:ea typeface="Arial"/>
                <a:cs typeface="Arial"/>
                <a:sym typeface="Arial"/>
              </a:rPr>
              <a:t>VerifiQuant 是什麼？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254000" y="1041400"/>
            <a:ext cx="2768600" cy="327660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9050" dir="5400000" algn="ctr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254000" y="1041400"/>
            <a:ext cx="27686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406400" y="1244600"/>
            <a:ext cx="457200" cy="457200"/>
          </a:xfrm>
          <a:prstGeom prst="ellipse">
            <a:avLst/>
          </a:prstGeom>
          <a:solidFill>
            <a:srgbClr val="2563EB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406400" y="1778000"/>
            <a:ext cx="24638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什麼是 VerifiQuant？</a:t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406400" y="2184400"/>
            <a:ext cx="2463800" cy="19050"/>
          </a:xfrm>
          <a:prstGeom prst="rect">
            <a:avLst/>
          </a:prstGeom>
          <a:solidFill>
            <a:srgbClr val="2563EB">
              <a:alpha val="3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406400" y="2286000"/>
            <a:ext cx="24638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基於 Multi-Agent 架構的</a:t>
            </a:r>
            <a:r>
              <a:rPr lang="zh-TW" sz="1600" b="1" i="0" u="none" strike="noStrike" cap="none">
                <a:solidFill>
                  <a:srgbClr val="374151"/>
                </a:solidFill>
              </a:rPr>
              <a:t>金融推理</a:t>
            </a:r>
            <a:r>
              <a:rPr lang="zh-TW" sz="16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框架，</a:t>
            </a:r>
            <a:r>
              <a:rPr lang="zh-TW" sz="16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讓 AI 回答金融問題時提供可解釋、可驗證、可審計的完整推理過程。</a:t>
            </a: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3175000" y="1041400"/>
            <a:ext cx="2768600" cy="3276600"/>
          </a:xfrm>
          <a:prstGeom prst="rect">
            <a:avLst/>
          </a:prstGeom>
          <a:solidFill>
            <a:srgbClr val="FEF2F2"/>
          </a:solidFill>
          <a:ln w="9525" cap="flat" cmpd="sng">
            <a:solidFill>
              <a:srgbClr val="DC2626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9050" dir="5400000" algn="ctr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3175000" y="1041400"/>
            <a:ext cx="27686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3327400" y="1244600"/>
            <a:ext cx="457200" cy="457200"/>
          </a:xfrm>
          <a:prstGeom prst="ellipse">
            <a:avLst/>
          </a:prstGeom>
          <a:solidFill>
            <a:srgbClr val="DC2626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3327400" y="1778000"/>
            <a:ext cx="24638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核心問題意識</a:t>
            </a:r>
            <a:endParaRPr/>
          </a:p>
        </p:txBody>
      </p:sp>
      <p:sp>
        <p:nvSpPr>
          <p:cNvPr id="151" name="Google Shape;151;p2"/>
          <p:cNvSpPr/>
          <p:nvPr/>
        </p:nvSpPr>
        <p:spPr>
          <a:xfrm>
            <a:off x="3327400" y="2184400"/>
            <a:ext cx="2463800" cy="19050"/>
          </a:xfrm>
          <a:prstGeom prst="rect">
            <a:avLst/>
          </a:prstGeom>
          <a:solidFill>
            <a:srgbClr val="DC2626">
              <a:alpha val="3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3327400" y="2286000"/>
            <a:ext cx="24638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金融決策不能容忍 LLM 產生「無聲的幻覺」。業界需要的是：</a:t>
            </a:r>
            <a:r>
              <a:rPr lang="zh-TW" sz="16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當 AI 不確定時主動拒答</a:t>
            </a:r>
            <a:r>
              <a:rPr lang="zh-TW" sz="16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，而非給出「可能正確的數字」。</a:t>
            </a: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6096000" y="1041400"/>
            <a:ext cx="2768600" cy="3276600"/>
          </a:xfrm>
          <a:prstGeom prst="rect">
            <a:avLst/>
          </a:prstGeom>
          <a:solidFill>
            <a:srgbClr val="ECFDF5"/>
          </a:solidFill>
          <a:ln w="9525" cap="flat" cmpd="sng">
            <a:solidFill>
              <a:srgbClr val="059669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9050" dir="5400000" algn="ctr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6096000" y="1041400"/>
            <a:ext cx="2768600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6248400" y="1244600"/>
            <a:ext cx="457200" cy="457200"/>
          </a:xfrm>
          <a:prstGeom prst="ellipse">
            <a:avLst/>
          </a:prstGeom>
          <a:solidFill>
            <a:srgbClr val="059669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6248400" y="1778000"/>
            <a:ext cx="24638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解法方向與成果</a:t>
            </a:r>
            <a:endParaRPr/>
          </a:p>
        </p:txBody>
      </p:sp>
      <p:sp>
        <p:nvSpPr>
          <p:cNvPr id="157" name="Google Shape;157;p2"/>
          <p:cNvSpPr/>
          <p:nvPr/>
        </p:nvSpPr>
        <p:spPr>
          <a:xfrm>
            <a:off x="6248400" y="2184400"/>
            <a:ext cx="2463800" cy="19050"/>
          </a:xfrm>
          <a:prstGeom prst="rect">
            <a:avLst/>
          </a:prstGeom>
          <a:solidFill>
            <a:srgbClr val="059669">
              <a:alpha val="30196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6248400" y="2286000"/>
            <a:ext cx="24638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結合 Python 可驗證性 + LLM 自然語言理解，</a:t>
            </a:r>
            <a:r>
              <a:rPr lang="zh-TW" sz="16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讓自然語言提問也能得到可重現、可審計的結果</a:t>
            </a:r>
            <a:r>
              <a:rPr lang="zh-TW" sz="16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600" b="0" i="0" u="none" strike="noStrike" cap="none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" descr="AI framework 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200" y="11684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" descr="Problem awareness ico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51200" y="11684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" descr="Solution and results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72200" y="116840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痛點分析：</a:t>
            </a:r>
            <a:r>
              <a:rPr lang="zh-TW" b="1"/>
              <a:t>為什麼這個問題值得解決？</a:t>
            </a:r>
            <a:endParaRPr b="1"/>
          </a:p>
        </p:txBody>
      </p:sp>
      <p:sp>
        <p:nvSpPr>
          <p:cNvPr id="167" name="Google Shape;167;p4"/>
          <p:cNvSpPr/>
          <p:nvPr/>
        </p:nvSpPr>
        <p:spPr>
          <a:xfrm>
            <a:off x="254000" y="1041400"/>
            <a:ext cx="4254500" cy="66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109725" tIns="36575" rIns="91425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學術層面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CoT 推理的根本缺陷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254000" y="1778000"/>
            <a:ext cx="4254500" cy="73660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254000" y="1778000"/>
            <a:ext cx="50800" cy="736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406400" y="1955800"/>
            <a:ext cx="381000" cy="381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889000" y="1854200"/>
            <a:ext cx="35941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不可重現性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6B7280"/>
                </a:solidFill>
              </a:rPr>
              <a:t>同一問題每次輸出不同</a:t>
            </a:r>
            <a:r>
              <a:rPr lang="zh-TW" sz="14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，無法建立金融基準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254000" y="2590800"/>
            <a:ext cx="4254500" cy="73660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254000" y="2590800"/>
            <a:ext cx="50800" cy="736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06400" y="2768600"/>
            <a:ext cx="381000" cy="381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889000" y="2628900"/>
            <a:ext cx="3467100" cy="7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選擇重要公式錯誤</a:t>
            </a:r>
            <a:endParaRPr sz="1600" b="1" i="0" u="none" strike="noStrike" cap="non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zh-TW" sz="15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公式輸入錯誤會一路傳遞到最終答案</a:t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254000" y="3403600"/>
            <a:ext cx="4254500" cy="73660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254000" y="3403600"/>
            <a:ext cx="50800" cy="736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406400" y="3581400"/>
            <a:ext cx="381000" cy="381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889000" y="3479800"/>
            <a:ext cx="34671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黑盒問題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哪一步出錯無法診斷，無法對症下藥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4635500" y="1041400"/>
            <a:ext cx="4254500" cy="660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109725" tIns="36575" rIns="91425" bIns="36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實務層面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金融估值為何不能直接使用 LLM？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4635500" y="1778000"/>
            <a:ext cx="4254500" cy="1161970"/>
          </a:xfrm>
          <a:prstGeom prst="rect">
            <a:avLst/>
          </a:prstGeom>
          <a:solidFill>
            <a:srgbClr val="FFF7ED"/>
          </a:solidFill>
          <a:ln w="9525" cap="flat" cmpd="sng">
            <a:solidFill>
              <a:srgbClr val="EA580C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4635500" y="1778000"/>
            <a:ext cx="50800" cy="116197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4787900" y="2244202"/>
            <a:ext cx="381000" cy="3810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5270500" y="1854200"/>
            <a:ext cx="3467100" cy="105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不可預測的隨機性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金融估值需要明確且可重現的計算，由於LLM隨機性造成的不一致無法接受</a:t>
            </a:r>
            <a:endParaRPr sz="140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4635500" y="2986268"/>
            <a:ext cx="4254500" cy="1161970"/>
          </a:xfrm>
          <a:prstGeom prst="rect">
            <a:avLst/>
          </a:prstGeom>
          <a:solidFill>
            <a:srgbClr val="FFF7ED"/>
          </a:solidFill>
          <a:ln w="9525" cap="flat" cmpd="sng">
            <a:solidFill>
              <a:srgbClr val="EA580C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4640580" y="2986268"/>
            <a:ext cx="45719" cy="116197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4787900" y="3327400"/>
            <a:ext cx="381000" cy="3810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5270500" y="3106034"/>
            <a:ext cx="3467100" cy="92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無法稽核與追蹤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法規與合規需求需要每步可驗證的計算記錄，CoT 文字輸出無法滿足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研究背景：</a:t>
            </a:r>
            <a:r>
              <a:rPr lang="zh-TW" b="1"/>
              <a:t>VerifiQuant 解決了什麼問題？</a:t>
            </a: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3454400" y="1803400"/>
            <a:ext cx="5435600" cy="736600"/>
          </a:xfrm>
          <a:prstGeom prst="rect">
            <a:avLst/>
          </a:prstGeom>
          <a:solidFill>
            <a:srgbClr val="ECFDF5"/>
          </a:solidFill>
          <a:ln w="9525" cap="flat" cmpd="sng">
            <a:solidFill>
              <a:srgbClr val="059669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3454400" y="1803400"/>
            <a:ext cx="63500" cy="736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3632200" y="1955800"/>
            <a:ext cx="431800" cy="4318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0" tIns="0" rIns="0" bIns="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197" name="Google Shape;197;p3"/>
          <p:cNvSpPr/>
          <p:nvPr/>
        </p:nvSpPr>
        <p:spPr>
          <a:xfrm>
            <a:off x="4165600" y="1879600"/>
            <a:ext cx="4572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完全可審計的運算過程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每一步驟皆有紀錄，推理過程完全透明</a:t>
            </a:r>
            <a:endParaRPr/>
          </a:p>
        </p:txBody>
      </p:sp>
      <p:sp>
        <p:nvSpPr>
          <p:cNvPr id="198" name="Google Shape;198;p3"/>
          <p:cNvSpPr/>
          <p:nvPr/>
        </p:nvSpPr>
        <p:spPr>
          <a:xfrm>
            <a:off x="3454400" y="2641600"/>
            <a:ext cx="5435600" cy="736600"/>
          </a:xfrm>
          <a:prstGeom prst="rect">
            <a:avLst/>
          </a:prstGeom>
          <a:solidFill>
            <a:srgbClr val="F5F3FF"/>
          </a:solidFill>
          <a:ln w="9525" cap="flat" cmpd="sng">
            <a:solidFill>
              <a:srgbClr val="7C3AED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3454400" y="2641600"/>
            <a:ext cx="63500" cy="736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3632200" y="2794000"/>
            <a:ext cx="431800" cy="431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0" tIns="0" rIns="0" bIns="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01" name="Google Shape;201;p3"/>
          <p:cNvSpPr/>
          <p:nvPr/>
        </p:nvSpPr>
        <p:spPr>
          <a:xfrm>
            <a:off x="4165600" y="2717800"/>
            <a:ext cx="4572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可驗證的答案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Python 程式碼可重現，結果可獨立驗證</a:t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3454400" y="3479800"/>
            <a:ext cx="5435600" cy="736600"/>
          </a:xfrm>
          <a:prstGeom prst="rect">
            <a:avLst/>
          </a:prstGeom>
          <a:solidFill>
            <a:srgbClr val="FFF7ED"/>
          </a:solidFill>
          <a:ln w="9525" cap="flat" cmpd="sng">
            <a:solidFill>
              <a:srgbClr val="EA580C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3454400" y="3479800"/>
            <a:ext cx="63500" cy="7366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3632200" y="3632200"/>
            <a:ext cx="431800" cy="4318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0" tIns="0" rIns="0" bIns="0" anchor="ctr" anchorCtr="1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05" name="Google Shape;205;p3"/>
          <p:cNvSpPr/>
          <p:nvPr/>
        </p:nvSpPr>
        <p:spPr>
          <a:xfrm>
            <a:off x="4165600" y="3556000"/>
            <a:ext cx="4572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錯誤歸因能力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區分資料集問題 vs. 模型推理問題</a:t>
            </a:r>
            <a:endParaRPr/>
          </a:p>
        </p:txBody>
      </p:sp>
      <p:sp>
        <p:nvSpPr>
          <p:cNvPr id="206" name="Google Shape;206;p3"/>
          <p:cNvSpPr/>
          <p:nvPr/>
        </p:nvSpPr>
        <p:spPr>
          <a:xfrm>
            <a:off x="254000" y="1041400"/>
            <a:ext cx="8636000" cy="660400"/>
          </a:xfrm>
          <a:prstGeom prst="rect">
            <a:avLst/>
          </a:prstGeom>
          <a:solidFill>
            <a:srgbClr val="F0F9FF"/>
          </a:solidFill>
          <a:ln w="9525" cap="flat" cmpd="sng">
            <a:solidFill>
              <a:srgbClr val="2563E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Arial"/>
              <a:buNone/>
            </a:pPr>
            <a:r>
              <a:rPr lang="zh-TW" sz="1480" b="0" i="0" u="none" strike="noStrike" cap="non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本框架整合金融知識搜索、多層級審核機制與結構化拒答策略。當模型發現資訊歧義或假設缺失時，會引導用戶補充關鍵資訊，改善傳統 LLM「無規則的」非結構化 HITL</a:t>
            </a:r>
            <a:endParaRPr/>
          </a:p>
        </p:txBody>
      </p:sp>
      <p:sp>
        <p:nvSpPr>
          <p:cNvPr id="207" name="Google Shape;207;p3"/>
          <p:cNvSpPr/>
          <p:nvPr/>
        </p:nvSpPr>
        <p:spPr>
          <a:xfrm>
            <a:off x="254000" y="1803400"/>
            <a:ext cx="3048000" cy="2514600"/>
          </a:xfrm>
          <a:prstGeom prst="rect">
            <a:avLst/>
          </a:prstGeom>
          <a:solidFill>
            <a:srgbClr val="1E40AF"/>
          </a:solidFill>
          <a:ln>
            <a:noFill/>
          </a:ln>
          <a:effectLst>
            <a:outerShdw blurRad="25400" dist="19050" dir="5400000" algn="ctr" rotWithShape="0">
              <a:srgbClr val="000000">
                <a:alpha val="12156"/>
              </a:srgbClr>
            </a:outerShdw>
          </a:effectLst>
        </p:spPr>
        <p:txBody>
          <a:bodyPr spcFirstLastPara="1" wrap="square" lIns="109725" tIns="91425" rIns="109725" bIns="91425" anchor="ctr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zh-TW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正確解答金融難題率</a:t>
            </a:r>
            <a:endParaRPr sz="2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zh-TW" sz="4000" b="1" i="0" u="none" strike="noStrike" cap="none">
                <a:solidFill>
                  <a:srgbClr val="FDE68A"/>
                </a:solidFill>
                <a:latin typeface="Arial"/>
                <a:ea typeface="Arial"/>
                <a:cs typeface="Arial"/>
                <a:sym typeface="Arial"/>
              </a:rPr>
              <a:t>88% + trace</a:t>
            </a:r>
            <a:endParaRPr sz="4000" b="1" i="0" u="none" strike="noStrike" cap="none">
              <a:solidFill>
                <a:srgbClr val="FDE68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0" i="0" u="none" strike="noStrike" cap="none">
                <a:solidFill>
                  <a:srgbClr val="BFDBFE"/>
                </a:solidFill>
                <a:latin typeface="Arial"/>
                <a:ea typeface="Arial"/>
                <a:cs typeface="Arial"/>
                <a:sym typeface="Arial"/>
              </a:rPr>
              <a:t>50 題中階財務資料集正確率 44/50</a:t>
            </a:r>
            <a:endParaRPr sz="1200" b="0" i="0" u="none" strike="noStrike" cap="none">
              <a:solidFill>
                <a:srgbClr val="BFDBF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0" i="0" u="none" strike="noStrike" cap="none">
                <a:solidFill>
                  <a:srgbClr val="BFDBFE"/>
                </a:solidFill>
                <a:latin typeface="Arial"/>
                <a:ea typeface="Arial"/>
                <a:cs typeface="Arial"/>
                <a:sym typeface="Arial"/>
              </a:rPr>
              <a:t>與 CoT+自我批判×3 基準持平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方法論總覽：</a:t>
            </a:r>
            <a:r>
              <a:rPr lang="zh-TW" b="1"/>
              <a:t>四項核心貢獻</a:t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254000" y="1041400"/>
            <a:ext cx="4254500" cy="175260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5400000" algn="ctr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254000" y="1041400"/>
            <a:ext cx="4254500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52726" y="1244600"/>
            <a:ext cx="355600" cy="355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1109926" y="1219200"/>
            <a:ext cx="34163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70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FIC（Financial Identity Card）</a:t>
            </a:r>
            <a:endParaRPr sz="1900"/>
          </a:p>
        </p:txBody>
      </p:sp>
      <p:sp>
        <p:nvSpPr>
          <p:cNvPr id="217" name="Google Shape;217;p7"/>
          <p:cNvSpPr/>
          <p:nvPr/>
        </p:nvSpPr>
        <p:spPr>
          <a:xfrm>
            <a:off x="406400" y="1651000"/>
            <a:ext cx="3949700" cy="19050"/>
          </a:xfrm>
          <a:prstGeom prst="rect">
            <a:avLst/>
          </a:prstGeom>
          <a:solidFill>
            <a:srgbClr val="2563EB">
              <a:alpha val="2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06400" y="1727200"/>
            <a:ext cx="3949700" cy="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zh-TW" sz="1395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以「金融合約」形式結構化每道題目的 </a:t>
            </a:r>
            <a:r>
              <a:rPr lang="zh-TW" sz="1395" b="1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formula spec、input schema、meta knowledge、錯誤處理流程與重要</a:t>
            </a:r>
            <a:r>
              <a:rPr lang="zh-TW" sz="1395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假設</a:t>
            </a:r>
            <a:r>
              <a:rPr lang="zh-TW" sz="1395">
                <a:solidFill>
                  <a:srgbClr val="4B5563"/>
                </a:solidFill>
              </a:rPr>
              <a:t>，</a:t>
            </a:r>
            <a:r>
              <a:rPr lang="zh-TW" sz="1395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消除自然語言歧義</a:t>
            </a:r>
            <a:endParaRPr sz="1500"/>
          </a:p>
        </p:txBody>
      </p:sp>
      <p:sp>
        <p:nvSpPr>
          <p:cNvPr id="219" name="Google Shape;219;p7"/>
          <p:cNvSpPr/>
          <p:nvPr/>
        </p:nvSpPr>
        <p:spPr>
          <a:xfrm>
            <a:off x="4635500" y="1041400"/>
            <a:ext cx="4254500" cy="1752600"/>
          </a:xfrm>
          <a:prstGeom prst="rect">
            <a:avLst/>
          </a:prstGeom>
          <a:solidFill>
            <a:srgbClr val="F5F3FF"/>
          </a:solidFill>
          <a:ln w="9525" cap="flat" cmpd="sng">
            <a:solidFill>
              <a:srgbClr val="7C3AED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5400000" algn="ctr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635500" y="1041400"/>
            <a:ext cx="42545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981055" y="1244600"/>
            <a:ext cx="355600" cy="355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5438255" y="1219200"/>
            <a:ext cx="34163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700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Multi-layer Diagnostic Funnels</a:t>
            </a:r>
            <a:endParaRPr sz="1900"/>
          </a:p>
        </p:txBody>
      </p:sp>
      <p:sp>
        <p:nvSpPr>
          <p:cNvPr id="223" name="Google Shape;223;p7"/>
          <p:cNvSpPr/>
          <p:nvPr/>
        </p:nvSpPr>
        <p:spPr>
          <a:xfrm>
            <a:off x="4787900" y="1651000"/>
            <a:ext cx="3949700" cy="19050"/>
          </a:xfrm>
          <a:prstGeom prst="rect">
            <a:avLst/>
          </a:prstGeom>
          <a:solidFill>
            <a:srgbClr val="7C3AED">
              <a:alpha val="2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787900" y="1727200"/>
            <a:ext cx="39497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以分類漏斗逐層篩選答案，將錯誤區分為「資料輸入誤區」（F/E）、「需拒答」（N）、「資料集問題」（C）等，實現精準誤差歸因</a:t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254000" y="2921000"/>
            <a:ext cx="4254500" cy="1752600"/>
          </a:xfrm>
          <a:prstGeom prst="rect">
            <a:avLst/>
          </a:prstGeom>
          <a:solidFill>
            <a:srgbClr val="ECFDF5"/>
          </a:solidFill>
          <a:ln w="9525" cap="flat" cmpd="sng">
            <a:solidFill>
              <a:srgbClr val="05966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5400000" algn="ctr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54000" y="2921000"/>
            <a:ext cx="4254500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52725" y="3124200"/>
            <a:ext cx="355600" cy="3556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1109925" y="3098800"/>
            <a:ext cx="34163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70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Oracle-in-the-Loop Alignment</a:t>
            </a:r>
            <a:endParaRPr sz="1900"/>
          </a:p>
        </p:txBody>
      </p:sp>
      <p:sp>
        <p:nvSpPr>
          <p:cNvPr id="229" name="Google Shape;229;p7"/>
          <p:cNvSpPr/>
          <p:nvPr/>
        </p:nvSpPr>
        <p:spPr>
          <a:xfrm>
            <a:off x="406400" y="3530600"/>
            <a:ext cx="3949700" cy="19050"/>
          </a:xfrm>
          <a:prstGeom prst="rect">
            <a:avLst/>
          </a:prstGeom>
          <a:solidFill>
            <a:srgbClr val="059669">
              <a:alpha val="2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06400" y="3606799"/>
            <a:ext cx="3949700" cy="985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90"/>
              <a:buFont typeface="Arial"/>
              <a:buNone/>
            </a:pPr>
            <a:r>
              <a:rPr lang="zh-TW" sz="139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以 FIC 作為「答題標準合約」，讓 Multi-Agent 系統在反思時有明確依據；自動矯正可修復錯誤（Recovery Rate 38%），解決 </a:t>
            </a:r>
            <a:r>
              <a:rPr lang="zh-TW" sz="1390">
                <a:solidFill>
                  <a:srgbClr val="4B5563"/>
                </a:solidFill>
              </a:rPr>
              <a:t>心智問題</a:t>
            </a:r>
            <a:endParaRPr sz="1600"/>
          </a:p>
        </p:txBody>
      </p:sp>
      <p:sp>
        <p:nvSpPr>
          <p:cNvPr id="231" name="Google Shape;231;p7"/>
          <p:cNvSpPr/>
          <p:nvPr/>
        </p:nvSpPr>
        <p:spPr>
          <a:xfrm>
            <a:off x="4635500" y="2921000"/>
            <a:ext cx="4254500" cy="1752600"/>
          </a:xfrm>
          <a:prstGeom prst="rect">
            <a:avLst/>
          </a:prstGeom>
          <a:solidFill>
            <a:srgbClr val="FFF7ED"/>
          </a:solidFill>
          <a:ln w="9525" cap="flat" cmpd="sng">
            <a:solidFill>
              <a:srgbClr val="EA580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12700" dir="5400000" algn="ctr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635500" y="2921000"/>
            <a:ext cx="4254500" cy="635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991691" y="3124200"/>
            <a:ext cx="355600" cy="3556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5448891" y="3098800"/>
            <a:ext cx="34163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700" b="1" i="0" u="none" strike="noStrike" cap="non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整合理論框架</a:t>
            </a:r>
            <a:endParaRPr sz="1900"/>
          </a:p>
        </p:txBody>
      </p:sp>
      <p:sp>
        <p:nvSpPr>
          <p:cNvPr id="235" name="Google Shape;235;p7"/>
          <p:cNvSpPr/>
          <p:nvPr/>
        </p:nvSpPr>
        <p:spPr>
          <a:xfrm>
            <a:off x="4787900" y="3530600"/>
            <a:ext cx="3949700" cy="19050"/>
          </a:xfrm>
          <a:prstGeom prst="rect">
            <a:avLst/>
          </a:prstGeom>
          <a:solidFill>
            <a:srgbClr val="EA580C">
              <a:alpha val="25098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787900" y="3606800"/>
            <a:ext cx="3949700" cy="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zh-TW" sz="1395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連結「合約驗證」與「Multi-Agent 推理對齊」，提出從黑盒 CoT 到白盒可審計系統的通用設計原則。</a:t>
            </a:r>
            <a:endParaRPr sz="1395" b="0" i="0" u="none" strike="noStrike" cap="none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190500" y="4719577"/>
            <a:ext cx="8636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系統流程：問題分類（FIC 解析）→ 多層審核（Diagnostic Funnel）→ Oracle 介入修復 → 結構化驗證結果 / 觸發拒答機制</a:t>
            </a:r>
            <a:endParaRPr/>
          </a:p>
        </p:txBody>
      </p:sp>
      <p:pic>
        <p:nvPicPr>
          <p:cNvPr id="238" name="Google Shape;238;p7" descr="Diagnostic funnel ic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7219" y="1269528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7" descr="Oracle multi-agent ico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957" y="3168228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7" descr="Framework integration icon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01655" y="3136490"/>
            <a:ext cx="2794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7" descr="AI framework icon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0200" y="1243656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"/>
          <p:cNvSpPr txBox="1">
            <a:spLocks noGrp="1"/>
          </p:cNvSpPr>
          <p:nvPr>
            <p:ph type="body" idx="1"/>
          </p:nvPr>
        </p:nvSpPr>
        <p:spPr>
          <a:xfrm>
            <a:off x="6004925" y="4223225"/>
            <a:ext cx="2626800" cy="3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SzPts val="1800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5. 嘗試執行code, 檢查是否運行成功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536158" y="204327"/>
            <a:ext cx="1702409" cy="666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用戶問題+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提供資料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2363447" y="181177"/>
            <a:ext cx="1539433" cy="54901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33B3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FIC公式卡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4007053" y="184116"/>
            <a:ext cx="1699037" cy="54901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33B3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外部參考資料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351384" y="1515681"/>
            <a:ext cx="3632521" cy="666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是否有合適的公式卡</a:t>
            </a:r>
            <a:endParaRPr/>
          </a:p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問題是否太模糊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4117917" y="1515681"/>
            <a:ext cx="1477307" cy="666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N-承認不支持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M-請補足細節</a:t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379019" y="2499673"/>
            <a:ext cx="3632521" cy="666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用AI抓問題中公式需要的input</a:t>
            </a:r>
            <a:endParaRPr/>
          </a:p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看是否有缺漏或不合理</a:t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4131304" y="2499673"/>
            <a:ext cx="1477307" cy="666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F-缺參數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E-數值離群</a:t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373311" y="3646664"/>
            <a:ext cx="3632521" cy="46852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抓取人類和LLM可能理解不同之處</a:t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131304" y="3449048"/>
            <a:ext cx="1477307" cy="666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I-Hard:必須問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I-Soft: 可算數值</a:t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373309" y="4429085"/>
            <a:ext cx="3632521" cy="46852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執行Python並檢查執行成果</a:t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4117917" y="4417510"/>
            <a:ext cx="1477307" cy="46852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- 執行結果</a:t>
            </a:r>
            <a:endParaRPr/>
          </a:p>
        </p:txBody>
      </p:sp>
      <p:cxnSp>
        <p:nvCxnSpPr>
          <p:cNvPr id="299" name="Google Shape;299;p9"/>
          <p:cNvCxnSpPr>
            <a:stCxn id="288" idx="2"/>
          </p:cNvCxnSpPr>
          <p:nvPr/>
        </p:nvCxnSpPr>
        <p:spPr>
          <a:xfrm flipH="1">
            <a:off x="1381063" y="870471"/>
            <a:ext cx="6300" cy="644100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0" name="Google Shape;300;p9"/>
          <p:cNvCxnSpPr/>
          <p:nvPr/>
        </p:nvCxnSpPr>
        <p:spPr>
          <a:xfrm rot="10800000">
            <a:off x="1468851" y="1030449"/>
            <a:ext cx="3632521" cy="0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1" name="Google Shape;301;p9"/>
          <p:cNvCxnSpPr/>
          <p:nvPr/>
        </p:nvCxnSpPr>
        <p:spPr>
          <a:xfrm>
            <a:off x="5101372" y="730195"/>
            <a:ext cx="0" cy="300254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2" name="Google Shape;302;p9"/>
          <p:cNvCxnSpPr/>
          <p:nvPr/>
        </p:nvCxnSpPr>
        <p:spPr>
          <a:xfrm>
            <a:off x="3170329" y="730539"/>
            <a:ext cx="0" cy="300254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3" name="Google Shape;303;p9"/>
          <p:cNvSpPr txBox="1"/>
          <p:nvPr/>
        </p:nvSpPr>
        <p:spPr>
          <a:xfrm>
            <a:off x="2148641" y="1077781"/>
            <a:ext cx="1289493" cy="44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rPr lang="zh-TW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步驟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4018700" y="1049413"/>
            <a:ext cx="17025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rPr lang="zh-TW" sz="1800">
                <a:solidFill>
                  <a:srgbClr val="FF0000"/>
                </a:solidFill>
              </a:rPr>
              <a:t>若</a:t>
            </a:r>
            <a:r>
              <a:rPr lang="zh-TW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偵測</a:t>
            </a:r>
            <a:r>
              <a:rPr lang="zh-TW" sz="1800">
                <a:solidFill>
                  <a:srgbClr val="FF0000"/>
                </a:solidFill>
              </a:rPr>
              <a:t>到</a:t>
            </a:r>
            <a:r>
              <a:rPr lang="zh-TW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錯誤</a:t>
            </a: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9"/>
          <p:cNvCxnSpPr/>
          <p:nvPr/>
        </p:nvCxnSpPr>
        <p:spPr>
          <a:xfrm>
            <a:off x="1390793" y="2188570"/>
            <a:ext cx="0" cy="311103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6" name="Google Shape;306;p9"/>
          <p:cNvSpPr txBox="1"/>
          <p:nvPr/>
        </p:nvSpPr>
        <p:spPr>
          <a:xfrm>
            <a:off x="1527529" y="2135367"/>
            <a:ext cx="4149473" cy="44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rPr lang="zh-TW" sz="1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確定使用的公式卡</a:t>
            </a:r>
            <a:endParaRPr sz="1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9"/>
          <p:cNvCxnSpPr/>
          <p:nvPr/>
        </p:nvCxnSpPr>
        <p:spPr>
          <a:xfrm>
            <a:off x="1394071" y="3163829"/>
            <a:ext cx="0" cy="482835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8" name="Google Shape;308;p9"/>
          <p:cNvSpPr txBox="1"/>
          <p:nvPr/>
        </p:nvSpPr>
        <p:spPr>
          <a:xfrm>
            <a:off x="1478560" y="3159361"/>
            <a:ext cx="4149473" cy="44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rPr lang="zh-TW" sz="1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確定數值後，檢查歧異</a:t>
            </a:r>
            <a:endParaRPr sz="1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1390793" y="4115192"/>
            <a:ext cx="0" cy="311103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0" name="Google Shape;310;p9"/>
          <p:cNvSpPr txBox="1"/>
          <p:nvPr/>
        </p:nvSpPr>
        <p:spPr>
          <a:xfrm>
            <a:off x="1465136" y="4042761"/>
            <a:ext cx="4149473" cy="44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rPr lang="zh-TW" sz="1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確定一切假設，進行運算</a:t>
            </a:r>
            <a:endParaRPr sz="1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5861848" y="271033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zh-TW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系統</a:t>
            </a:r>
            <a:r>
              <a:rPr lang="zh-TW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抓取FIC與外部資料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5671366" y="1463122"/>
            <a:ext cx="5085566" cy="684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檢查抓取的外部資料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TW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是否和問題直接相關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671366" y="2447574"/>
            <a:ext cx="296031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驗證</a:t>
            </a:r>
            <a:r>
              <a:rPr lang="zh-TW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input是否有空缺或不合理</a:t>
            </a:r>
            <a:r>
              <a:rPr lang="zh-TW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之處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5671374" y="3396425"/>
            <a:ext cx="3203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4.評估是否有可能對最終數值產生影響的</a:t>
            </a:r>
            <a:r>
              <a:rPr lang="zh-TW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模糊之處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/>
          <p:nvPr/>
        </p:nvSpPr>
        <p:spPr>
          <a:xfrm flipH="1">
            <a:off x="5849248" y="181176"/>
            <a:ext cx="45719" cy="4755819"/>
          </a:xfrm>
          <a:prstGeom prst="rect">
            <a:avLst/>
          </a:prstGeom>
          <a:solidFill>
            <a:srgbClr val="7C3AED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311700" y="160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實驗結果：</a:t>
            </a:r>
            <a:r>
              <a:rPr lang="zh-TW" b="1"/>
              <a:t>Oracle-in-the-Loop 效益分析（50 題）</a:t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254000" y="889000"/>
            <a:ext cx="8636100" cy="3303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zh-TW" sz="1795" b="1" i="0" u="none" strike="noStrike" cap="none">
                <a:solidFill>
                  <a:srgbClr val="6B7280"/>
                </a:solidFill>
              </a:rPr>
              <a:t>兩種方法都給 AI 兩次自我進化的機會（公平比較）</a:t>
            </a:r>
            <a:endParaRPr sz="1900" b="1"/>
          </a:p>
        </p:txBody>
      </p:sp>
      <p:sp>
        <p:nvSpPr>
          <p:cNvPr id="322" name="Google Shape;322;p13"/>
          <p:cNvSpPr/>
          <p:nvPr/>
        </p:nvSpPr>
        <p:spPr>
          <a:xfrm>
            <a:off x="254000" y="1295400"/>
            <a:ext cx="4191000" cy="330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CoT 結果</a:t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254000" y="1625600"/>
            <a:ext cx="4191000" cy="1681934"/>
          </a:xfrm>
          <a:prstGeom prst="rect">
            <a:avLst/>
          </a:prstGeom>
          <a:solidFill>
            <a:srgbClr val="FFFBEB"/>
          </a:solidFill>
          <a:ln w="9525" cap="flat" cmpd="sng">
            <a:solidFill>
              <a:srgbClr val="D97706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381000" y="1701800"/>
            <a:ext cx="3937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Gemini 2.5 One-shot 成功：</a:t>
            </a:r>
            <a:r>
              <a:rPr lang="zh-TW" sz="1900" b="1" i="0" u="none" strike="noStrike" cap="non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30 題</a:t>
            </a:r>
            <a:endParaRPr sz="17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>
                <a:solidFill>
                  <a:srgbClr val="374151"/>
                </a:solidFill>
              </a:rPr>
              <a:t>Gemini 2.5 Pro + 讓他有兩次自我修改的機會:</a:t>
            </a:r>
            <a:r>
              <a:rPr lang="zh-TW" sz="1900" b="1">
                <a:solidFill>
                  <a:srgbClr val="D97706"/>
                </a:solidFill>
              </a:rPr>
              <a:t>44題</a:t>
            </a:r>
            <a:endParaRPr sz="1900" b="1">
              <a:solidFill>
                <a:srgbClr val="D97706"/>
              </a:solidFill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699000" y="1295400"/>
            <a:ext cx="4191000" cy="330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VerifiQuant 結果</a:t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4699000" y="1625600"/>
            <a:ext cx="4191000" cy="1681934"/>
          </a:xfrm>
          <a:prstGeom prst="rect">
            <a:avLst/>
          </a:prstGeom>
          <a:solidFill>
            <a:srgbClr val="ECFDF5"/>
          </a:solidFill>
          <a:ln w="9525" cap="flat" cmpd="sng">
            <a:solidFill>
              <a:srgbClr val="059669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826000" y="1701800"/>
            <a:ext cx="3936900" cy="14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5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無框架攔截直接輸出：</a:t>
            </a:r>
            <a:r>
              <a:rPr lang="zh-TW" sz="2300" b="1" i="0" u="none" strike="noStrike" cap="none">
                <a:solidFill>
                  <a:schemeClr val="dk2"/>
                </a:solidFill>
              </a:rPr>
              <a:t>27 題 </a:t>
            </a:r>
            <a:endParaRPr sz="2300" b="1" i="0" u="none" strike="noStrike" cap="none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500">
                <a:solidFill>
                  <a:schemeClr val="dk1"/>
                </a:solidFill>
              </a:rPr>
              <a:t>加上HITL後解決的問題（兩次優化）</a:t>
            </a:r>
            <a:r>
              <a:rPr lang="zh-TW" sz="1500">
                <a:solidFill>
                  <a:schemeClr val="dk2"/>
                </a:solidFill>
              </a:rPr>
              <a:t>：</a:t>
            </a:r>
            <a:r>
              <a:rPr lang="zh-TW" sz="1500" b="1">
                <a:solidFill>
                  <a:schemeClr val="dk2"/>
                </a:solidFill>
              </a:rPr>
              <a:t>19 題</a:t>
            </a:r>
            <a:endParaRPr sz="1500" b="1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 sz="180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最終：46 題產出結果，44 題正確</a:t>
            </a:r>
            <a:endParaRPr sz="180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254000" y="3610610"/>
            <a:ext cx="2794000" cy="104140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254000" y="3610610"/>
            <a:ext cx="27940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355600" y="3737610"/>
            <a:ext cx="279400" cy="279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685800" y="3712210"/>
            <a:ext cx="22606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正確率持平 88%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374151"/>
                </a:solidFill>
              </a:rPr>
              <a:t>額外賦予推理可重現、結果可驗證、誤差可歸因</a:t>
            </a:r>
            <a:endParaRPr b="1"/>
          </a:p>
        </p:txBody>
      </p:sp>
      <p:sp>
        <p:nvSpPr>
          <p:cNvPr id="332" name="Google Shape;332;p13"/>
          <p:cNvSpPr/>
          <p:nvPr/>
        </p:nvSpPr>
        <p:spPr>
          <a:xfrm>
            <a:off x="3175000" y="3610610"/>
            <a:ext cx="2794000" cy="1041400"/>
          </a:xfrm>
          <a:prstGeom prst="rect">
            <a:avLst/>
          </a:prstGeom>
          <a:solidFill>
            <a:srgbClr val="FFFBEB"/>
          </a:solidFill>
          <a:ln w="9525" cap="flat" cmpd="sng">
            <a:solidFill>
              <a:srgbClr val="D97706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3175000" y="3610610"/>
            <a:ext cx="279400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3276600" y="3737610"/>
            <a:ext cx="279400" cy="2794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3606800" y="3712210"/>
            <a:ext cx="22606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>
                <a:solidFill>
                  <a:srgbClr val="D97706"/>
                </a:solidFill>
              </a:rPr>
              <a:t>6天</a:t>
            </a:r>
            <a:r>
              <a:rPr lang="zh-TW" sz="1600" b="1" i="0" u="none" strike="noStrike" cap="non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非模型能力問題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>
                <a:solidFill>
                  <a:srgbClr val="374151"/>
                </a:solidFill>
              </a:rPr>
              <a:t>包含</a:t>
            </a: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1 題 Function 錯誤，2 題定義不涵蓋問題</a:t>
            </a:r>
            <a:r>
              <a:rPr lang="zh-TW">
                <a:solidFill>
                  <a:srgbClr val="374151"/>
                </a:solidFill>
              </a:rPr>
              <a:t>等</a:t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6096000" y="3610610"/>
            <a:ext cx="2794000" cy="1041400"/>
          </a:xfrm>
          <a:prstGeom prst="rect">
            <a:avLst/>
          </a:prstGeom>
          <a:solidFill>
            <a:srgbClr val="ECFDF5"/>
          </a:solidFill>
          <a:ln w="9525" cap="flat" cmpd="sng">
            <a:solidFill>
              <a:srgbClr val="05966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6096000" y="3610610"/>
            <a:ext cx="27940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6197600" y="3737610"/>
            <a:ext cx="279400" cy="2794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6527800" y="3712210"/>
            <a:ext cx="226060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Arial"/>
              <a:buNone/>
            </a:pPr>
            <a:r>
              <a:rPr lang="zh-TW" sz="148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超越業界基準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zh-TW" sz="1295" b="1" i="0" u="none" strike="noStrike" cap="none">
                <a:solidFill>
                  <a:srgbClr val="374151"/>
                </a:solidFill>
              </a:rPr>
              <a:t>JP Morgan MAS Pass@1 僅 46%，VerifiQuant 88% 且可審計 (難度類似)</a:t>
            </a:r>
            <a:endParaRPr sz="1295" b="1" i="0" u="none" strike="noStrike" cap="none">
              <a:solidFill>
                <a:srgbClr val="37415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I類檢測成功且重要範例 1  :TRIN公式</a:t>
            </a:r>
            <a:endParaRPr/>
          </a:p>
        </p:txBody>
      </p:sp>
      <p:pic>
        <p:nvPicPr>
          <p:cNvPr id="345" name="Google Shape;34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000" y="1041400"/>
            <a:ext cx="6556233" cy="977786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1"/>
          <p:cNvSpPr/>
          <p:nvPr/>
        </p:nvSpPr>
        <p:spPr>
          <a:xfrm>
            <a:off x="254000" y="2243920"/>
            <a:ext cx="4191000" cy="1858179"/>
          </a:xfrm>
          <a:prstGeom prst="rect">
            <a:avLst/>
          </a:prstGeom>
          <a:solidFill>
            <a:srgbClr val="FEF2F2"/>
          </a:solidFill>
          <a:ln w="9525" cap="flat" cmpd="sng">
            <a:solidFill>
              <a:srgbClr val="DC2626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254000" y="2243921"/>
            <a:ext cx="4191000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381000" y="2370921"/>
            <a:ext cx="3937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問題：主觀閾值判斷</a:t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381000" y="2675721"/>
            <a:ext cx="3937000" cy="1348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TRIN 公式固定，但「市場情緒」是主觀標籤。TRIN &lt; 1.0 通常看多，但有交易員把 0.5 以下才視為極度超買。</a:t>
            </a:r>
            <a:r>
              <a:rPr lang="zh-TW" sz="14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期望輸出為布林值（true/false），而非數值計算</a:t>
            </a: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4572000" y="2243921"/>
            <a:ext cx="4318000" cy="1794678"/>
          </a:xfrm>
          <a:prstGeom prst="rect">
            <a:avLst/>
          </a:prstGeom>
          <a:solidFill>
            <a:srgbClr val="ECFDF5"/>
          </a:solidFill>
          <a:ln w="9525" cap="flat" cmpd="sng">
            <a:solidFill>
              <a:srgbClr val="05966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4572000" y="2243921"/>
            <a:ext cx="4318000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4699000" y="2370921"/>
            <a:ext cx="4064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zh-TW" sz="1295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✓ 審計邏輯</a:t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4699000" y="2675721"/>
            <a:ext cx="4064000" cy="1348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如果框架不攔截，LLM 會隨機根據訓練資料選一個閾值，</a:t>
            </a:r>
            <a:r>
              <a:rPr lang="zh-TW" sz="14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產生「隱性假設」</a:t>
            </a: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。框架強迫用戶（或系統預設）定義這個閾值，確保審計一致性。</a:t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254000" y="4312738"/>
            <a:ext cx="86360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關鍵價值：將「隱性主觀假設」轉為「顯性可審計參數」，消除 LLM 隨機閾值選擇問題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"/>
          <p:cNvSpPr txBox="1">
            <a:spLocks noGrp="1"/>
          </p:cNvSpPr>
          <p:nvPr>
            <p:ph type="title"/>
          </p:nvPr>
        </p:nvSpPr>
        <p:spPr>
          <a:xfrm>
            <a:off x="311700" y="290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I類檢測成功且重要範例 2 :</a:t>
            </a:r>
            <a:r>
              <a:rPr lang="zh-TW" b="1"/>
              <a:t>公式歧義</a:t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254000" y="990600"/>
            <a:ext cx="8636000" cy="355600"/>
          </a:xfrm>
          <a:prstGeom prst="rect">
            <a:avLst/>
          </a:prstGeom>
          <a:solidFill>
            <a:srgbClr val="FEF3C7"/>
          </a:solidFill>
          <a:ln w="9525" cap="flat" cmpd="sng">
            <a:solidFill>
              <a:srgbClr val="D97706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254000" y="990600"/>
            <a:ext cx="8636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⚠ 現實狀況：題目同時給了 current_liabilities 和 total_debt，LLM 會隨機挑公式</a:t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254000" y="1473200"/>
            <a:ext cx="3937000" cy="143510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254000" y="1473200"/>
            <a:ext cx="3937000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381000" y="1600200"/>
            <a:ext cx="3683000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45700" rIns="54850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公式 A (Ground Truth 採用)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4323080" y="1903730"/>
            <a:ext cx="508000" cy="508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4953000" y="1473200"/>
            <a:ext cx="3937000" cy="1435100"/>
          </a:xfrm>
          <a:prstGeom prst="rect">
            <a:avLst/>
          </a:prstGeom>
          <a:solidFill>
            <a:srgbClr val="FEF2F2"/>
          </a:solidFill>
          <a:ln w="9525" cap="flat" cmpd="sng">
            <a:solidFill>
              <a:srgbClr val="DC2626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4953000" y="1473200"/>
            <a:ext cx="3937000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5080000" y="1600200"/>
            <a:ext cx="3683000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45700" rIns="54850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公式 B (模型可能選擇)</a:t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4419600" y="2828290"/>
            <a:ext cx="304800" cy="22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254000" y="3098800"/>
            <a:ext cx="8636000" cy="660400"/>
          </a:xfrm>
          <a:prstGeom prst="rect">
            <a:avLst/>
          </a:prstGeom>
          <a:solidFill>
            <a:srgbClr val="F5F3FF"/>
          </a:solidFill>
          <a:ln w="9525" cap="flat" cmpd="sng">
            <a:solidFill>
              <a:srgbClr val="6366F1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355600" y="3149600"/>
            <a:ext cx="84328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45700" rIns="54850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VerifiQuant 的價值：</a:t>
            </a: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框架偵測到「數據可算兩種答案」→ 語義歧義（Semantic Ambiguity）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✓ 解法：</a:t>
            </a: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主動詢問用戶選擇公式及對應 code，消除歧義</a:t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254000" y="3886200"/>
            <a:ext cx="8636000" cy="381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254000" y="3886200"/>
            <a:ext cx="863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45700" rIns="54850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「數值不同但推理正確」→ 非模型錯誤，是需要人類決策介入的問題</a:t>
            </a:r>
            <a:endParaRPr/>
          </a:p>
        </p:txBody>
      </p:sp>
      <p:pic>
        <p:nvPicPr>
          <p:cNvPr id="374" name="Google Shape;37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9626" y="1991996"/>
            <a:ext cx="2725748" cy="763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8100" y="2111104"/>
            <a:ext cx="36703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ec9f0cfbb_0_202"/>
          <p:cNvSpPr txBox="1"/>
          <p:nvPr/>
        </p:nvSpPr>
        <p:spPr>
          <a:xfrm>
            <a:off x="203200" y="59200"/>
            <a:ext cx="3245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 b="1">
                <a:solidFill>
                  <a:srgbClr val="202729"/>
                </a:solidFill>
              </a:rPr>
              <a:t>Demo 演示</a:t>
            </a:r>
            <a:endParaRPr sz="2800">
              <a:solidFill>
                <a:srgbClr val="202729"/>
              </a:solidFill>
            </a:endParaRPr>
          </a:p>
        </p:txBody>
      </p:sp>
      <p:sp>
        <p:nvSpPr>
          <p:cNvPr id="381" name="Google Shape;381;g3dec9f0cfbb_0_202"/>
          <p:cNvSpPr/>
          <p:nvPr/>
        </p:nvSpPr>
        <p:spPr>
          <a:xfrm>
            <a:off x="203200" y="631900"/>
            <a:ext cx="3245400" cy="43410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dec9f0cfbb_0_202"/>
          <p:cNvSpPr/>
          <p:nvPr/>
        </p:nvSpPr>
        <p:spPr>
          <a:xfrm>
            <a:off x="203200" y="631900"/>
            <a:ext cx="3245400" cy="364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5485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📋 示範題目（NPV 計算）</a:t>
            </a:r>
            <a:endParaRPr/>
          </a:p>
        </p:txBody>
      </p:sp>
      <p:sp>
        <p:nvSpPr>
          <p:cNvPr id="383" name="Google Shape;383;g3dec9f0cfbb_0_202"/>
          <p:cNvSpPr/>
          <p:nvPr/>
        </p:nvSpPr>
        <p:spPr>
          <a:xfrm>
            <a:off x="268106" y="1062705"/>
            <a:ext cx="31155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zh-TW" sz="13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Context：一家新創科技公司正在考慮投資一個新的軟體開發專案。初始投資 10 萬美元（第一年年初）。未來五年現金流：2萬</a:t>
            </a:r>
            <a:r>
              <a:rPr lang="zh-TW" sz="1350">
                <a:solidFill>
                  <a:srgbClr val="475569"/>
                </a:solidFill>
              </a:rPr>
              <a:t>,</a:t>
            </a:r>
            <a:r>
              <a:rPr lang="zh-TW" sz="13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3萬</a:t>
            </a:r>
            <a:r>
              <a:rPr lang="zh-TW" sz="1350">
                <a:solidFill>
                  <a:srgbClr val="475569"/>
                </a:solidFill>
              </a:rPr>
              <a:t>,</a:t>
            </a:r>
            <a:r>
              <a:rPr lang="zh-TW" sz="13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3.5萬</a:t>
            </a:r>
            <a:r>
              <a:rPr lang="zh-TW" sz="1350">
                <a:solidFill>
                  <a:srgbClr val="475569"/>
                </a:solidFill>
              </a:rPr>
              <a:t>,</a:t>
            </a:r>
            <a:r>
              <a:rPr lang="zh-TW" sz="13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4萬</a:t>
            </a:r>
            <a:r>
              <a:rPr lang="zh-TW" sz="1350">
                <a:solidFill>
                  <a:srgbClr val="475569"/>
                </a:solidFill>
              </a:rPr>
              <a:t>,</a:t>
            </a:r>
            <a:r>
              <a:rPr lang="zh-TW" sz="13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4.5萬。折現率 8%，年底到款。</a:t>
            </a:r>
            <a:endParaRPr sz="2000"/>
          </a:p>
          <a:p>
            <a:pPr marL="0" marR="0" lvl="0" indent="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zh-TW" sz="1300" b="1" i="0" u="none" strike="noStrike" cap="non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Question：該軟體開發專案的淨現值（NPV）是多少？答案取最接近的整數。</a:t>
            </a:r>
            <a:endParaRPr sz="1900"/>
          </a:p>
        </p:txBody>
      </p:sp>
      <p:sp>
        <p:nvSpPr>
          <p:cNvPr id="384" name="Google Shape;384;g3dec9f0cfbb_0_202"/>
          <p:cNvSpPr/>
          <p:nvPr/>
        </p:nvSpPr>
        <p:spPr>
          <a:xfrm>
            <a:off x="268106" y="3382521"/>
            <a:ext cx="3115500" cy="364200"/>
          </a:xfrm>
          <a:prstGeom prst="rect">
            <a:avLst/>
          </a:prstGeom>
          <a:solidFill>
            <a:srgbClr val="059669">
              <a:alpha val="12160"/>
            </a:srgbClr>
          </a:solidFill>
          <a:ln>
            <a:noFill/>
          </a:ln>
        </p:spPr>
        <p:txBody>
          <a:bodyPr spcFirstLastPara="1" wrap="square" lIns="5485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zh-TW" sz="165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✓ 正確答案：$</a:t>
            </a:r>
            <a:r>
              <a:rPr lang="zh-TW" sz="1650" b="1">
                <a:solidFill>
                  <a:srgbClr val="059669"/>
                </a:solidFill>
              </a:rPr>
              <a:t>32,050</a:t>
            </a:r>
            <a:r>
              <a:rPr lang="zh-TW" sz="165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（NPV）</a:t>
            </a:r>
            <a:endParaRPr sz="2200"/>
          </a:p>
        </p:txBody>
      </p:sp>
      <p:sp>
        <p:nvSpPr>
          <p:cNvPr id="385" name="Google Shape;385;g3dec9f0cfbb_0_202"/>
          <p:cNvSpPr/>
          <p:nvPr/>
        </p:nvSpPr>
        <p:spPr>
          <a:xfrm>
            <a:off x="268106" y="3846464"/>
            <a:ext cx="3115500" cy="11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zh-TW" sz="15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同一題目，透過 6 種不同的提問方式，展示 VerifiQuant 對各種錯誤類型的處理能力。</a:t>
            </a:r>
            <a:endParaRPr sz="2100"/>
          </a:p>
        </p:txBody>
      </p:sp>
      <p:sp>
        <p:nvSpPr>
          <p:cNvPr id="386" name="Google Shape;386;g3dec9f0cfbb_0_202"/>
          <p:cNvSpPr/>
          <p:nvPr/>
        </p:nvSpPr>
        <p:spPr>
          <a:xfrm>
            <a:off x="3567150" y="59200"/>
            <a:ext cx="2666100" cy="1537800"/>
          </a:xfrm>
          <a:prstGeom prst="rect">
            <a:avLst/>
          </a:prstGeom>
          <a:solidFill>
            <a:srgbClr val="ECFDF5"/>
          </a:solidFill>
          <a:ln w="11125" cap="flat" cmpd="sng">
            <a:solidFill>
              <a:srgbClr val="059669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dec9f0cfbb_0_202"/>
          <p:cNvSpPr/>
          <p:nvPr/>
        </p:nvSpPr>
        <p:spPr>
          <a:xfrm>
            <a:off x="3567150" y="59200"/>
            <a:ext cx="57900" cy="1537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dec9f0cfbb_0_202"/>
          <p:cNvSpPr/>
          <p:nvPr/>
        </p:nvSpPr>
        <p:spPr>
          <a:xfrm>
            <a:off x="3712054" y="171727"/>
            <a:ext cx="2434500" cy="13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lang="zh-TW" sz="1709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Case 1</a:t>
            </a:r>
            <a:r>
              <a:rPr lang="zh-TW" sz="1593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zh-TW" sz="1593" b="1" i="0" u="none" strike="noStrike" cap="none">
                <a:solidFill>
                  <a:srgbClr val="6B7280"/>
                </a:solidFill>
              </a:rPr>
              <a:t>正常詢問</a:t>
            </a:r>
            <a:endParaRPr sz="2235" b="1"/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zh-TW" sz="1534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✓ 成功</a:t>
            </a:r>
            <a:endParaRPr sz="2235"/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精確提問 → 找到卡片 → 正確計算 $2,940</a:t>
            </a:r>
            <a:endParaRPr sz="2235"/>
          </a:p>
        </p:txBody>
      </p:sp>
      <p:sp>
        <p:nvSpPr>
          <p:cNvPr id="389" name="Google Shape;389;g3dec9f0cfbb_0_202"/>
          <p:cNvSpPr/>
          <p:nvPr/>
        </p:nvSpPr>
        <p:spPr>
          <a:xfrm>
            <a:off x="6349312" y="59200"/>
            <a:ext cx="2666100" cy="1537800"/>
          </a:xfrm>
          <a:prstGeom prst="rect">
            <a:avLst/>
          </a:prstGeom>
          <a:solidFill>
            <a:srgbClr val="FEF2F2"/>
          </a:solidFill>
          <a:ln w="11125" cap="flat" cmpd="sng">
            <a:solidFill>
              <a:srgbClr val="DC2626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dec9f0cfbb_0_202"/>
          <p:cNvSpPr/>
          <p:nvPr/>
        </p:nvSpPr>
        <p:spPr>
          <a:xfrm>
            <a:off x="6349312" y="59200"/>
            <a:ext cx="57900" cy="1537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dec9f0cfbb_0_202"/>
          <p:cNvSpPr/>
          <p:nvPr/>
        </p:nvSpPr>
        <p:spPr>
          <a:xfrm>
            <a:off x="6494216" y="171727"/>
            <a:ext cx="2434500" cy="13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lang="zh-TW" sz="1709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Case 2</a:t>
            </a:r>
            <a:r>
              <a:rPr lang="zh-TW" sz="1593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zh-TW" sz="1593" b="1" i="0" u="none" strike="noStrike" cap="none">
                <a:solidFill>
                  <a:srgbClr val="6B7280"/>
                </a:solidFill>
              </a:rPr>
              <a:t>模糊詢問</a:t>
            </a:r>
            <a:endParaRPr sz="2235" b="1"/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zh-TW" sz="1534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N 類錯誤</a:t>
            </a:r>
            <a:endParaRPr sz="2235"/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lang="zh-TW" sz="1476">
                <a:solidFill>
                  <a:srgbClr val="374151"/>
                </a:solidFill>
              </a:rPr>
              <a:t>只告訴他「</a:t>
            </a:r>
            <a:r>
              <a:rPr lang="zh-TW" sz="1476" b="1">
                <a:solidFill>
                  <a:srgbClr val="374151"/>
                </a:solidFill>
              </a:rPr>
              <a:t>我想賺波大的</a:t>
            </a:r>
            <a:r>
              <a:rPr lang="zh-TW" sz="1476">
                <a:solidFill>
                  <a:srgbClr val="374151"/>
                </a:solidFill>
              </a:rPr>
              <a:t>」</a:t>
            </a: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→ 未匹配NPV</a:t>
            </a:r>
            <a:r>
              <a:rPr lang="zh-TW" sz="1476">
                <a:solidFill>
                  <a:srgbClr val="374151"/>
                </a:solidFill>
              </a:rPr>
              <a:t>的</a:t>
            </a: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FIC 卡片 → </a:t>
            </a:r>
            <a:r>
              <a:rPr lang="zh-TW" sz="1476">
                <a:solidFill>
                  <a:srgbClr val="374151"/>
                </a:solidFill>
              </a:rPr>
              <a:t>跟用戶說RAG失敗</a:t>
            </a:r>
            <a:endParaRPr sz="2235"/>
          </a:p>
        </p:txBody>
      </p:sp>
      <p:sp>
        <p:nvSpPr>
          <p:cNvPr id="392" name="Google Shape;392;g3dec9f0cfbb_0_202"/>
          <p:cNvSpPr/>
          <p:nvPr/>
        </p:nvSpPr>
        <p:spPr>
          <a:xfrm>
            <a:off x="3567150" y="1747099"/>
            <a:ext cx="2666100" cy="1537800"/>
          </a:xfrm>
          <a:prstGeom prst="rect">
            <a:avLst/>
          </a:prstGeom>
          <a:solidFill>
            <a:srgbClr val="FFFBEB"/>
          </a:solidFill>
          <a:ln w="11125" cap="flat" cmpd="sng">
            <a:solidFill>
              <a:srgbClr val="D97706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3dec9f0cfbb_0_202"/>
          <p:cNvSpPr/>
          <p:nvPr/>
        </p:nvSpPr>
        <p:spPr>
          <a:xfrm>
            <a:off x="3567150" y="1747099"/>
            <a:ext cx="57900" cy="1537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dec9f0cfbb_0_202"/>
          <p:cNvSpPr/>
          <p:nvPr/>
        </p:nvSpPr>
        <p:spPr>
          <a:xfrm>
            <a:off x="3712054" y="1859626"/>
            <a:ext cx="2434500" cy="13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lang="zh-TW" sz="1709" b="1" i="0" u="none" strike="noStrike" cap="non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Case 3</a:t>
            </a:r>
            <a:r>
              <a:rPr lang="zh-TW" sz="1593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zh-TW" sz="1593" b="1">
                <a:solidFill>
                  <a:srgbClr val="6B7280"/>
                </a:solidFill>
              </a:rPr>
              <a:t>模糊詢問2</a:t>
            </a:r>
            <a:endParaRPr sz="2235" b="1"/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zh-TW" sz="1534" b="1" i="0" u="none" strike="noStrike" cap="non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M 類錯誤</a:t>
            </a:r>
            <a:endParaRPr sz="2235"/>
          </a:p>
          <a:p>
            <a:pPr marL="0" lvl="0" indent="0" algn="l" rtl="0"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lang="zh-TW" sz="1476">
                <a:solidFill>
                  <a:srgbClr val="374151"/>
                </a:solidFill>
              </a:rPr>
              <a:t>告訴他「</a:t>
            </a:r>
            <a:r>
              <a:rPr lang="zh-TW" sz="1476" b="1">
                <a:solidFill>
                  <a:srgbClr val="374151"/>
                </a:solidFill>
              </a:rPr>
              <a:t>我想賺錢</a:t>
            </a:r>
            <a:r>
              <a:rPr lang="zh-TW" sz="1476">
                <a:solidFill>
                  <a:srgbClr val="374151"/>
                </a:solidFill>
              </a:rPr>
              <a:t>」 → 找到NPV和IRR的 FIC 卡片 → </a:t>
            </a:r>
            <a:r>
              <a:rPr lang="zh-TW" sz="1476" b="1">
                <a:solidFill>
                  <a:srgbClr val="374151"/>
                </a:solidFill>
              </a:rPr>
              <a:t>反問用戶啥是「賺錢」</a:t>
            </a:r>
            <a:endParaRPr sz="2235" b="1"/>
          </a:p>
        </p:txBody>
      </p:sp>
      <p:sp>
        <p:nvSpPr>
          <p:cNvPr id="395" name="Google Shape;395;g3dec9f0cfbb_0_202"/>
          <p:cNvSpPr/>
          <p:nvPr/>
        </p:nvSpPr>
        <p:spPr>
          <a:xfrm>
            <a:off x="6349312" y="1747099"/>
            <a:ext cx="2666100" cy="1537800"/>
          </a:xfrm>
          <a:prstGeom prst="rect">
            <a:avLst/>
          </a:prstGeom>
          <a:solidFill>
            <a:srgbClr val="F5F3FF"/>
          </a:solidFill>
          <a:ln w="11125" cap="flat" cmpd="sng">
            <a:solidFill>
              <a:srgbClr val="7C3AED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dec9f0cfbb_0_202"/>
          <p:cNvSpPr/>
          <p:nvPr/>
        </p:nvSpPr>
        <p:spPr>
          <a:xfrm>
            <a:off x="6349312" y="1747099"/>
            <a:ext cx="57900" cy="1537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dec9f0cfbb_0_202"/>
          <p:cNvSpPr/>
          <p:nvPr/>
        </p:nvSpPr>
        <p:spPr>
          <a:xfrm>
            <a:off x="6494216" y="1859626"/>
            <a:ext cx="2434500" cy="13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lang="zh-TW" sz="1709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Case 4</a:t>
            </a:r>
            <a:r>
              <a:rPr lang="zh-TW" sz="1593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缺少關鍵參數</a:t>
            </a:r>
            <a:endParaRPr sz="2235"/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zh-TW" sz="1534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F 類錯誤</a:t>
            </a:r>
            <a:endParaRPr sz="2235"/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lang="zh-TW" sz="1476">
                <a:solidFill>
                  <a:srgbClr val="374151"/>
                </a:solidFill>
              </a:rPr>
              <a:t>忘記提供</a:t>
            </a: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缺少折現率 → Slot-filling 補值</a:t>
            </a:r>
            <a:endParaRPr sz="2235"/>
          </a:p>
        </p:txBody>
      </p:sp>
      <p:sp>
        <p:nvSpPr>
          <p:cNvPr id="398" name="Google Shape;398;g3dec9f0cfbb_0_202"/>
          <p:cNvSpPr/>
          <p:nvPr/>
        </p:nvSpPr>
        <p:spPr>
          <a:xfrm>
            <a:off x="3567150" y="3434999"/>
            <a:ext cx="2666100" cy="1537800"/>
          </a:xfrm>
          <a:prstGeom prst="rect">
            <a:avLst/>
          </a:prstGeom>
          <a:solidFill>
            <a:srgbClr val="EFF6FF"/>
          </a:solidFill>
          <a:ln w="11125" cap="flat" cmpd="sng">
            <a:solidFill>
              <a:srgbClr val="2563EB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dec9f0cfbb_0_202"/>
          <p:cNvSpPr/>
          <p:nvPr/>
        </p:nvSpPr>
        <p:spPr>
          <a:xfrm>
            <a:off x="3567150" y="3434999"/>
            <a:ext cx="57900" cy="1537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dec9f0cfbb_0_202"/>
          <p:cNvSpPr/>
          <p:nvPr/>
        </p:nvSpPr>
        <p:spPr>
          <a:xfrm>
            <a:off x="3712054" y="3547526"/>
            <a:ext cx="2434500" cy="13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lang="zh-TW" sz="1709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Case 5</a:t>
            </a:r>
            <a:r>
              <a:rPr lang="zh-TW" sz="1593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數值不合邏輯</a:t>
            </a:r>
            <a:endParaRPr sz="2235"/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zh-TW" sz="1534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E 類錯誤</a:t>
            </a:r>
            <a:endParaRPr sz="2235"/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初始投資抓成負值 → 自動提醒確認</a:t>
            </a:r>
            <a:endParaRPr sz="2235"/>
          </a:p>
        </p:txBody>
      </p:sp>
      <p:sp>
        <p:nvSpPr>
          <p:cNvPr id="401" name="Google Shape;401;g3dec9f0cfbb_0_202"/>
          <p:cNvSpPr/>
          <p:nvPr/>
        </p:nvSpPr>
        <p:spPr>
          <a:xfrm>
            <a:off x="6349312" y="3434999"/>
            <a:ext cx="2666100" cy="1537800"/>
          </a:xfrm>
          <a:prstGeom prst="rect">
            <a:avLst/>
          </a:prstGeom>
          <a:solidFill>
            <a:srgbClr val="FFF7ED"/>
          </a:solidFill>
          <a:ln w="11125" cap="flat" cmpd="sng">
            <a:solidFill>
              <a:srgbClr val="EA580C">
                <a:alpha val="3019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dec9f0cfbb_0_202"/>
          <p:cNvSpPr/>
          <p:nvPr/>
        </p:nvSpPr>
        <p:spPr>
          <a:xfrm>
            <a:off x="6349312" y="3434999"/>
            <a:ext cx="57900" cy="1537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dec9f0cfbb_0_202"/>
          <p:cNvSpPr/>
          <p:nvPr/>
        </p:nvSpPr>
        <p:spPr>
          <a:xfrm>
            <a:off x="6494216" y="3547526"/>
            <a:ext cx="2434500" cy="13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lang="zh-TW" sz="1709" b="1" i="0" u="none" strike="noStrike" cap="non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Case 6</a:t>
            </a:r>
            <a:r>
              <a:rPr lang="zh-TW" sz="1593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模糊時間條件</a:t>
            </a:r>
            <a:endParaRPr sz="2235"/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zh-TW" sz="1534" b="1" i="0" u="none" strike="noStrike" cap="non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I 類錯誤</a:t>
            </a:r>
            <a:endParaRPr sz="2235"/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刪除「年末」→ </a:t>
            </a:r>
            <a:r>
              <a:rPr lang="zh-TW" sz="1476">
                <a:solidFill>
                  <a:srgbClr val="374151"/>
                </a:solidFill>
              </a:rPr>
              <a:t>系統攔截 → </a:t>
            </a: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詢問年初或年末</a:t>
            </a:r>
            <a:endParaRPr sz="2235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系統架構：</a:t>
            </a:r>
            <a:r>
              <a:rPr lang="zh-TW" b="1"/>
              <a:t>Oracle-in-the-Loop 反思與修復流程</a:t>
            </a:r>
            <a:endParaRPr/>
          </a:p>
        </p:txBody>
      </p:sp>
      <p:sp>
        <p:nvSpPr>
          <p:cNvPr id="415" name="Google Shape;415;p10"/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3612118" cy="3720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當遇到各種診斷錯誤不合規時，</a:t>
            </a:r>
            <a:r>
              <a:rPr lang="zh-TW" b="1"/>
              <a:t>我們會針對不同的種類提供用戶修正的方向</a:t>
            </a:r>
            <a:r>
              <a:rPr lang="zh-TW"/>
              <a:t>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SzPts val="1800"/>
              <a:buNone/>
            </a:pPr>
            <a:r>
              <a:rPr lang="zh-TW" b="1"/>
              <a:t>Oracle Agent 模擬知道問題核心架構的User</a:t>
            </a:r>
            <a:r>
              <a:rPr lang="zh-TW"/>
              <a:t>，根據正確的python code跟ground truth，重新選擇公式或增加重要假設與數值內容。</a:t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4294207" y="1152474"/>
            <a:ext cx="4294207" cy="47955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VerifiQuant偵測到錯誤(F, E, I類…)</a:t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4294206" y="2813832"/>
            <a:ext cx="4294207" cy="47955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Oracle answers from code+GT</a:t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4294206" y="1969379"/>
            <a:ext cx="4294207" cy="47955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找出問題對應的 Repair Card反饋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p10"/>
          <p:cNvCxnSpPr/>
          <p:nvPr/>
        </p:nvCxnSpPr>
        <p:spPr>
          <a:xfrm>
            <a:off x="6412371" y="1632030"/>
            <a:ext cx="0" cy="337349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20" name="Google Shape;420;p10"/>
          <p:cNvCxnSpPr/>
          <p:nvPr/>
        </p:nvCxnSpPr>
        <p:spPr>
          <a:xfrm>
            <a:off x="6412371" y="2448935"/>
            <a:ext cx="0" cy="337349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21" name="Google Shape;421;p10"/>
          <p:cNvSpPr txBox="1"/>
          <p:nvPr/>
        </p:nvSpPr>
        <p:spPr>
          <a:xfrm>
            <a:off x="6441309" y="2366407"/>
            <a:ext cx="2702688" cy="44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rPr lang="zh-TW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Target Questions</a:t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4294207" y="3628433"/>
            <a:ext cx="4294206" cy="47955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Re-bind and re-execute</a:t>
            </a:r>
            <a:endParaRPr/>
          </a:p>
        </p:txBody>
      </p:sp>
      <p:cxnSp>
        <p:nvCxnSpPr>
          <p:cNvPr id="423" name="Google Shape;423;p10"/>
          <p:cNvCxnSpPr/>
          <p:nvPr/>
        </p:nvCxnSpPr>
        <p:spPr>
          <a:xfrm>
            <a:off x="6412371" y="3293388"/>
            <a:ext cx="0" cy="337349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24" name="Google Shape;424;p10"/>
          <p:cNvSpPr txBox="1"/>
          <p:nvPr/>
        </p:nvSpPr>
        <p:spPr>
          <a:xfrm>
            <a:off x="6564771" y="3122507"/>
            <a:ext cx="2702688" cy="44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Pts val="1800"/>
              <a:buFont typeface="Proxima Nova"/>
              <a:buNone/>
            </a:pP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0"/>
          <p:cNvSpPr txBox="1"/>
          <p:nvPr/>
        </p:nvSpPr>
        <p:spPr>
          <a:xfrm>
            <a:off x="6452421" y="3236172"/>
            <a:ext cx="2702688" cy="44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rPr lang="zh-TW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Precise Supplement</a:t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4294206" y="4431313"/>
            <a:ext cx="4294207" cy="47955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迭代兩次後得到最終結果</a:t>
            </a:r>
            <a:endParaRPr/>
          </a:p>
        </p:txBody>
      </p:sp>
      <p:cxnSp>
        <p:nvCxnSpPr>
          <p:cNvPr id="427" name="Google Shape;427;p10"/>
          <p:cNvCxnSpPr/>
          <p:nvPr/>
        </p:nvCxnSpPr>
        <p:spPr>
          <a:xfrm>
            <a:off x="6412371" y="4096268"/>
            <a:ext cx="0" cy="337349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pearmint [1776271029141]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615D6DD-3FCD-C148-BD5E-D2285D76B0E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3dbecec-7645-4829-9dee-f2f3c68d6b7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2755</Words>
  <Application>Microsoft Macintosh PowerPoint</Application>
  <PresentationFormat>On-screen Show (16:9)</PresentationFormat>
  <Paragraphs>346</Paragraphs>
  <Slides>27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Proxima Nova</vt:lpstr>
      <vt:lpstr>Arial</vt:lpstr>
      <vt:lpstr>Spearmint [1776271029141]</vt:lpstr>
      <vt:lpstr>VerifiQuant 合約驗證式金融推理Agent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Demo：讓合規變得一目了然</vt:lpstr>
      <vt:lpstr>核心設計：分類漏斗（Diagnostic Funnel）錯誤類型說明</vt:lpstr>
      <vt:lpstr>附錄</vt:lpstr>
      <vt:lpstr>PowerPoint Presentation</vt:lpstr>
      <vt:lpstr>PowerPoint Presentation</vt:lpstr>
      <vt:lpstr>PowerPoint Presentation</vt:lpstr>
      <vt:lpstr>PowerPoint Presentation</vt:lpstr>
      <vt:lpstr>心智問題 (Theory Of Mind)</vt:lpstr>
      <vt:lpstr>驅動相關研究：本研究的洞察</vt:lpstr>
      <vt:lpstr>相關研究（2/2）：正式驗證與金融 Multi-Agent 系統</vt:lpstr>
      <vt:lpstr>研究摘要：VerifiQuant 是什麼？</vt:lpstr>
      <vt:lpstr>痛點分析：為什麼這個問題值得解決？</vt:lpstr>
      <vt:lpstr>研究背景：VerifiQuant 解決了什麼問題？</vt:lpstr>
      <vt:lpstr>方法論總覽：四項核心貢獻</vt:lpstr>
      <vt:lpstr>PowerPoint Presentation</vt:lpstr>
      <vt:lpstr>實驗結果：Oracle-in-the-Loop 效益分析（50 題）</vt:lpstr>
      <vt:lpstr>I類檢測成功且重要範例 1  :TRIN公式</vt:lpstr>
      <vt:lpstr>I類檢測成功且重要範例 2 :公式歧義</vt:lpstr>
      <vt:lpstr>PowerPoint Presentation</vt:lpstr>
      <vt:lpstr>系統架構：Oracle-in-the-Loop 反思與修復流程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宥圻 柯</cp:lastModifiedBy>
  <cp:revision>7</cp:revision>
  <dcterms:modified xsi:type="dcterms:W3CDTF">2026-06-15T18:01:53Z</dcterms:modified>
</cp:coreProperties>
</file>